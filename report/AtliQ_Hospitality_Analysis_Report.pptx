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Unna" charset="-122" pitchFamily="34"/>
      <p:regular r:id="rId20"/>
    </p:embeddedFont>
    <p:embeddedFont>
      <p:font typeface="Liter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covethouse.eu/0c8cd316e1c5616b40abd78ed811c383aeaabc4b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7219" b="2721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4A6C8C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779621"/>
            <a:ext cx="2562225" cy="495300"/>
          </a:xfrm>
          <a:custGeom>
            <a:avLst/>
            <a:gdLst/>
            <a:ahLst/>
            <a:cxnLst/>
            <a:rect l="l" t="t" r="r" b="b"/>
            <a:pathLst>
              <a:path w="2562225" h="495300">
                <a:moveTo>
                  <a:pt x="0" y="0"/>
                </a:moveTo>
                <a:lnTo>
                  <a:pt x="2562225" y="0"/>
                </a:lnTo>
                <a:lnTo>
                  <a:pt x="2562225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779621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647700" y="893921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Analytics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884521"/>
            <a:ext cx="1188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0F0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AtliQ Hospitality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0F0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Performance Analysis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941921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303871"/>
            <a:ext cx="86772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Insights for Revenue Optimization &amp; Operational Excellence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56349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4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1000" y="5943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33400" y="6096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3" name="Text 10"/>
          <p:cNvSpPr/>
          <p:nvPr/>
        </p:nvSpPr>
        <p:spPr>
          <a:xfrm>
            <a:off x="1104900" y="5943600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04900" y="6210300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Hathim Manaf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2933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23010"/>
            <a:ext cx="3722370" cy="1836420"/>
          </a:xfrm>
          <a:custGeom>
            <a:avLst/>
            <a:gdLst/>
            <a:ahLst/>
            <a:cxnLst/>
            <a:rect l="l" t="t" r="r" b="b"/>
            <a:pathLst>
              <a:path w="3722370" h="1836420">
                <a:moveTo>
                  <a:pt x="76193" y="0"/>
                </a:moveTo>
                <a:lnTo>
                  <a:pt x="3646177" y="0"/>
                </a:lnTo>
                <a:cubicBezTo>
                  <a:pt x="3688257" y="0"/>
                  <a:pt x="3722370" y="34113"/>
                  <a:pt x="3722370" y="76193"/>
                </a:cubicBezTo>
                <a:lnTo>
                  <a:pt x="3722370" y="1760227"/>
                </a:lnTo>
                <a:cubicBezTo>
                  <a:pt x="3722370" y="1802279"/>
                  <a:pt x="3688229" y="1836420"/>
                  <a:pt x="3646177" y="1836420"/>
                </a:cubicBezTo>
                <a:lnTo>
                  <a:pt x="76193" y="1836420"/>
                </a:lnTo>
                <a:cubicBezTo>
                  <a:pt x="34113" y="1836420"/>
                  <a:pt x="0" y="1802307"/>
                  <a:pt x="0" y="176022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5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41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10076" y="144589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998220" y="1398270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4830" y="1798320"/>
            <a:ext cx="35623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AtliQ Hospitality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seeks to optimize hotel performance across multiple dimensions—cities, properties, room categories, and booking platforms—to enhance revenue, pricing strategy, and operational efficiency.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32910" y="1223010"/>
            <a:ext cx="3722370" cy="1836420"/>
          </a:xfrm>
          <a:custGeom>
            <a:avLst/>
            <a:gdLst/>
            <a:ahLst/>
            <a:cxnLst/>
            <a:rect l="l" t="t" r="r" b="b"/>
            <a:pathLst>
              <a:path w="3722370" h="1836420">
                <a:moveTo>
                  <a:pt x="76193" y="0"/>
                </a:moveTo>
                <a:lnTo>
                  <a:pt x="3646177" y="0"/>
                </a:lnTo>
                <a:cubicBezTo>
                  <a:pt x="3688257" y="0"/>
                  <a:pt x="3722370" y="34113"/>
                  <a:pt x="3722370" y="76193"/>
                </a:cubicBezTo>
                <a:lnTo>
                  <a:pt x="3722370" y="1760227"/>
                </a:lnTo>
                <a:cubicBezTo>
                  <a:pt x="3722370" y="1802279"/>
                  <a:pt x="3688229" y="1836420"/>
                  <a:pt x="3646177" y="1836420"/>
                </a:cubicBezTo>
                <a:lnTo>
                  <a:pt x="76193" y="1836420"/>
                </a:lnTo>
                <a:cubicBezTo>
                  <a:pt x="34113" y="1836420"/>
                  <a:pt x="0" y="1802307"/>
                  <a:pt x="0" y="176022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5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1020" y="1341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458176" y="144589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8936" y="0"/>
                </a:moveTo>
                <a:cubicBezTo>
                  <a:pt x="50062" y="0"/>
                  <a:pt x="42863" y="7200"/>
                  <a:pt x="42863" y="16073"/>
                </a:cubicBezTo>
                <a:lnTo>
                  <a:pt x="42863" y="85725"/>
                </a:lnTo>
                <a:cubicBezTo>
                  <a:pt x="42863" y="94599"/>
                  <a:pt x="50062" y="101798"/>
                  <a:pt x="58936" y="101798"/>
                </a:cubicBezTo>
                <a:lnTo>
                  <a:pt x="80367" y="101798"/>
                </a:lnTo>
                <a:cubicBezTo>
                  <a:pt x="89241" y="101798"/>
                  <a:pt x="96441" y="94599"/>
                  <a:pt x="96441" y="85725"/>
                </a:cubicBezTo>
                <a:lnTo>
                  <a:pt x="96441" y="64294"/>
                </a:lnTo>
                <a:lnTo>
                  <a:pt x="107156" y="64294"/>
                </a:lnTo>
                <a:cubicBezTo>
                  <a:pt x="130831" y="64294"/>
                  <a:pt x="150019" y="83481"/>
                  <a:pt x="150019" y="107156"/>
                </a:cubicBezTo>
                <a:cubicBezTo>
                  <a:pt x="150019" y="130831"/>
                  <a:pt x="130831" y="150019"/>
                  <a:pt x="107156" y="150019"/>
                </a:cubicBezTo>
                <a:lnTo>
                  <a:pt x="10716" y="150019"/>
                </a:lnTo>
                <a:cubicBezTo>
                  <a:pt x="4789" y="150019"/>
                  <a:pt x="0" y="154807"/>
                  <a:pt x="0" y="160734"/>
                </a:cubicBezTo>
                <a:cubicBezTo>
                  <a:pt x="0" y="166661"/>
                  <a:pt x="4789" y="171450"/>
                  <a:pt x="10716" y="171450"/>
                </a:cubicBezTo>
                <a:lnTo>
                  <a:pt x="160734" y="171450"/>
                </a:lnTo>
                <a:cubicBezTo>
                  <a:pt x="166661" y="171450"/>
                  <a:pt x="171450" y="166661"/>
                  <a:pt x="171450" y="160734"/>
                </a:cubicBezTo>
                <a:cubicBezTo>
                  <a:pt x="171450" y="154807"/>
                  <a:pt x="166661" y="150019"/>
                  <a:pt x="160734" y="150019"/>
                </a:cubicBezTo>
                <a:lnTo>
                  <a:pt x="155075" y="150019"/>
                </a:lnTo>
                <a:cubicBezTo>
                  <a:pt x="165255" y="138633"/>
                  <a:pt x="171450" y="123632"/>
                  <a:pt x="171450" y="107156"/>
                </a:cubicBezTo>
                <a:cubicBezTo>
                  <a:pt x="171450" y="71661"/>
                  <a:pt x="142652" y="42863"/>
                  <a:pt x="107156" y="42863"/>
                </a:cubicBezTo>
                <a:lnTo>
                  <a:pt x="96441" y="42863"/>
                </a:lnTo>
                <a:lnTo>
                  <a:pt x="96441" y="16073"/>
                </a:lnTo>
                <a:cubicBezTo>
                  <a:pt x="96441" y="7200"/>
                  <a:pt x="89241" y="0"/>
                  <a:pt x="80367" y="0"/>
                </a:cubicBezTo>
                <a:lnTo>
                  <a:pt x="58936" y="0"/>
                </a:lnTo>
                <a:close/>
                <a:moveTo>
                  <a:pt x="40184" y="117872"/>
                </a:moveTo>
                <a:cubicBezTo>
                  <a:pt x="35730" y="117872"/>
                  <a:pt x="32147" y="121455"/>
                  <a:pt x="32147" y="125909"/>
                </a:cubicBezTo>
                <a:cubicBezTo>
                  <a:pt x="32147" y="130362"/>
                  <a:pt x="35730" y="133945"/>
                  <a:pt x="40184" y="133945"/>
                </a:cubicBezTo>
                <a:lnTo>
                  <a:pt x="99120" y="133945"/>
                </a:lnTo>
                <a:cubicBezTo>
                  <a:pt x="103573" y="133945"/>
                  <a:pt x="107156" y="130362"/>
                  <a:pt x="107156" y="125909"/>
                </a:cubicBezTo>
                <a:cubicBezTo>
                  <a:pt x="107156" y="121455"/>
                  <a:pt x="103573" y="117872"/>
                  <a:pt x="99120" y="117872"/>
                </a:cubicBezTo>
                <a:lnTo>
                  <a:pt x="40184" y="117872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9827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Analytical Approach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92930" y="1912620"/>
            <a:ext cx="35623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analysis using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 schema data warehouse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temporal trend analysis, property-level benchmarking, channel segmentation, and KPI computation across all business dimensions.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81010" y="1223010"/>
            <a:ext cx="3722370" cy="1836420"/>
          </a:xfrm>
          <a:custGeom>
            <a:avLst/>
            <a:gdLst/>
            <a:ahLst/>
            <a:cxnLst/>
            <a:rect l="l" t="t" r="r" b="b"/>
            <a:pathLst>
              <a:path w="3722370" h="1836420">
                <a:moveTo>
                  <a:pt x="76193" y="0"/>
                </a:moveTo>
                <a:lnTo>
                  <a:pt x="3646177" y="0"/>
                </a:lnTo>
                <a:cubicBezTo>
                  <a:pt x="3688257" y="0"/>
                  <a:pt x="3722370" y="34113"/>
                  <a:pt x="3722370" y="76193"/>
                </a:cubicBezTo>
                <a:lnTo>
                  <a:pt x="3722370" y="1760227"/>
                </a:lnTo>
                <a:cubicBezTo>
                  <a:pt x="3722370" y="1802279"/>
                  <a:pt x="3688229" y="1836420"/>
                  <a:pt x="3646177" y="1836420"/>
                </a:cubicBezTo>
                <a:lnTo>
                  <a:pt x="76193" y="1836420"/>
                </a:lnTo>
                <a:cubicBezTo>
                  <a:pt x="34113" y="1836420"/>
                  <a:pt x="0" y="1802307"/>
                  <a:pt x="0" y="176022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5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99120" y="1341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27707" y="144589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8" name="Text 16"/>
          <p:cNvSpPr/>
          <p:nvPr/>
        </p:nvSpPr>
        <p:spPr>
          <a:xfrm>
            <a:off x="8694420" y="139827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Opportunity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41030" y="1912620"/>
            <a:ext cx="35623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pricing power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evidenced by high ADR (₹12,696) with significant opportunity to optimize occupancy (57.8%) through targeted demand management and channel optimization strategies.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3177540"/>
            <a:ext cx="2171700" cy="1123950"/>
          </a:xfrm>
          <a:custGeom>
            <a:avLst/>
            <a:gdLst/>
            <a:ahLst/>
            <a:cxnLst/>
            <a:rect l="l" t="t" r="r" b="b"/>
            <a:pathLst>
              <a:path w="2171700" h="1123950">
                <a:moveTo>
                  <a:pt x="38100" y="0"/>
                </a:moveTo>
                <a:lnTo>
                  <a:pt x="2095496" y="0"/>
                </a:lnTo>
                <a:cubicBezTo>
                  <a:pt x="2137582" y="0"/>
                  <a:pt x="2171700" y="34118"/>
                  <a:pt x="2171700" y="76204"/>
                </a:cubicBezTo>
                <a:lnTo>
                  <a:pt x="2171700" y="1047746"/>
                </a:lnTo>
                <a:cubicBezTo>
                  <a:pt x="2171700" y="1089832"/>
                  <a:pt x="2137582" y="1123950"/>
                  <a:pt x="2095496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00050" y="3177540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2" name="Text 20"/>
          <p:cNvSpPr/>
          <p:nvPr/>
        </p:nvSpPr>
        <p:spPr>
          <a:xfrm>
            <a:off x="495300" y="329184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7675" y="355854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4A373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₹1.69B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5300" y="395859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08910" y="3177540"/>
            <a:ext cx="2171700" cy="1123950"/>
          </a:xfrm>
          <a:custGeom>
            <a:avLst/>
            <a:gdLst/>
            <a:ahLst/>
            <a:cxnLst/>
            <a:rect l="l" t="t" r="r" b="b"/>
            <a:pathLst>
              <a:path w="2171700" h="1123950">
                <a:moveTo>
                  <a:pt x="38100" y="0"/>
                </a:moveTo>
                <a:lnTo>
                  <a:pt x="2095496" y="0"/>
                </a:lnTo>
                <a:cubicBezTo>
                  <a:pt x="2137582" y="0"/>
                  <a:pt x="2171700" y="34118"/>
                  <a:pt x="2171700" y="76204"/>
                </a:cubicBezTo>
                <a:lnTo>
                  <a:pt x="2171700" y="1047746"/>
                </a:lnTo>
                <a:cubicBezTo>
                  <a:pt x="2171700" y="1089832"/>
                  <a:pt x="2137582" y="1123950"/>
                  <a:pt x="2095496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08910" y="3177540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7" name="Text 25"/>
          <p:cNvSpPr/>
          <p:nvPr/>
        </p:nvSpPr>
        <p:spPr>
          <a:xfrm>
            <a:off x="2804160" y="329184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RevPAR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756535" y="355854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A6C8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₹7,337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804160" y="395859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Room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17770" y="3177540"/>
            <a:ext cx="2171700" cy="1123950"/>
          </a:xfrm>
          <a:custGeom>
            <a:avLst/>
            <a:gdLst/>
            <a:ahLst/>
            <a:cxnLst/>
            <a:rect l="l" t="t" r="r" b="b"/>
            <a:pathLst>
              <a:path w="2171700" h="1123950">
                <a:moveTo>
                  <a:pt x="38100" y="0"/>
                </a:moveTo>
                <a:lnTo>
                  <a:pt x="2095496" y="0"/>
                </a:lnTo>
                <a:cubicBezTo>
                  <a:pt x="2137582" y="0"/>
                  <a:pt x="2171700" y="34118"/>
                  <a:pt x="2171700" y="76204"/>
                </a:cubicBezTo>
                <a:lnTo>
                  <a:pt x="2171700" y="1047746"/>
                </a:lnTo>
                <a:cubicBezTo>
                  <a:pt x="2171700" y="1089832"/>
                  <a:pt x="2137582" y="1123950"/>
                  <a:pt x="2095496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017770" y="3177540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2" name="Text 30"/>
          <p:cNvSpPr/>
          <p:nvPr/>
        </p:nvSpPr>
        <p:spPr>
          <a:xfrm>
            <a:off x="5113020" y="329184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65395" y="355854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D99A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₹12,696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13020" y="395859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Rate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26630" y="3177540"/>
            <a:ext cx="2171700" cy="1123950"/>
          </a:xfrm>
          <a:custGeom>
            <a:avLst/>
            <a:gdLst/>
            <a:ahLst/>
            <a:cxnLst/>
            <a:rect l="l" t="t" r="r" b="b"/>
            <a:pathLst>
              <a:path w="2171700" h="1123950">
                <a:moveTo>
                  <a:pt x="38100" y="0"/>
                </a:moveTo>
                <a:lnTo>
                  <a:pt x="2095496" y="0"/>
                </a:lnTo>
                <a:cubicBezTo>
                  <a:pt x="2137582" y="0"/>
                  <a:pt x="2171700" y="34118"/>
                  <a:pt x="2171700" y="76204"/>
                </a:cubicBezTo>
                <a:lnTo>
                  <a:pt x="2171700" y="1047746"/>
                </a:lnTo>
                <a:cubicBezTo>
                  <a:pt x="2171700" y="1089832"/>
                  <a:pt x="2137582" y="1123950"/>
                  <a:pt x="2095496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326630" y="3177540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7" name="Text 35"/>
          <p:cNvSpPr/>
          <p:nvPr/>
        </p:nvSpPr>
        <p:spPr>
          <a:xfrm>
            <a:off x="7421880" y="329184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Occupancy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74255" y="355854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4A373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57.8%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21880" y="395859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635490" y="3177540"/>
            <a:ext cx="2171700" cy="1123950"/>
          </a:xfrm>
          <a:custGeom>
            <a:avLst/>
            <a:gdLst/>
            <a:ahLst/>
            <a:cxnLst/>
            <a:rect l="l" t="t" r="r" b="b"/>
            <a:pathLst>
              <a:path w="2171700" h="1123950">
                <a:moveTo>
                  <a:pt x="38100" y="0"/>
                </a:moveTo>
                <a:lnTo>
                  <a:pt x="2095496" y="0"/>
                </a:lnTo>
                <a:cubicBezTo>
                  <a:pt x="2137582" y="0"/>
                  <a:pt x="2171700" y="34118"/>
                  <a:pt x="2171700" y="76204"/>
                </a:cubicBezTo>
                <a:lnTo>
                  <a:pt x="2171700" y="1047746"/>
                </a:lnTo>
                <a:cubicBezTo>
                  <a:pt x="2171700" y="1089832"/>
                  <a:pt x="2137582" y="1123950"/>
                  <a:pt x="2095496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35490" y="3177540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2" name="Text 40"/>
          <p:cNvSpPr/>
          <p:nvPr/>
        </p:nvSpPr>
        <p:spPr>
          <a:xfrm>
            <a:off x="9730740" y="329184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Realisation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683115" y="355854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A6C8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70.1%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730740" y="395859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Effective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00050" y="4415790"/>
            <a:ext cx="5638800" cy="2057400"/>
          </a:xfrm>
          <a:custGeom>
            <a:avLst/>
            <a:gdLst/>
            <a:ahLst/>
            <a:cxnLst/>
            <a:rect l="l" t="t" r="r" b="b"/>
            <a:pathLst>
              <a:path w="5638800" h="2057400">
                <a:moveTo>
                  <a:pt x="38100" y="0"/>
                </a:moveTo>
                <a:lnTo>
                  <a:pt x="5562594" y="0"/>
                </a:lnTo>
                <a:cubicBezTo>
                  <a:pt x="5604681" y="0"/>
                  <a:pt x="5638800" y="34119"/>
                  <a:pt x="5638800" y="76206"/>
                </a:cubicBezTo>
                <a:lnTo>
                  <a:pt x="5638800" y="1981194"/>
                </a:lnTo>
                <a:cubicBezTo>
                  <a:pt x="5638800" y="2023281"/>
                  <a:pt x="5604681" y="2057400"/>
                  <a:pt x="5562594" y="2057400"/>
                </a:cubicBez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6" name="Shape 44"/>
          <p:cNvSpPr/>
          <p:nvPr/>
        </p:nvSpPr>
        <p:spPr>
          <a:xfrm>
            <a:off x="400050" y="4415790"/>
            <a:ext cx="38100" cy="2057400"/>
          </a:xfrm>
          <a:custGeom>
            <a:avLst/>
            <a:gdLst/>
            <a:ahLst/>
            <a:cxnLst/>
            <a:rect l="l" t="t" r="r" b="b"/>
            <a:pathLst>
              <a:path w="38100" h="2057400">
                <a:moveTo>
                  <a:pt x="38100" y="0"/>
                </a:moveTo>
                <a:lnTo>
                  <a:pt x="38100" y="0"/>
                </a:lnTo>
                <a:lnTo>
                  <a:pt x="38100" y="2057400"/>
                </a:ln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7" name="Shape 45"/>
          <p:cNvSpPr/>
          <p:nvPr/>
        </p:nvSpPr>
        <p:spPr>
          <a:xfrm>
            <a:off x="533400" y="45681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0556" y="46729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9" name="Text 47"/>
          <p:cNvSpPr/>
          <p:nvPr/>
        </p:nvSpPr>
        <p:spPr>
          <a:xfrm>
            <a:off x="1028700" y="4530090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Strengths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28700" y="4834890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pricing power: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ADR of ₹12,696 demonstrates strong brand positioning.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28700" y="5330190"/>
            <a:ext cx="497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Luxury segment dominance: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61.62% revenue from high-value guests.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28700" y="5596890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Weekend performance: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12.5% higher RevPAR on weekends (₹7,972 vs ₹7,083).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72200" y="4415790"/>
            <a:ext cx="5638800" cy="2057400"/>
          </a:xfrm>
          <a:custGeom>
            <a:avLst/>
            <a:gdLst/>
            <a:ahLst/>
            <a:cxnLst/>
            <a:rect l="l" t="t" r="r" b="b"/>
            <a:pathLst>
              <a:path w="5638800" h="2057400">
                <a:moveTo>
                  <a:pt x="38100" y="0"/>
                </a:moveTo>
                <a:lnTo>
                  <a:pt x="5562594" y="0"/>
                </a:lnTo>
                <a:cubicBezTo>
                  <a:pt x="5604681" y="0"/>
                  <a:pt x="5638800" y="34119"/>
                  <a:pt x="5638800" y="76206"/>
                </a:cubicBezTo>
                <a:lnTo>
                  <a:pt x="5638800" y="1981194"/>
                </a:lnTo>
                <a:cubicBezTo>
                  <a:pt x="5638800" y="2023281"/>
                  <a:pt x="5604681" y="2057400"/>
                  <a:pt x="5562594" y="2057400"/>
                </a:cubicBez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4" name="Shape 52"/>
          <p:cNvSpPr/>
          <p:nvPr/>
        </p:nvSpPr>
        <p:spPr>
          <a:xfrm>
            <a:off x="6172200" y="4415790"/>
            <a:ext cx="38100" cy="2057400"/>
          </a:xfrm>
          <a:custGeom>
            <a:avLst/>
            <a:gdLst/>
            <a:ahLst/>
            <a:cxnLst/>
            <a:rect l="l" t="t" r="r" b="b"/>
            <a:pathLst>
              <a:path w="38100" h="2057400">
                <a:moveTo>
                  <a:pt x="38100" y="0"/>
                </a:moveTo>
                <a:lnTo>
                  <a:pt x="38100" y="0"/>
                </a:lnTo>
                <a:lnTo>
                  <a:pt x="38100" y="2057400"/>
                </a:ln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5" name="Shape 53"/>
          <p:cNvSpPr/>
          <p:nvPr/>
        </p:nvSpPr>
        <p:spPr>
          <a:xfrm>
            <a:off x="6305550" y="45681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412706" y="46729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7" name="Text 55"/>
          <p:cNvSpPr/>
          <p:nvPr/>
        </p:nvSpPr>
        <p:spPr>
          <a:xfrm>
            <a:off x="6800850" y="4530090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Opportunities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00850" y="4834890"/>
            <a:ext cx="497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Occupancy optimization: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57.8% leaves significant upside potential.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800850" y="5101590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Weekday demand: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12.5% RevPAR gap indicates need for targeted promotions.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00850" y="5596890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Channel optimization: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29.9% revenue loss through cancellations and commissions.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Business Context &amp; Analytical Framework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573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D4A373"/>
                </a:solidFill>
                <a:highlight>
                  <a:srgbClr val="D4A373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01 </a:t>
            </a:r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Objectives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24000"/>
            <a:ext cx="5619750" cy="647700"/>
          </a:xfrm>
          <a:custGeom>
            <a:avLst/>
            <a:gdLst/>
            <a:ahLst/>
            <a:cxnLst/>
            <a:rect l="l" t="t" r="r" b="b"/>
            <a:pathLst>
              <a:path w="5619750" h="64770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571498"/>
                </a:lnTo>
                <a:cubicBezTo>
                  <a:pt x="5619750" y="613583"/>
                  <a:pt x="5585633" y="647700"/>
                  <a:pt x="554354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5240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495300" y="160020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&amp; Occupancy Growth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5300" y="186690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 top-line expansion while optimizing capacity utilization across all properties.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050" y="2247900"/>
            <a:ext cx="5619750" cy="647700"/>
          </a:xfrm>
          <a:custGeom>
            <a:avLst/>
            <a:gdLst/>
            <a:ahLst/>
            <a:cxnLst/>
            <a:rect l="l" t="t" r="r" b="b"/>
            <a:pathLst>
              <a:path w="5619750" h="64770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571498"/>
                </a:lnTo>
                <a:cubicBezTo>
                  <a:pt x="5619750" y="613583"/>
                  <a:pt x="5585633" y="647700"/>
                  <a:pt x="554354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050" y="22479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Text 9"/>
          <p:cNvSpPr/>
          <p:nvPr/>
        </p:nvSpPr>
        <p:spPr>
          <a:xfrm>
            <a:off x="495300" y="232410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Pricing Strategy Optimization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5300" y="259080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Maximize RevPAR and ADR through data-driven pricing decisions.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2971800"/>
            <a:ext cx="5619750" cy="647700"/>
          </a:xfrm>
          <a:custGeom>
            <a:avLst/>
            <a:gdLst/>
            <a:ahLst/>
            <a:cxnLst/>
            <a:rect l="l" t="t" r="r" b="b"/>
            <a:pathLst>
              <a:path w="5619750" h="64770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571498"/>
                </a:lnTo>
                <a:cubicBezTo>
                  <a:pt x="5619750" y="613583"/>
                  <a:pt x="5585633" y="647700"/>
                  <a:pt x="554354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29718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5" name="Text 13"/>
          <p:cNvSpPr/>
          <p:nvPr/>
        </p:nvSpPr>
        <p:spPr>
          <a:xfrm>
            <a:off x="495300" y="304800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Leakage Reduction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5300" y="331470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 losses from cancellations and no-shows.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695700"/>
            <a:ext cx="5619750" cy="647700"/>
          </a:xfrm>
          <a:custGeom>
            <a:avLst/>
            <a:gdLst/>
            <a:ahLst/>
            <a:cxnLst/>
            <a:rect l="l" t="t" r="r" b="b"/>
            <a:pathLst>
              <a:path w="5619750" h="64770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571498"/>
                </a:lnTo>
                <a:cubicBezTo>
                  <a:pt x="5619750" y="613583"/>
                  <a:pt x="5585633" y="647700"/>
                  <a:pt x="554354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36957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9" name="Text 17"/>
          <p:cNvSpPr/>
          <p:nvPr/>
        </p:nvSpPr>
        <p:spPr>
          <a:xfrm>
            <a:off x="495300" y="377190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Channel Performance Enhancement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5300" y="403860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distribution mix and improve customer satisfaction.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1000" y="4457700"/>
            <a:ext cx="573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4A6C8C"/>
                </a:solidFill>
                <a:highlight>
                  <a:srgbClr val="4A6C8C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02 </a:t>
            </a:r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Architecture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1000" y="4838700"/>
            <a:ext cx="5715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built 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 schema data warehouse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ensuring data integrity and analytical flexibility.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000" y="5410200"/>
            <a:ext cx="2781300" cy="1219200"/>
          </a:xfrm>
          <a:custGeom>
            <a:avLst/>
            <a:gdLst/>
            <a:ahLst/>
            <a:cxnLst/>
            <a:rect l="l" t="t" r="r" b="b"/>
            <a:pathLst>
              <a:path w="2781300" h="1219200">
                <a:moveTo>
                  <a:pt x="76200" y="0"/>
                </a:moveTo>
                <a:lnTo>
                  <a:pt x="2705100" y="0"/>
                </a:lnTo>
                <a:cubicBezTo>
                  <a:pt x="2747156" y="0"/>
                  <a:pt x="2781300" y="34144"/>
                  <a:pt x="2781300" y="76200"/>
                </a:cubicBezTo>
                <a:lnTo>
                  <a:pt x="2781300" y="1143000"/>
                </a:lnTo>
                <a:cubicBezTo>
                  <a:pt x="2781300" y="1185056"/>
                  <a:pt x="2747156" y="1219200"/>
                  <a:pt x="27051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85775" y="5524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47625"/>
                </a:moveTo>
                <a:lnTo>
                  <a:pt x="76200" y="76200"/>
                </a:lnTo>
                <a:lnTo>
                  <a:pt x="114300" y="76200"/>
                </a:lnTo>
                <a:lnTo>
                  <a:pt x="114300" y="47625"/>
                </a:lnTo>
                <a:lnTo>
                  <a:pt x="76200" y="47625"/>
                </a:lnTo>
                <a:close/>
                <a:moveTo>
                  <a:pt x="57150" y="47625"/>
                </a:moveTo>
                <a:lnTo>
                  <a:pt x="1905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57150" y="47625"/>
                </a:lnTo>
                <a:close/>
                <a:moveTo>
                  <a:pt x="0" y="95250"/>
                </a:move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95250"/>
                </a:lnTo>
                <a:close/>
                <a:moveTo>
                  <a:pt x="114300" y="95250"/>
                </a:moveTo>
                <a:lnTo>
                  <a:pt x="76200" y="95250"/>
                </a:lnTo>
                <a:lnTo>
                  <a:pt x="76200" y="123825"/>
                </a:lnTo>
                <a:lnTo>
                  <a:pt x="114300" y="123825"/>
                </a:lnTo>
                <a:lnTo>
                  <a:pt x="114300" y="95250"/>
                </a:lnTo>
                <a:close/>
                <a:moveTo>
                  <a:pt x="57150" y="123825"/>
                </a:moveTo>
                <a:lnTo>
                  <a:pt x="57150" y="95250"/>
                </a:lnTo>
                <a:lnTo>
                  <a:pt x="19050" y="95250"/>
                </a:lnTo>
                <a:lnTo>
                  <a:pt x="19050" y="12382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5" name="Text 23"/>
          <p:cNvSpPr/>
          <p:nvPr/>
        </p:nvSpPr>
        <p:spPr>
          <a:xfrm>
            <a:off x="723900" y="5486400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Dimension Tables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579120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605790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Hotels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32460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Rooms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38500" y="5410200"/>
            <a:ext cx="2781300" cy="1219200"/>
          </a:xfrm>
          <a:custGeom>
            <a:avLst/>
            <a:gdLst/>
            <a:ahLst/>
            <a:cxnLst/>
            <a:rect l="l" t="t" r="r" b="b"/>
            <a:pathLst>
              <a:path w="2781300" h="1219200">
                <a:moveTo>
                  <a:pt x="76200" y="0"/>
                </a:moveTo>
                <a:lnTo>
                  <a:pt x="2705100" y="0"/>
                </a:lnTo>
                <a:cubicBezTo>
                  <a:pt x="2747156" y="0"/>
                  <a:pt x="2781300" y="34144"/>
                  <a:pt x="2781300" y="76200"/>
                </a:cubicBezTo>
                <a:lnTo>
                  <a:pt x="2781300" y="1143000"/>
                </a:lnTo>
                <a:cubicBezTo>
                  <a:pt x="2781300" y="1185056"/>
                  <a:pt x="2747156" y="1219200"/>
                  <a:pt x="27051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43275" y="5524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1" name="Text 29"/>
          <p:cNvSpPr/>
          <p:nvPr/>
        </p:nvSpPr>
        <p:spPr>
          <a:xfrm>
            <a:off x="3581400" y="5486400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 Tables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14700" y="579120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Bookings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14700" y="605790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Aggregated Bookings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72200" y="1143000"/>
            <a:ext cx="573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D4A373"/>
                </a:solidFill>
                <a:highlight>
                  <a:srgbClr val="D4A373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03 </a:t>
            </a:r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Analytical Methodology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1250" y="1524000"/>
            <a:ext cx="5619750" cy="647700"/>
          </a:xfrm>
          <a:custGeom>
            <a:avLst/>
            <a:gdLst/>
            <a:ahLst/>
            <a:cxnLst/>
            <a:rect l="l" t="t" r="r" b="b"/>
            <a:pathLst>
              <a:path w="5619750" h="64770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571498"/>
                </a:lnTo>
                <a:cubicBezTo>
                  <a:pt x="5619750" y="613583"/>
                  <a:pt x="5585633" y="647700"/>
                  <a:pt x="554354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6191250" y="15240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7" name="Shape 35"/>
          <p:cNvSpPr/>
          <p:nvPr/>
        </p:nvSpPr>
        <p:spPr>
          <a:xfrm>
            <a:off x="6286500" y="1600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14731" y="1638300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05600" y="1600200"/>
            <a:ext cx="358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 &amp; Validation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05600" y="1866900"/>
            <a:ext cx="358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Ensured data quality, completeness, and consistency.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91250" y="2247900"/>
            <a:ext cx="5619750" cy="647700"/>
          </a:xfrm>
          <a:custGeom>
            <a:avLst/>
            <a:gdLst/>
            <a:ahLst/>
            <a:cxnLst/>
            <a:rect l="l" t="t" r="r" b="b"/>
            <a:pathLst>
              <a:path w="5619750" h="64770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571498"/>
                </a:lnTo>
                <a:cubicBezTo>
                  <a:pt x="5619750" y="613583"/>
                  <a:pt x="5585633" y="647700"/>
                  <a:pt x="554354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6191250" y="22479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3" name="Shape 41"/>
          <p:cNvSpPr/>
          <p:nvPr/>
        </p:nvSpPr>
        <p:spPr>
          <a:xfrm>
            <a:off x="6286500" y="2324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400086" y="23622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05600" y="23241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 Computation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05600" y="25908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Calculated core metrics: RevPAR, ADR, Occupancy, Realisation.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91250" y="2971800"/>
            <a:ext cx="5619750" cy="647700"/>
          </a:xfrm>
          <a:custGeom>
            <a:avLst/>
            <a:gdLst/>
            <a:ahLst/>
            <a:cxnLst/>
            <a:rect l="l" t="t" r="r" b="b"/>
            <a:pathLst>
              <a:path w="5619750" h="64770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571498"/>
                </a:lnTo>
                <a:cubicBezTo>
                  <a:pt x="5619750" y="613583"/>
                  <a:pt x="5585633" y="647700"/>
                  <a:pt x="554354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8" name="Shape 46"/>
          <p:cNvSpPr/>
          <p:nvPr/>
        </p:nvSpPr>
        <p:spPr>
          <a:xfrm>
            <a:off x="6191250" y="29718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9" name="Shape 47"/>
          <p:cNvSpPr/>
          <p:nvPr/>
        </p:nvSpPr>
        <p:spPr>
          <a:xfrm>
            <a:off x="6286500" y="304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398062" y="30861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05600" y="3048000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Trend Analysis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705600" y="3314700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Examined weekly patterns, seasonality, and demand volatility.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91250" y="3695700"/>
            <a:ext cx="5619750" cy="647700"/>
          </a:xfrm>
          <a:custGeom>
            <a:avLst/>
            <a:gdLst/>
            <a:ahLst/>
            <a:cxnLst/>
            <a:rect l="l" t="t" r="r" b="b"/>
            <a:pathLst>
              <a:path w="5619750" h="64770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571498"/>
                </a:lnTo>
                <a:cubicBezTo>
                  <a:pt x="5619750" y="613583"/>
                  <a:pt x="5585633" y="647700"/>
                  <a:pt x="554354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4" name="Shape 52"/>
          <p:cNvSpPr/>
          <p:nvPr/>
        </p:nvSpPr>
        <p:spPr>
          <a:xfrm>
            <a:off x="6191250" y="36957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5" name="Shape 53"/>
          <p:cNvSpPr/>
          <p:nvPr/>
        </p:nvSpPr>
        <p:spPr>
          <a:xfrm>
            <a:off x="6286500" y="3771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400086" y="38100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705600" y="3771900"/>
            <a:ext cx="421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Property-Level Benchmarking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05600" y="4038600"/>
            <a:ext cx="421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Compared performance across cities and individual properties.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91250" y="4419600"/>
            <a:ext cx="5619750" cy="647700"/>
          </a:xfrm>
          <a:custGeom>
            <a:avLst/>
            <a:gdLst/>
            <a:ahLst/>
            <a:cxnLst/>
            <a:rect l="l" t="t" r="r" b="b"/>
            <a:pathLst>
              <a:path w="5619750" h="64770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571498"/>
                </a:lnTo>
                <a:cubicBezTo>
                  <a:pt x="5619750" y="613583"/>
                  <a:pt x="5585633" y="647700"/>
                  <a:pt x="554354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0" name="Shape 58"/>
          <p:cNvSpPr/>
          <p:nvPr/>
        </p:nvSpPr>
        <p:spPr>
          <a:xfrm>
            <a:off x="6191250" y="44196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1" name="Shape 59"/>
          <p:cNvSpPr/>
          <p:nvPr/>
        </p:nvSpPr>
        <p:spPr>
          <a:xfrm>
            <a:off x="6286500" y="4495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397823" y="45339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705600" y="4495800"/>
            <a:ext cx="425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Channel &amp; Category Segmentation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705600" y="4762500"/>
            <a:ext cx="425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Analyzed performance by booking platform and room category.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76010" y="5185410"/>
            <a:ext cx="5627370" cy="1074420"/>
          </a:xfrm>
          <a:custGeom>
            <a:avLst/>
            <a:gdLst/>
            <a:ahLst/>
            <a:cxnLst/>
            <a:rect l="l" t="t" r="r" b="b"/>
            <a:pathLst>
              <a:path w="5627370" h="1074420">
                <a:moveTo>
                  <a:pt x="76198" y="0"/>
                </a:moveTo>
                <a:lnTo>
                  <a:pt x="5551172" y="0"/>
                </a:lnTo>
                <a:cubicBezTo>
                  <a:pt x="5593255" y="0"/>
                  <a:pt x="5627370" y="34115"/>
                  <a:pt x="5627370" y="76198"/>
                </a:cubicBezTo>
                <a:lnTo>
                  <a:pt x="5627370" y="998222"/>
                </a:lnTo>
                <a:cubicBezTo>
                  <a:pt x="5627370" y="1040305"/>
                  <a:pt x="5593255" y="1074420"/>
                  <a:pt x="5551172" y="1074420"/>
                </a:cubicBezTo>
                <a:lnTo>
                  <a:pt x="76198" y="1074420"/>
                </a:lnTo>
                <a:cubicBezTo>
                  <a:pt x="34115" y="1074420"/>
                  <a:pt x="0" y="1040305"/>
                  <a:pt x="0" y="9982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17932" y="535114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7" name="Text 65"/>
          <p:cNvSpPr/>
          <p:nvPr/>
        </p:nvSpPr>
        <p:spPr>
          <a:xfrm>
            <a:off x="6622732" y="5303520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 Framework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256020" y="564642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Metrics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256020" y="591312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Revenue, RevPAR, ADR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079700" y="564642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Utilization Metrics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079700" y="591312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Occupancy, Realisation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903380" y="564642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Metrics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903380" y="591312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Ratings, Cancellations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Key Performance Indicators Dashboard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0668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overview of AtliQ's financial and operational performance with industry context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" y="1455420"/>
            <a:ext cx="3691890" cy="1386840"/>
          </a:xfrm>
          <a:custGeom>
            <a:avLst/>
            <a:gdLst/>
            <a:ahLst/>
            <a:cxnLst/>
            <a:rect l="l" t="t" r="r" b="b"/>
            <a:pathLst>
              <a:path w="3691890" h="1386840">
                <a:moveTo>
                  <a:pt x="76207" y="0"/>
                </a:moveTo>
                <a:lnTo>
                  <a:pt x="3615683" y="0"/>
                </a:lnTo>
                <a:cubicBezTo>
                  <a:pt x="3657743" y="0"/>
                  <a:pt x="3691890" y="34147"/>
                  <a:pt x="3691890" y="76207"/>
                </a:cubicBezTo>
                <a:lnTo>
                  <a:pt x="3691890" y="1310633"/>
                </a:lnTo>
                <a:cubicBezTo>
                  <a:pt x="3691890" y="1352693"/>
                  <a:pt x="3657743" y="1386840"/>
                  <a:pt x="3615683" y="1386840"/>
                </a:cubicBezTo>
                <a:lnTo>
                  <a:pt x="76207" y="1386840"/>
                </a:lnTo>
                <a:cubicBezTo>
                  <a:pt x="34147" y="1386840"/>
                  <a:pt x="0" y="1352693"/>
                  <a:pt x="0" y="131063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5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2453" y="166306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32147"/>
                </a:moveTo>
                <a:lnTo>
                  <a:pt x="42863" y="26789"/>
                </a:lnTo>
                <a:cubicBezTo>
                  <a:pt x="42863" y="11988"/>
                  <a:pt x="71661" y="0"/>
                  <a:pt x="107156" y="0"/>
                </a:cubicBezTo>
                <a:cubicBezTo>
                  <a:pt x="142652" y="0"/>
                  <a:pt x="171450" y="11988"/>
                  <a:pt x="171450" y="26789"/>
                </a:cubicBezTo>
                <a:lnTo>
                  <a:pt x="171450" y="32147"/>
                </a:lnTo>
                <a:cubicBezTo>
                  <a:pt x="171450" y="42394"/>
                  <a:pt x="157620" y="51301"/>
                  <a:pt x="137294" y="55822"/>
                </a:cubicBezTo>
                <a:cubicBezTo>
                  <a:pt x="136490" y="54884"/>
                  <a:pt x="135653" y="53980"/>
                  <a:pt x="134816" y="53143"/>
                </a:cubicBezTo>
                <a:cubicBezTo>
                  <a:pt x="129626" y="48019"/>
                  <a:pt x="122928" y="44135"/>
                  <a:pt x="115930" y="41255"/>
                </a:cubicBezTo>
                <a:cubicBezTo>
                  <a:pt x="101899" y="35395"/>
                  <a:pt x="83615" y="32180"/>
                  <a:pt x="64294" y="32180"/>
                </a:cubicBezTo>
                <a:cubicBezTo>
                  <a:pt x="56960" y="32180"/>
                  <a:pt x="49794" y="32649"/>
                  <a:pt x="42929" y="33553"/>
                </a:cubicBezTo>
                <a:cubicBezTo>
                  <a:pt x="42863" y="33118"/>
                  <a:pt x="42863" y="32649"/>
                  <a:pt x="42863" y="32180"/>
                </a:cubicBezTo>
                <a:close/>
                <a:moveTo>
                  <a:pt x="144661" y="118207"/>
                </a:moveTo>
                <a:lnTo>
                  <a:pt x="144661" y="102736"/>
                </a:lnTo>
                <a:cubicBezTo>
                  <a:pt x="149717" y="101430"/>
                  <a:pt x="154472" y="99890"/>
                  <a:pt x="158792" y="98081"/>
                </a:cubicBezTo>
                <a:cubicBezTo>
                  <a:pt x="163212" y="96240"/>
                  <a:pt x="167532" y="93996"/>
                  <a:pt x="171450" y="91284"/>
                </a:cubicBezTo>
                <a:lnTo>
                  <a:pt x="171450" y="96441"/>
                </a:lnTo>
                <a:cubicBezTo>
                  <a:pt x="171450" y="105415"/>
                  <a:pt x="160902" y="113351"/>
                  <a:pt x="144661" y="118207"/>
                </a:cubicBezTo>
                <a:close/>
                <a:moveTo>
                  <a:pt x="144661" y="86060"/>
                </a:moveTo>
                <a:lnTo>
                  <a:pt x="144661" y="75009"/>
                </a:lnTo>
                <a:cubicBezTo>
                  <a:pt x="144661" y="73502"/>
                  <a:pt x="144527" y="72063"/>
                  <a:pt x="144326" y="70656"/>
                </a:cubicBezTo>
                <a:cubicBezTo>
                  <a:pt x="149516" y="69350"/>
                  <a:pt x="154372" y="67776"/>
                  <a:pt x="158792" y="65901"/>
                </a:cubicBezTo>
                <a:cubicBezTo>
                  <a:pt x="163212" y="64026"/>
                  <a:pt x="167532" y="61816"/>
                  <a:pt x="171450" y="59103"/>
                </a:cubicBezTo>
                <a:lnTo>
                  <a:pt x="171450" y="64260"/>
                </a:lnTo>
                <a:cubicBezTo>
                  <a:pt x="171450" y="73235"/>
                  <a:pt x="160902" y="81171"/>
                  <a:pt x="144661" y="86026"/>
                </a:cubicBezTo>
                <a:close/>
                <a:moveTo>
                  <a:pt x="0" y="80367"/>
                </a:moveTo>
                <a:lnTo>
                  <a:pt x="0" y="75009"/>
                </a:lnTo>
                <a:cubicBezTo>
                  <a:pt x="0" y="60208"/>
                  <a:pt x="28798" y="48220"/>
                  <a:pt x="64294" y="48220"/>
                </a:cubicBezTo>
                <a:cubicBezTo>
                  <a:pt x="99789" y="48220"/>
                  <a:pt x="128588" y="60208"/>
                  <a:pt x="128588" y="75009"/>
                </a:cubicBezTo>
                <a:lnTo>
                  <a:pt x="128588" y="80367"/>
                </a:lnTo>
                <a:cubicBezTo>
                  <a:pt x="128588" y="95168"/>
                  <a:pt x="99789" y="107156"/>
                  <a:pt x="64294" y="107156"/>
                </a:cubicBezTo>
                <a:cubicBezTo>
                  <a:pt x="28798" y="107156"/>
                  <a:pt x="0" y="95168"/>
                  <a:pt x="0" y="80367"/>
                </a:cubicBezTo>
                <a:close/>
                <a:moveTo>
                  <a:pt x="128588" y="112514"/>
                </a:moveTo>
                <a:cubicBezTo>
                  <a:pt x="128588" y="127315"/>
                  <a:pt x="99789" y="139303"/>
                  <a:pt x="64294" y="139303"/>
                </a:cubicBezTo>
                <a:cubicBezTo>
                  <a:pt x="28798" y="139303"/>
                  <a:pt x="0" y="127315"/>
                  <a:pt x="0" y="112514"/>
                </a:cubicBezTo>
                <a:lnTo>
                  <a:pt x="0" y="107357"/>
                </a:lnTo>
                <a:cubicBezTo>
                  <a:pt x="3884" y="110070"/>
                  <a:pt x="8204" y="112280"/>
                  <a:pt x="12658" y="114155"/>
                </a:cubicBezTo>
                <a:cubicBezTo>
                  <a:pt x="26689" y="120015"/>
                  <a:pt x="44972" y="123230"/>
                  <a:pt x="64294" y="123230"/>
                </a:cubicBezTo>
                <a:cubicBezTo>
                  <a:pt x="83615" y="123230"/>
                  <a:pt x="101899" y="119982"/>
                  <a:pt x="115930" y="114155"/>
                </a:cubicBezTo>
                <a:cubicBezTo>
                  <a:pt x="120350" y="112313"/>
                  <a:pt x="124670" y="110070"/>
                  <a:pt x="128588" y="107357"/>
                </a:cubicBezTo>
                <a:lnTo>
                  <a:pt x="128588" y="112514"/>
                </a:lnTo>
                <a:close/>
                <a:moveTo>
                  <a:pt x="128588" y="139504"/>
                </a:moveTo>
                <a:lnTo>
                  <a:pt x="128588" y="144661"/>
                </a:lnTo>
                <a:cubicBezTo>
                  <a:pt x="128588" y="159462"/>
                  <a:pt x="99789" y="171450"/>
                  <a:pt x="64294" y="171450"/>
                </a:cubicBezTo>
                <a:cubicBezTo>
                  <a:pt x="28798" y="171450"/>
                  <a:pt x="0" y="159462"/>
                  <a:pt x="0" y="144661"/>
                </a:cubicBezTo>
                <a:lnTo>
                  <a:pt x="0" y="139504"/>
                </a:lnTo>
                <a:cubicBezTo>
                  <a:pt x="3884" y="142216"/>
                  <a:pt x="8204" y="144427"/>
                  <a:pt x="12658" y="146302"/>
                </a:cubicBezTo>
                <a:cubicBezTo>
                  <a:pt x="26689" y="152162"/>
                  <a:pt x="44972" y="155377"/>
                  <a:pt x="64294" y="155377"/>
                </a:cubicBezTo>
                <a:cubicBezTo>
                  <a:pt x="83615" y="155377"/>
                  <a:pt x="101899" y="152128"/>
                  <a:pt x="115930" y="146302"/>
                </a:cubicBezTo>
                <a:cubicBezTo>
                  <a:pt x="120350" y="144460"/>
                  <a:pt x="124670" y="142216"/>
                  <a:pt x="128588" y="13950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839152" y="1615441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24952" y="1653541"/>
            <a:ext cx="495300" cy="190500"/>
          </a:xfrm>
          <a:custGeom>
            <a:avLst/>
            <a:gdLst/>
            <a:ahLst/>
            <a:cxnLst/>
            <a:rect l="l" t="t" r="r" b="b"/>
            <a:pathLst>
              <a:path w="495300" h="190500">
                <a:moveTo>
                  <a:pt x="38100" y="0"/>
                </a:moveTo>
                <a:lnTo>
                  <a:pt x="457200" y="0"/>
                </a:lnTo>
                <a:cubicBezTo>
                  <a:pt x="478228" y="0"/>
                  <a:pt x="495300" y="17072"/>
                  <a:pt x="495300" y="38100"/>
                </a:cubicBezTo>
                <a:lnTo>
                  <a:pt x="495300" y="152400"/>
                </a:lnTo>
                <a:cubicBezTo>
                  <a:pt x="495300" y="173428"/>
                  <a:pt x="478228" y="190500"/>
                  <a:pt x="4572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424952" y="1653541"/>
            <a:ext cx="5524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958341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4A373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₹1.69B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453641"/>
            <a:ext cx="3448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revenue base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49341" y="1455420"/>
            <a:ext cx="3691890" cy="1386840"/>
          </a:xfrm>
          <a:custGeom>
            <a:avLst/>
            <a:gdLst/>
            <a:ahLst/>
            <a:cxnLst/>
            <a:rect l="l" t="t" r="r" b="b"/>
            <a:pathLst>
              <a:path w="3691890" h="1386840">
                <a:moveTo>
                  <a:pt x="76207" y="0"/>
                </a:moveTo>
                <a:lnTo>
                  <a:pt x="3615683" y="0"/>
                </a:lnTo>
                <a:cubicBezTo>
                  <a:pt x="3657743" y="0"/>
                  <a:pt x="3691890" y="34147"/>
                  <a:pt x="3691890" y="76207"/>
                </a:cubicBezTo>
                <a:lnTo>
                  <a:pt x="3691890" y="1310633"/>
                </a:lnTo>
                <a:cubicBezTo>
                  <a:pt x="3691890" y="1352693"/>
                  <a:pt x="3657743" y="1386840"/>
                  <a:pt x="3615683" y="1386840"/>
                </a:cubicBezTo>
                <a:lnTo>
                  <a:pt x="76207" y="1386840"/>
                </a:lnTo>
                <a:cubicBezTo>
                  <a:pt x="34147" y="1386840"/>
                  <a:pt x="0" y="1352693"/>
                  <a:pt x="0" y="131063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5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032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3173" y="166306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4" name="Text 12"/>
          <p:cNvSpPr/>
          <p:nvPr/>
        </p:nvSpPr>
        <p:spPr>
          <a:xfrm>
            <a:off x="4699873" y="1615441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RevPAR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47203" y="1653541"/>
            <a:ext cx="638175" cy="190500"/>
          </a:xfrm>
          <a:custGeom>
            <a:avLst/>
            <a:gdLst/>
            <a:ahLst/>
            <a:cxnLst/>
            <a:rect l="l" t="t" r="r" b="b"/>
            <a:pathLst>
              <a:path w="638175" h="190500">
                <a:moveTo>
                  <a:pt x="38100" y="0"/>
                </a:moveTo>
                <a:lnTo>
                  <a:pt x="600075" y="0"/>
                </a:lnTo>
                <a:cubicBezTo>
                  <a:pt x="621103" y="0"/>
                  <a:pt x="638175" y="17072"/>
                  <a:pt x="638175" y="38100"/>
                </a:cubicBezTo>
                <a:lnTo>
                  <a:pt x="638175" y="152400"/>
                </a:lnTo>
                <a:cubicBezTo>
                  <a:pt x="638175" y="173428"/>
                  <a:pt x="621103" y="190500"/>
                  <a:pt x="60007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147203" y="1653541"/>
            <a:ext cx="6953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Room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09361" y="1958341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A6C8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₹7,337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09361" y="2453641"/>
            <a:ext cx="3448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efficiency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10181" y="1455420"/>
            <a:ext cx="3691890" cy="1386840"/>
          </a:xfrm>
          <a:custGeom>
            <a:avLst/>
            <a:gdLst/>
            <a:ahLst/>
            <a:cxnLst/>
            <a:rect l="l" t="t" r="r" b="b"/>
            <a:pathLst>
              <a:path w="3691890" h="1386840">
                <a:moveTo>
                  <a:pt x="76207" y="0"/>
                </a:moveTo>
                <a:lnTo>
                  <a:pt x="3615683" y="0"/>
                </a:lnTo>
                <a:cubicBezTo>
                  <a:pt x="3657743" y="0"/>
                  <a:pt x="3691890" y="34147"/>
                  <a:pt x="3691890" y="76207"/>
                </a:cubicBezTo>
                <a:lnTo>
                  <a:pt x="3691890" y="1310633"/>
                </a:lnTo>
                <a:cubicBezTo>
                  <a:pt x="3691890" y="1352693"/>
                  <a:pt x="3657743" y="1386840"/>
                  <a:pt x="3615683" y="1386840"/>
                </a:cubicBezTo>
                <a:lnTo>
                  <a:pt x="76207" y="1386840"/>
                </a:lnTo>
                <a:cubicBezTo>
                  <a:pt x="34147" y="1386840"/>
                  <a:pt x="0" y="1352693"/>
                  <a:pt x="0" y="131063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25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20320">
            <a:solidFill>
              <a:srgbClr val="8D99AE">
                <a:alpha val="5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94013" y="166306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883" y="32147"/>
                </a:moveTo>
                <a:lnTo>
                  <a:pt x="10883" y="82209"/>
                </a:lnTo>
                <a:cubicBezTo>
                  <a:pt x="10883" y="87902"/>
                  <a:pt x="13127" y="93360"/>
                  <a:pt x="17145" y="97378"/>
                </a:cubicBezTo>
                <a:lnTo>
                  <a:pt x="81439" y="161672"/>
                </a:lnTo>
                <a:cubicBezTo>
                  <a:pt x="89810" y="170044"/>
                  <a:pt x="103372" y="170044"/>
                  <a:pt x="111744" y="161672"/>
                </a:cubicBezTo>
                <a:lnTo>
                  <a:pt x="161806" y="111610"/>
                </a:lnTo>
                <a:cubicBezTo>
                  <a:pt x="170178" y="103238"/>
                  <a:pt x="170178" y="89676"/>
                  <a:pt x="161806" y="81305"/>
                </a:cubicBezTo>
                <a:lnTo>
                  <a:pt x="97512" y="17011"/>
                </a:lnTo>
                <a:cubicBezTo>
                  <a:pt x="93494" y="12959"/>
                  <a:pt x="88069" y="10716"/>
                  <a:pt x="82376" y="10716"/>
                </a:cubicBezTo>
                <a:lnTo>
                  <a:pt x="32314" y="10716"/>
                </a:lnTo>
                <a:cubicBezTo>
                  <a:pt x="20494" y="10716"/>
                  <a:pt x="10883" y="20326"/>
                  <a:pt x="10883" y="32147"/>
                </a:cubicBezTo>
                <a:close/>
                <a:moveTo>
                  <a:pt x="48388" y="37505"/>
                </a:moveTo>
                <a:cubicBezTo>
                  <a:pt x="54302" y="37505"/>
                  <a:pt x="59103" y="42306"/>
                  <a:pt x="59103" y="48220"/>
                </a:cubicBezTo>
                <a:cubicBezTo>
                  <a:pt x="59103" y="54134"/>
                  <a:pt x="54302" y="58936"/>
                  <a:pt x="48388" y="58936"/>
                </a:cubicBezTo>
                <a:cubicBezTo>
                  <a:pt x="42474" y="58936"/>
                  <a:pt x="37672" y="54134"/>
                  <a:pt x="37672" y="48220"/>
                </a:cubicBezTo>
                <a:cubicBezTo>
                  <a:pt x="37672" y="42306"/>
                  <a:pt x="42474" y="37505"/>
                  <a:pt x="48388" y="3750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8560713" y="1615441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993279" y="1653541"/>
            <a:ext cx="647700" cy="190500"/>
          </a:xfrm>
          <a:custGeom>
            <a:avLst/>
            <a:gdLst/>
            <a:ahLst/>
            <a:cxnLst/>
            <a:rect l="l" t="t" r="r" b="b"/>
            <a:pathLst>
              <a:path w="647700" h="190500">
                <a:moveTo>
                  <a:pt x="38100" y="0"/>
                </a:moveTo>
                <a:lnTo>
                  <a:pt x="609600" y="0"/>
                </a:lnTo>
                <a:cubicBezTo>
                  <a:pt x="630628" y="0"/>
                  <a:pt x="647700" y="17072"/>
                  <a:pt x="647700" y="38100"/>
                </a:cubicBezTo>
                <a:lnTo>
                  <a:pt x="647700" y="152400"/>
                </a:lnTo>
                <a:cubicBezTo>
                  <a:pt x="647700" y="173428"/>
                  <a:pt x="630628" y="190500"/>
                  <a:pt x="6096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993279" y="1653541"/>
            <a:ext cx="7048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Rate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70200" y="1958341"/>
            <a:ext cx="360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8D99A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₹12,696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70200" y="2453641"/>
            <a:ext cx="3448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positioning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050" y="3002280"/>
            <a:ext cx="2724150" cy="1409700"/>
          </a:xfrm>
          <a:custGeom>
            <a:avLst/>
            <a:gdLst/>
            <a:ahLst/>
            <a:cxnLst/>
            <a:rect l="l" t="t" r="r" b="b"/>
            <a:pathLst>
              <a:path w="2724150" h="1409700">
                <a:moveTo>
                  <a:pt x="38100" y="0"/>
                </a:moveTo>
                <a:lnTo>
                  <a:pt x="2647956" y="0"/>
                </a:lnTo>
                <a:cubicBezTo>
                  <a:pt x="2690008" y="0"/>
                  <a:pt x="2724150" y="34142"/>
                  <a:pt x="2724150" y="76194"/>
                </a:cubicBezTo>
                <a:lnTo>
                  <a:pt x="2724150" y="1333506"/>
                </a:lnTo>
                <a:cubicBezTo>
                  <a:pt x="2724150" y="1375587"/>
                  <a:pt x="2690037" y="1409700"/>
                  <a:pt x="264795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00050" y="300228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Shape 26"/>
          <p:cNvSpPr/>
          <p:nvPr/>
        </p:nvSpPr>
        <p:spPr>
          <a:xfrm>
            <a:off x="1581150" y="315468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99022" y="325945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64294" y="42863"/>
                </a:moveTo>
                <a:cubicBezTo>
                  <a:pt x="64294" y="25120"/>
                  <a:pt x="49889" y="10716"/>
                  <a:pt x="32147" y="10716"/>
                </a:cubicBezTo>
                <a:cubicBezTo>
                  <a:pt x="14405" y="10716"/>
                  <a:pt x="0" y="25120"/>
                  <a:pt x="0" y="42863"/>
                </a:cubicBezTo>
                <a:cubicBezTo>
                  <a:pt x="0" y="60605"/>
                  <a:pt x="14405" y="75009"/>
                  <a:pt x="32147" y="75009"/>
                </a:cubicBezTo>
                <a:cubicBezTo>
                  <a:pt x="49889" y="75009"/>
                  <a:pt x="64294" y="60605"/>
                  <a:pt x="64294" y="42863"/>
                </a:cubicBezTo>
                <a:close/>
                <a:moveTo>
                  <a:pt x="150019" y="128588"/>
                </a:moveTo>
                <a:cubicBezTo>
                  <a:pt x="150019" y="110845"/>
                  <a:pt x="135614" y="96441"/>
                  <a:pt x="117872" y="96441"/>
                </a:cubicBezTo>
                <a:cubicBezTo>
                  <a:pt x="100130" y="96441"/>
                  <a:pt x="85725" y="110845"/>
                  <a:pt x="85725" y="128588"/>
                </a:cubicBezTo>
                <a:cubicBezTo>
                  <a:pt x="85725" y="146330"/>
                  <a:pt x="100130" y="160734"/>
                  <a:pt x="117872" y="160734"/>
                </a:cubicBezTo>
                <a:cubicBezTo>
                  <a:pt x="135614" y="160734"/>
                  <a:pt x="150019" y="146330"/>
                  <a:pt x="150019" y="128588"/>
                </a:cubicBezTo>
                <a:close/>
                <a:moveTo>
                  <a:pt x="146871" y="28999"/>
                </a:moveTo>
                <a:cubicBezTo>
                  <a:pt x="151057" y="24813"/>
                  <a:pt x="151057" y="18016"/>
                  <a:pt x="146871" y="13830"/>
                </a:cubicBezTo>
                <a:cubicBezTo>
                  <a:pt x="142685" y="9644"/>
                  <a:pt x="135888" y="9644"/>
                  <a:pt x="131702" y="13830"/>
                </a:cubicBezTo>
                <a:lnTo>
                  <a:pt x="3114" y="142417"/>
                </a:lnTo>
                <a:cubicBezTo>
                  <a:pt x="-1072" y="146603"/>
                  <a:pt x="-1072" y="153401"/>
                  <a:pt x="3114" y="157587"/>
                </a:cubicBezTo>
                <a:cubicBezTo>
                  <a:pt x="7300" y="161772"/>
                  <a:pt x="14098" y="161772"/>
                  <a:pt x="18284" y="157587"/>
                </a:cubicBezTo>
                <a:lnTo>
                  <a:pt x="146871" y="28999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0" name="Text 28"/>
          <p:cNvSpPr/>
          <p:nvPr/>
        </p:nvSpPr>
        <p:spPr>
          <a:xfrm>
            <a:off x="533400" y="361188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Occupancy Rate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5775" y="3878580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4A373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57.8%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95650" y="3002280"/>
            <a:ext cx="2724150" cy="1409700"/>
          </a:xfrm>
          <a:custGeom>
            <a:avLst/>
            <a:gdLst/>
            <a:ahLst/>
            <a:cxnLst/>
            <a:rect l="l" t="t" r="r" b="b"/>
            <a:pathLst>
              <a:path w="2724150" h="1409700">
                <a:moveTo>
                  <a:pt x="38100" y="0"/>
                </a:moveTo>
                <a:lnTo>
                  <a:pt x="2647956" y="0"/>
                </a:lnTo>
                <a:cubicBezTo>
                  <a:pt x="2690008" y="0"/>
                  <a:pt x="2724150" y="34142"/>
                  <a:pt x="2724150" y="76194"/>
                </a:cubicBezTo>
                <a:lnTo>
                  <a:pt x="2724150" y="1333506"/>
                </a:lnTo>
                <a:cubicBezTo>
                  <a:pt x="2724150" y="1375587"/>
                  <a:pt x="2690037" y="1409700"/>
                  <a:pt x="264795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95650" y="300228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4" name="Shape 32"/>
          <p:cNvSpPr/>
          <p:nvPr/>
        </p:nvSpPr>
        <p:spPr>
          <a:xfrm>
            <a:off x="4476750" y="315468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05338" y="325945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83682" y="22369"/>
                </a:moveTo>
                <a:cubicBezTo>
                  <a:pt x="87165" y="17580"/>
                  <a:pt x="86093" y="10883"/>
                  <a:pt x="81305" y="7400"/>
                </a:cubicBezTo>
                <a:cubicBezTo>
                  <a:pt x="76516" y="3918"/>
                  <a:pt x="69819" y="4989"/>
                  <a:pt x="66336" y="9778"/>
                </a:cubicBezTo>
                <a:lnTo>
                  <a:pt x="30841" y="58568"/>
                </a:lnTo>
                <a:lnTo>
                  <a:pt x="18284" y="46010"/>
                </a:lnTo>
                <a:cubicBezTo>
                  <a:pt x="14098" y="41824"/>
                  <a:pt x="7300" y="41824"/>
                  <a:pt x="3114" y="46010"/>
                </a:cubicBezTo>
                <a:cubicBezTo>
                  <a:pt x="-1072" y="50196"/>
                  <a:pt x="-1072" y="56994"/>
                  <a:pt x="3114" y="61180"/>
                </a:cubicBezTo>
                <a:lnTo>
                  <a:pt x="24545" y="82611"/>
                </a:lnTo>
                <a:cubicBezTo>
                  <a:pt x="26756" y="84821"/>
                  <a:pt x="29836" y="85959"/>
                  <a:pt x="32951" y="85725"/>
                </a:cubicBezTo>
                <a:cubicBezTo>
                  <a:pt x="36065" y="85491"/>
                  <a:pt x="38945" y="83883"/>
                  <a:pt x="40786" y="81338"/>
                </a:cubicBezTo>
                <a:lnTo>
                  <a:pt x="83649" y="22402"/>
                </a:lnTo>
                <a:close/>
                <a:moveTo>
                  <a:pt x="126545" y="67910"/>
                </a:moveTo>
                <a:cubicBezTo>
                  <a:pt x="130027" y="63122"/>
                  <a:pt x="128956" y="56424"/>
                  <a:pt x="124167" y="52942"/>
                </a:cubicBezTo>
                <a:cubicBezTo>
                  <a:pt x="119379" y="49459"/>
                  <a:pt x="112681" y="50531"/>
                  <a:pt x="109199" y="55319"/>
                </a:cubicBezTo>
                <a:lnTo>
                  <a:pt x="52272" y="133577"/>
                </a:lnTo>
                <a:lnTo>
                  <a:pt x="28999" y="110304"/>
                </a:lnTo>
                <a:cubicBezTo>
                  <a:pt x="24813" y="106118"/>
                  <a:pt x="18016" y="106118"/>
                  <a:pt x="13830" y="110304"/>
                </a:cubicBezTo>
                <a:cubicBezTo>
                  <a:pt x="9644" y="114490"/>
                  <a:pt x="9644" y="121287"/>
                  <a:pt x="13830" y="125473"/>
                </a:cubicBezTo>
                <a:lnTo>
                  <a:pt x="45977" y="157620"/>
                </a:lnTo>
                <a:cubicBezTo>
                  <a:pt x="48187" y="159830"/>
                  <a:pt x="51268" y="160969"/>
                  <a:pt x="54382" y="160734"/>
                </a:cubicBezTo>
                <a:cubicBezTo>
                  <a:pt x="57496" y="160500"/>
                  <a:pt x="60376" y="158893"/>
                  <a:pt x="62218" y="156348"/>
                </a:cubicBezTo>
                <a:lnTo>
                  <a:pt x="126511" y="67944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6" name="Text 34"/>
          <p:cNvSpPr/>
          <p:nvPr/>
        </p:nvSpPr>
        <p:spPr>
          <a:xfrm>
            <a:off x="3429000" y="361188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Realisation Rate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381375" y="3878580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A6C8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70.1%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91250" y="3002280"/>
            <a:ext cx="2724150" cy="1409700"/>
          </a:xfrm>
          <a:custGeom>
            <a:avLst/>
            <a:gdLst/>
            <a:ahLst/>
            <a:cxnLst/>
            <a:rect l="l" t="t" r="r" b="b"/>
            <a:pathLst>
              <a:path w="2724150" h="1409700">
                <a:moveTo>
                  <a:pt x="38100" y="0"/>
                </a:moveTo>
                <a:lnTo>
                  <a:pt x="2647956" y="0"/>
                </a:lnTo>
                <a:cubicBezTo>
                  <a:pt x="2690008" y="0"/>
                  <a:pt x="2724150" y="34142"/>
                  <a:pt x="2724150" y="76194"/>
                </a:cubicBezTo>
                <a:lnTo>
                  <a:pt x="2724150" y="1333506"/>
                </a:lnTo>
                <a:cubicBezTo>
                  <a:pt x="2724150" y="1375587"/>
                  <a:pt x="2690037" y="1409700"/>
                  <a:pt x="264795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91250" y="300228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0" name="Shape 38"/>
          <p:cNvSpPr/>
          <p:nvPr/>
        </p:nvSpPr>
        <p:spPr>
          <a:xfrm>
            <a:off x="7372350" y="315468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68791" y="325945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96441"/>
                </a:lnTo>
                <a:lnTo>
                  <a:pt x="96441" y="96441"/>
                </a:lnTo>
                <a:lnTo>
                  <a:pt x="96441" y="53578"/>
                </a:lnTo>
                <a:cubicBezTo>
                  <a:pt x="96441" y="47651"/>
                  <a:pt x="101229" y="42863"/>
                  <a:pt x="107156" y="42863"/>
                </a:cubicBezTo>
                <a:lnTo>
                  <a:pt x="160734" y="42863"/>
                </a:lnTo>
                <a:cubicBezTo>
                  <a:pt x="178482" y="42863"/>
                  <a:pt x="192881" y="57262"/>
                  <a:pt x="192881" y="75009"/>
                </a:cubicBezTo>
                <a:lnTo>
                  <a:pt x="192881" y="150019"/>
                </a:lnTo>
                <a:cubicBezTo>
                  <a:pt x="192881" y="155946"/>
                  <a:pt x="188093" y="160734"/>
                  <a:pt x="182166" y="160734"/>
                </a:cubicBezTo>
                <a:cubicBezTo>
                  <a:pt x="176239" y="160734"/>
                  <a:pt x="171450" y="155946"/>
                  <a:pt x="171450" y="150019"/>
                </a:cubicBezTo>
                <a:lnTo>
                  <a:pt x="171450" y="128588"/>
                </a:lnTo>
                <a:lnTo>
                  <a:pt x="21431" y="128588"/>
                </a:lnTo>
                <a:lnTo>
                  <a:pt x="21431" y="150019"/>
                </a:lnTo>
                <a:cubicBezTo>
                  <a:pt x="21431" y="155946"/>
                  <a:pt x="16643" y="160734"/>
                  <a:pt x="10716" y="160734"/>
                </a:cubicBezTo>
                <a:cubicBezTo>
                  <a:pt x="4789" y="160734"/>
                  <a:pt x="0" y="155946"/>
                  <a:pt x="0" y="150019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37505" y="64294"/>
                </a:moveTo>
                <a:cubicBezTo>
                  <a:pt x="37505" y="52466"/>
                  <a:pt x="47108" y="42863"/>
                  <a:pt x="58936" y="42863"/>
                </a:cubicBezTo>
                <a:cubicBezTo>
                  <a:pt x="70764" y="42863"/>
                  <a:pt x="80367" y="52466"/>
                  <a:pt x="80367" y="64294"/>
                </a:cubicBezTo>
                <a:cubicBezTo>
                  <a:pt x="80367" y="76122"/>
                  <a:pt x="70764" y="85725"/>
                  <a:pt x="58936" y="85725"/>
                </a:cubicBezTo>
                <a:cubicBezTo>
                  <a:pt x="47108" y="85725"/>
                  <a:pt x="37505" y="76122"/>
                  <a:pt x="37505" y="64294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2" name="Text 40"/>
          <p:cNvSpPr/>
          <p:nvPr/>
        </p:nvSpPr>
        <p:spPr>
          <a:xfrm>
            <a:off x="6324600" y="361188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DSRN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76975" y="3878580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D99A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2,528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86850" y="3002280"/>
            <a:ext cx="2724150" cy="1409700"/>
          </a:xfrm>
          <a:custGeom>
            <a:avLst/>
            <a:gdLst/>
            <a:ahLst/>
            <a:cxnLst/>
            <a:rect l="l" t="t" r="r" b="b"/>
            <a:pathLst>
              <a:path w="2724150" h="1409700">
                <a:moveTo>
                  <a:pt x="38100" y="0"/>
                </a:moveTo>
                <a:lnTo>
                  <a:pt x="2647956" y="0"/>
                </a:lnTo>
                <a:cubicBezTo>
                  <a:pt x="2690008" y="0"/>
                  <a:pt x="2724150" y="34142"/>
                  <a:pt x="2724150" y="76194"/>
                </a:cubicBezTo>
                <a:lnTo>
                  <a:pt x="2724150" y="1333506"/>
                </a:lnTo>
                <a:cubicBezTo>
                  <a:pt x="2724150" y="1375587"/>
                  <a:pt x="2690037" y="1409700"/>
                  <a:pt x="264795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086850" y="300228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6" name="Shape 44"/>
          <p:cNvSpPr/>
          <p:nvPr/>
        </p:nvSpPr>
        <p:spPr>
          <a:xfrm>
            <a:off x="10267950" y="315468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364391" y="325945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8" name="Text 46"/>
          <p:cNvSpPr/>
          <p:nvPr/>
        </p:nvSpPr>
        <p:spPr>
          <a:xfrm>
            <a:off x="9220200" y="361188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Avg. Rating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172575" y="3878580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4A373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3.7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00050" y="4564380"/>
            <a:ext cx="11410950" cy="1866900"/>
          </a:xfrm>
          <a:custGeom>
            <a:avLst/>
            <a:gdLst/>
            <a:ahLst/>
            <a:cxnLst/>
            <a:rect l="l" t="t" r="r" b="b"/>
            <a:pathLst>
              <a:path w="11410950" h="1866900">
                <a:moveTo>
                  <a:pt x="38100" y="0"/>
                </a:moveTo>
                <a:lnTo>
                  <a:pt x="11334743" y="0"/>
                </a:lnTo>
                <a:cubicBezTo>
                  <a:pt x="11376831" y="0"/>
                  <a:pt x="11410950" y="34119"/>
                  <a:pt x="11410950" y="76207"/>
                </a:cubicBezTo>
                <a:lnTo>
                  <a:pt x="11410950" y="1790693"/>
                </a:lnTo>
                <a:cubicBezTo>
                  <a:pt x="11410950" y="1832781"/>
                  <a:pt x="11376831" y="1866900"/>
                  <a:pt x="11334743" y="1866900"/>
                </a:cubicBez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1" name="Shape 49"/>
          <p:cNvSpPr/>
          <p:nvPr/>
        </p:nvSpPr>
        <p:spPr>
          <a:xfrm>
            <a:off x="400050" y="4564380"/>
            <a:ext cx="38100" cy="1866900"/>
          </a:xfrm>
          <a:custGeom>
            <a:avLst/>
            <a:gdLst/>
            <a:ahLst/>
            <a:cxnLst/>
            <a:rect l="l" t="t" r="r" b="b"/>
            <a:pathLst>
              <a:path w="38100" h="1866900">
                <a:moveTo>
                  <a:pt x="38100" y="0"/>
                </a:moveTo>
                <a:lnTo>
                  <a:pt x="38100" y="0"/>
                </a:lnTo>
                <a:lnTo>
                  <a:pt x="38100" y="1866900"/>
                </a:ln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2" name="Shape 50"/>
          <p:cNvSpPr/>
          <p:nvPr/>
        </p:nvSpPr>
        <p:spPr>
          <a:xfrm>
            <a:off x="571500" y="47167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92944" y="485013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4" name="Text 52"/>
          <p:cNvSpPr/>
          <p:nvPr/>
        </p:nvSpPr>
        <p:spPr>
          <a:xfrm>
            <a:off x="1181100" y="4716780"/>
            <a:ext cx="1057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Interpretation &amp; Strategic Implications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81100" y="5059680"/>
            <a:ext cx="10553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business demonstrates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pricing power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ADR of ₹12,696, significantly above mid-market segments. However,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 occupancy at 57.8%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indicates untapped demand and potential for optimization.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81100" y="5631180"/>
            <a:ext cx="3419475" cy="647700"/>
          </a:xfrm>
          <a:custGeom>
            <a:avLst/>
            <a:gdLst/>
            <a:ahLst/>
            <a:cxnLst/>
            <a:rect l="l" t="t" r="r" b="b"/>
            <a:pathLst>
              <a:path w="3419475" h="647700">
                <a:moveTo>
                  <a:pt x="38098" y="0"/>
                </a:moveTo>
                <a:lnTo>
                  <a:pt x="3381377" y="0"/>
                </a:lnTo>
                <a:cubicBezTo>
                  <a:pt x="3402404" y="0"/>
                  <a:pt x="3419475" y="17071"/>
                  <a:pt x="3419475" y="38098"/>
                </a:cubicBezTo>
                <a:lnTo>
                  <a:pt x="3419475" y="609602"/>
                </a:lnTo>
                <a:cubicBezTo>
                  <a:pt x="3419475" y="630643"/>
                  <a:pt x="3402418" y="647700"/>
                  <a:pt x="338137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257300" y="570738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Efficiency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257300" y="597408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RevPAR/ADR: 57.8%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711660" y="5631180"/>
            <a:ext cx="3419475" cy="647700"/>
          </a:xfrm>
          <a:custGeom>
            <a:avLst/>
            <a:gdLst/>
            <a:ahLst/>
            <a:cxnLst/>
            <a:rect l="l" t="t" r="r" b="b"/>
            <a:pathLst>
              <a:path w="3419475" h="647700">
                <a:moveTo>
                  <a:pt x="38098" y="0"/>
                </a:moveTo>
                <a:lnTo>
                  <a:pt x="3381377" y="0"/>
                </a:lnTo>
                <a:cubicBezTo>
                  <a:pt x="3402404" y="0"/>
                  <a:pt x="3419475" y="17071"/>
                  <a:pt x="3419475" y="38098"/>
                </a:cubicBezTo>
                <a:lnTo>
                  <a:pt x="3419475" y="609602"/>
                </a:lnTo>
                <a:cubicBezTo>
                  <a:pt x="3419475" y="630643"/>
                  <a:pt x="3402418" y="647700"/>
                  <a:pt x="338137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787860" y="570738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Loss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787860" y="597408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29.9% leakage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42221" y="5631180"/>
            <a:ext cx="3419475" cy="647700"/>
          </a:xfrm>
          <a:custGeom>
            <a:avLst/>
            <a:gdLst/>
            <a:ahLst/>
            <a:cxnLst/>
            <a:rect l="l" t="t" r="r" b="b"/>
            <a:pathLst>
              <a:path w="3419475" h="647700">
                <a:moveTo>
                  <a:pt x="38098" y="0"/>
                </a:moveTo>
                <a:lnTo>
                  <a:pt x="3381377" y="0"/>
                </a:lnTo>
                <a:cubicBezTo>
                  <a:pt x="3402404" y="0"/>
                  <a:pt x="3419475" y="17071"/>
                  <a:pt x="3419475" y="38098"/>
                </a:cubicBezTo>
                <a:lnTo>
                  <a:pt x="3419475" y="609602"/>
                </a:lnTo>
                <a:cubicBezTo>
                  <a:pt x="3419475" y="630643"/>
                  <a:pt x="3402418" y="647700"/>
                  <a:pt x="338137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8318421" y="570738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 Potential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18421" y="597408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42.2% occupancy upside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3701" y="373701"/>
            <a:ext cx="11519338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spc="59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Segmentation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3701" y="635292"/>
            <a:ext cx="11612763" cy="37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8" b="1" dirty="0">
                <a:solidFill>
                  <a:srgbClr val="F0F0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Revenue Composition &amp; Market Segmentation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3701" y="1046363"/>
            <a:ext cx="11519338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revenue drivers across customer segments for strategic positioning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3701" y="1420064"/>
            <a:ext cx="5642887" cy="4110713"/>
          </a:xfrm>
          <a:custGeom>
            <a:avLst/>
            <a:gdLst/>
            <a:ahLst/>
            <a:cxnLst/>
            <a:rect l="l" t="t" r="r" b="b"/>
            <a:pathLst>
              <a:path w="5642887" h="4110713">
                <a:moveTo>
                  <a:pt x="74733" y="0"/>
                </a:moveTo>
                <a:lnTo>
                  <a:pt x="5568155" y="0"/>
                </a:lnTo>
                <a:cubicBezTo>
                  <a:pt x="5609428" y="0"/>
                  <a:pt x="5642887" y="33459"/>
                  <a:pt x="5642887" y="74733"/>
                </a:cubicBezTo>
                <a:lnTo>
                  <a:pt x="5642887" y="4035980"/>
                </a:lnTo>
                <a:cubicBezTo>
                  <a:pt x="5642887" y="4077254"/>
                  <a:pt x="5609428" y="4110713"/>
                  <a:pt x="5568155" y="4110713"/>
                </a:cubicBezTo>
                <a:lnTo>
                  <a:pt x="74733" y="4110713"/>
                </a:lnTo>
                <a:cubicBezTo>
                  <a:pt x="33459" y="4110713"/>
                  <a:pt x="0" y="4077254"/>
                  <a:pt x="0" y="4035980"/>
                </a:cubicBezTo>
                <a:lnTo>
                  <a:pt x="0" y="74733"/>
                </a:lnTo>
                <a:cubicBezTo>
                  <a:pt x="0" y="33459"/>
                  <a:pt x="33459" y="0"/>
                  <a:pt x="74733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81140" y="1569545"/>
            <a:ext cx="5428009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4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Distribution by Category</a:t>
            </a:r>
            <a:endParaRPr lang="en-US" sz="1600" dirty="0"/>
          </a:p>
        </p:txBody>
      </p:sp>
      <p:pic>
        <p:nvPicPr>
          <p:cNvPr id="7" name="Image 0" descr="https://kimi-img.moonshot.cn/pub/slides/26-01-24-03:31:13-d5psp0bkvk6gbnmprt8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3182" y="1905876"/>
            <a:ext cx="5231816" cy="336331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6177630" y="1427538"/>
            <a:ext cx="5629808" cy="2032934"/>
          </a:xfrm>
          <a:custGeom>
            <a:avLst/>
            <a:gdLst/>
            <a:ahLst/>
            <a:cxnLst/>
            <a:rect l="l" t="t" r="r" b="b"/>
            <a:pathLst>
              <a:path w="5629808" h="2032934">
                <a:moveTo>
                  <a:pt x="74731" y="0"/>
                </a:moveTo>
                <a:lnTo>
                  <a:pt x="5555077" y="0"/>
                </a:lnTo>
                <a:cubicBezTo>
                  <a:pt x="5596350" y="0"/>
                  <a:pt x="5629808" y="33458"/>
                  <a:pt x="5629808" y="74731"/>
                </a:cubicBezTo>
                <a:lnTo>
                  <a:pt x="5629808" y="1958204"/>
                </a:lnTo>
                <a:cubicBezTo>
                  <a:pt x="5629808" y="1999476"/>
                  <a:pt x="5596350" y="2032934"/>
                  <a:pt x="5555077" y="2032934"/>
                </a:cubicBezTo>
                <a:lnTo>
                  <a:pt x="74731" y="2032934"/>
                </a:lnTo>
                <a:cubicBezTo>
                  <a:pt x="33458" y="2032934"/>
                  <a:pt x="0" y="1999476"/>
                  <a:pt x="0" y="1958204"/>
                </a:cubicBezTo>
                <a:lnTo>
                  <a:pt x="0" y="74731"/>
                </a:lnTo>
                <a:cubicBezTo>
                  <a:pt x="0" y="33486"/>
                  <a:pt x="33486" y="0"/>
                  <a:pt x="74731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5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34585" y="1584494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74742" y="0"/>
                </a:moveTo>
                <a:lnTo>
                  <a:pt x="373700" y="0"/>
                </a:lnTo>
                <a:cubicBezTo>
                  <a:pt x="414951" y="0"/>
                  <a:pt x="448441" y="33491"/>
                  <a:pt x="448441" y="74742"/>
                </a:cubicBezTo>
                <a:lnTo>
                  <a:pt x="448441" y="373700"/>
                </a:lnTo>
                <a:cubicBezTo>
                  <a:pt x="448441" y="414978"/>
                  <a:pt x="414978" y="448441"/>
                  <a:pt x="373700" y="448441"/>
                </a:cubicBezTo>
                <a:lnTo>
                  <a:pt x="74742" y="448441"/>
                </a:lnTo>
                <a:cubicBezTo>
                  <a:pt x="33491" y="448441"/>
                  <a:pt x="0" y="414951"/>
                  <a:pt x="0" y="373700"/>
                </a:cubicBezTo>
                <a:lnTo>
                  <a:pt x="0" y="74742"/>
                </a:lnTo>
                <a:cubicBezTo>
                  <a:pt x="0" y="33491"/>
                  <a:pt x="33491" y="0"/>
                  <a:pt x="74742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453702" y="1715289"/>
            <a:ext cx="210207" cy="186851"/>
          </a:xfrm>
          <a:custGeom>
            <a:avLst/>
            <a:gdLst/>
            <a:ahLst/>
            <a:cxnLst/>
            <a:rect l="l" t="t" r="r" b="b"/>
            <a:pathLst>
              <a:path w="210207" h="186851">
                <a:moveTo>
                  <a:pt x="114227" y="31823"/>
                </a:moveTo>
                <a:cubicBezTo>
                  <a:pt x="117584" y="29159"/>
                  <a:pt x="119701" y="25035"/>
                  <a:pt x="119701" y="20437"/>
                </a:cubicBezTo>
                <a:cubicBezTo>
                  <a:pt x="119701" y="12372"/>
                  <a:pt x="113169" y="5839"/>
                  <a:pt x="105103" y="5839"/>
                </a:cubicBezTo>
                <a:cubicBezTo>
                  <a:pt x="97038" y="5839"/>
                  <a:pt x="90506" y="12372"/>
                  <a:pt x="90506" y="20437"/>
                </a:cubicBezTo>
                <a:cubicBezTo>
                  <a:pt x="90506" y="25035"/>
                  <a:pt x="92659" y="29159"/>
                  <a:pt x="95980" y="31823"/>
                </a:cubicBezTo>
                <a:lnTo>
                  <a:pt x="71018" y="71091"/>
                </a:lnTo>
                <a:cubicBezTo>
                  <a:pt x="67368" y="76820"/>
                  <a:pt x="59595" y="78244"/>
                  <a:pt x="54157" y="74156"/>
                </a:cubicBezTo>
                <a:lnTo>
                  <a:pt x="32443" y="57916"/>
                </a:lnTo>
                <a:cubicBezTo>
                  <a:pt x="34086" y="55581"/>
                  <a:pt x="35034" y="52698"/>
                  <a:pt x="35034" y="49632"/>
                </a:cubicBezTo>
                <a:cubicBezTo>
                  <a:pt x="35034" y="41567"/>
                  <a:pt x="28502" y="35034"/>
                  <a:pt x="20437" y="35034"/>
                </a:cubicBezTo>
                <a:cubicBezTo>
                  <a:pt x="12372" y="35034"/>
                  <a:pt x="5839" y="41567"/>
                  <a:pt x="5839" y="49632"/>
                </a:cubicBezTo>
                <a:cubicBezTo>
                  <a:pt x="5839" y="57588"/>
                  <a:pt x="12226" y="64084"/>
                  <a:pt x="20145" y="64230"/>
                </a:cubicBezTo>
                <a:lnTo>
                  <a:pt x="32042" y="143605"/>
                </a:lnTo>
                <a:cubicBezTo>
                  <a:pt x="33757" y="155028"/>
                  <a:pt x="43574" y="163494"/>
                  <a:pt x="55143" y="163494"/>
                </a:cubicBezTo>
                <a:lnTo>
                  <a:pt x="155064" y="163494"/>
                </a:lnTo>
                <a:cubicBezTo>
                  <a:pt x="166633" y="163494"/>
                  <a:pt x="176450" y="155028"/>
                  <a:pt x="178165" y="143605"/>
                </a:cubicBezTo>
                <a:lnTo>
                  <a:pt x="190062" y="64230"/>
                </a:lnTo>
                <a:cubicBezTo>
                  <a:pt x="197981" y="64084"/>
                  <a:pt x="204368" y="57588"/>
                  <a:pt x="204368" y="49632"/>
                </a:cubicBezTo>
                <a:cubicBezTo>
                  <a:pt x="204368" y="41567"/>
                  <a:pt x="197835" y="35034"/>
                  <a:pt x="189770" y="35034"/>
                </a:cubicBezTo>
                <a:cubicBezTo>
                  <a:pt x="181705" y="35034"/>
                  <a:pt x="175172" y="41567"/>
                  <a:pt x="175172" y="49632"/>
                </a:cubicBezTo>
                <a:cubicBezTo>
                  <a:pt x="175172" y="52698"/>
                  <a:pt x="176121" y="55581"/>
                  <a:pt x="177764" y="57916"/>
                </a:cubicBezTo>
                <a:lnTo>
                  <a:pt x="156086" y="74193"/>
                </a:lnTo>
                <a:cubicBezTo>
                  <a:pt x="150648" y="78280"/>
                  <a:pt x="142875" y="76857"/>
                  <a:pt x="139226" y="71127"/>
                </a:cubicBezTo>
                <a:lnTo>
                  <a:pt x="114227" y="3182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1" name="Text 8"/>
          <p:cNvSpPr/>
          <p:nvPr/>
        </p:nvSpPr>
        <p:spPr>
          <a:xfrm>
            <a:off x="6895137" y="1677919"/>
            <a:ext cx="1438749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Luxury Segment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49747" y="1621864"/>
            <a:ext cx="1074391" cy="37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8" b="1" dirty="0">
                <a:solidFill>
                  <a:srgbClr val="D4A373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61.62%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34585" y="2107675"/>
            <a:ext cx="5390639" cy="485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Dominant revenue contributor</a:t>
            </a:r>
            <a:pPr>
              <a:lnSpc>
                <a:spcPct val="140000"/>
              </a:lnSpc>
            </a:pPr>
            <a:r>
              <a:rPr lang="en-US" sz="117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generating ₹1.04B annually. Reflects successful premium positioning and attraction of high-value guests.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34585" y="2668227"/>
            <a:ext cx="2625251" cy="635292"/>
          </a:xfrm>
          <a:custGeom>
            <a:avLst/>
            <a:gdLst/>
            <a:ahLst/>
            <a:cxnLst/>
            <a:rect l="l" t="t" r="r" b="b"/>
            <a:pathLst>
              <a:path w="2625251" h="635292">
                <a:moveTo>
                  <a:pt x="37368" y="0"/>
                </a:moveTo>
                <a:lnTo>
                  <a:pt x="2587883" y="0"/>
                </a:lnTo>
                <a:cubicBezTo>
                  <a:pt x="2608520" y="0"/>
                  <a:pt x="2625251" y="16730"/>
                  <a:pt x="2625251" y="37368"/>
                </a:cubicBezTo>
                <a:lnTo>
                  <a:pt x="2625251" y="597924"/>
                </a:lnTo>
                <a:cubicBezTo>
                  <a:pt x="2625251" y="618548"/>
                  <a:pt x="2608507" y="635292"/>
                  <a:pt x="2587883" y="635292"/>
                </a:cubicBezTo>
                <a:lnTo>
                  <a:pt x="37368" y="635292"/>
                </a:lnTo>
                <a:cubicBezTo>
                  <a:pt x="16730" y="635292"/>
                  <a:pt x="0" y="618562"/>
                  <a:pt x="0" y="597924"/>
                </a:cubicBezTo>
                <a:lnTo>
                  <a:pt x="0" y="37368"/>
                </a:lnTo>
                <a:cubicBezTo>
                  <a:pt x="0" y="16744"/>
                  <a:pt x="16744" y="0"/>
                  <a:pt x="37368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409325" y="2742967"/>
            <a:ext cx="2541168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Share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9325" y="2967188"/>
            <a:ext cx="2559853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₹1.04B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031073" y="2668227"/>
            <a:ext cx="2625251" cy="635292"/>
          </a:xfrm>
          <a:custGeom>
            <a:avLst/>
            <a:gdLst/>
            <a:ahLst/>
            <a:cxnLst/>
            <a:rect l="l" t="t" r="r" b="b"/>
            <a:pathLst>
              <a:path w="2625251" h="635292">
                <a:moveTo>
                  <a:pt x="37368" y="0"/>
                </a:moveTo>
                <a:lnTo>
                  <a:pt x="2587883" y="0"/>
                </a:lnTo>
                <a:cubicBezTo>
                  <a:pt x="2608520" y="0"/>
                  <a:pt x="2625251" y="16730"/>
                  <a:pt x="2625251" y="37368"/>
                </a:cubicBezTo>
                <a:lnTo>
                  <a:pt x="2625251" y="597924"/>
                </a:lnTo>
                <a:cubicBezTo>
                  <a:pt x="2625251" y="618548"/>
                  <a:pt x="2608507" y="635292"/>
                  <a:pt x="2587883" y="635292"/>
                </a:cubicBezTo>
                <a:lnTo>
                  <a:pt x="37368" y="635292"/>
                </a:lnTo>
                <a:cubicBezTo>
                  <a:pt x="16730" y="635292"/>
                  <a:pt x="0" y="618562"/>
                  <a:pt x="0" y="597924"/>
                </a:cubicBezTo>
                <a:lnTo>
                  <a:pt x="0" y="37368"/>
                </a:lnTo>
                <a:cubicBezTo>
                  <a:pt x="0" y="16744"/>
                  <a:pt x="16744" y="0"/>
                  <a:pt x="37368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105813" y="2742967"/>
            <a:ext cx="2541168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Focus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05813" y="2967188"/>
            <a:ext cx="2559853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Strength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77630" y="3587531"/>
            <a:ext cx="5629808" cy="2032934"/>
          </a:xfrm>
          <a:custGeom>
            <a:avLst/>
            <a:gdLst/>
            <a:ahLst/>
            <a:cxnLst/>
            <a:rect l="l" t="t" r="r" b="b"/>
            <a:pathLst>
              <a:path w="5629808" h="2032934">
                <a:moveTo>
                  <a:pt x="74731" y="0"/>
                </a:moveTo>
                <a:lnTo>
                  <a:pt x="5555077" y="0"/>
                </a:lnTo>
                <a:cubicBezTo>
                  <a:pt x="5596350" y="0"/>
                  <a:pt x="5629808" y="33458"/>
                  <a:pt x="5629808" y="74731"/>
                </a:cubicBezTo>
                <a:lnTo>
                  <a:pt x="5629808" y="1958204"/>
                </a:lnTo>
                <a:cubicBezTo>
                  <a:pt x="5629808" y="1999476"/>
                  <a:pt x="5596350" y="2032934"/>
                  <a:pt x="5555077" y="2032934"/>
                </a:cubicBezTo>
                <a:lnTo>
                  <a:pt x="74731" y="2032934"/>
                </a:lnTo>
                <a:cubicBezTo>
                  <a:pt x="33458" y="2032934"/>
                  <a:pt x="0" y="1999476"/>
                  <a:pt x="0" y="1958204"/>
                </a:cubicBezTo>
                <a:lnTo>
                  <a:pt x="0" y="74731"/>
                </a:lnTo>
                <a:cubicBezTo>
                  <a:pt x="0" y="33486"/>
                  <a:pt x="33486" y="0"/>
                  <a:pt x="7473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5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032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34585" y="3744486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74742" y="0"/>
                </a:moveTo>
                <a:lnTo>
                  <a:pt x="373700" y="0"/>
                </a:lnTo>
                <a:cubicBezTo>
                  <a:pt x="414951" y="0"/>
                  <a:pt x="448441" y="33491"/>
                  <a:pt x="448441" y="74742"/>
                </a:cubicBezTo>
                <a:lnTo>
                  <a:pt x="448441" y="373700"/>
                </a:lnTo>
                <a:cubicBezTo>
                  <a:pt x="448441" y="414978"/>
                  <a:pt x="414978" y="448441"/>
                  <a:pt x="373700" y="448441"/>
                </a:cubicBezTo>
                <a:lnTo>
                  <a:pt x="74742" y="448441"/>
                </a:lnTo>
                <a:cubicBezTo>
                  <a:pt x="33491" y="448441"/>
                  <a:pt x="0" y="414951"/>
                  <a:pt x="0" y="373700"/>
                </a:cubicBezTo>
                <a:lnTo>
                  <a:pt x="0" y="74742"/>
                </a:lnTo>
                <a:cubicBezTo>
                  <a:pt x="0" y="33491"/>
                  <a:pt x="33491" y="0"/>
                  <a:pt x="7474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465381" y="3875281"/>
            <a:ext cx="186851" cy="186851"/>
          </a:xfrm>
          <a:custGeom>
            <a:avLst/>
            <a:gdLst/>
            <a:ahLst/>
            <a:cxnLst/>
            <a:rect l="l" t="t" r="r" b="b"/>
            <a:pathLst>
              <a:path w="186851" h="186851">
                <a:moveTo>
                  <a:pt x="72989" y="17517"/>
                </a:moveTo>
                <a:lnTo>
                  <a:pt x="113862" y="17517"/>
                </a:lnTo>
                <a:cubicBezTo>
                  <a:pt x="115468" y="17517"/>
                  <a:pt x="116782" y="18831"/>
                  <a:pt x="116782" y="20437"/>
                </a:cubicBezTo>
                <a:lnTo>
                  <a:pt x="116782" y="35034"/>
                </a:lnTo>
                <a:lnTo>
                  <a:pt x="70069" y="35034"/>
                </a:lnTo>
                <a:lnTo>
                  <a:pt x="70069" y="20437"/>
                </a:lnTo>
                <a:cubicBezTo>
                  <a:pt x="70069" y="18831"/>
                  <a:pt x="71383" y="17517"/>
                  <a:pt x="72989" y="17517"/>
                </a:cubicBezTo>
                <a:close/>
                <a:moveTo>
                  <a:pt x="52552" y="20437"/>
                </a:moveTo>
                <a:lnTo>
                  <a:pt x="52552" y="35034"/>
                </a:lnTo>
                <a:lnTo>
                  <a:pt x="23356" y="35034"/>
                </a:lnTo>
                <a:cubicBezTo>
                  <a:pt x="10474" y="35034"/>
                  <a:pt x="0" y="45508"/>
                  <a:pt x="0" y="58391"/>
                </a:cubicBezTo>
                <a:lnTo>
                  <a:pt x="0" y="93425"/>
                </a:lnTo>
                <a:lnTo>
                  <a:pt x="186851" y="93425"/>
                </a:lnTo>
                <a:lnTo>
                  <a:pt x="186851" y="58391"/>
                </a:lnTo>
                <a:cubicBezTo>
                  <a:pt x="186851" y="45508"/>
                  <a:pt x="176377" y="35034"/>
                  <a:pt x="163494" y="35034"/>
                </a:cubicBezTo>
                <a:lnTo>
                  <a:pt x="134299" y="35034"/>
                </a:lnTo>
                <a:lnTo>
                  <a:pt x="134299" y="20437"/>
                </a:lnTo>
                <a:cubicBezTo>
                  <a:pt x="134299" y="9160"/>
                  <a:pt x="125139" y="0"/>
                  <a:pt x="113862" y="0"/>
                </a:cubicBezTo>
                <a:lnTo>
                  <a:pt x="72989" y="0"/>
                </a:lnTo>
                <a:cubicBezTo>
                  <a:pt x="61712" y="0"/>
                  <a:pt x="52552" y="9160"/>
                  <a:pt x="52552" y="20437"/>
                </a:cubicBezTo>
                <a:close/>
                <a:moveTo>
                  <a:pt x="186851" y="110943"/>
                </a:moveTo>
                <a:lnTo>
                  <a:pt x="116782" y="110943"/>
                </a:lnTo>
                <a:lnTo>
                  <a:pt x="116782" y="116782"/>
                </a:lnTo>
                <a:cubicBezTo>
                  <a:pt x="116782" y="123241"/>
                  <a:pt x="111563" y="128460"/>
                  <a:pt x="105103" y="128460"/>
                </a:cubicBezTo>
                <a:lnTo>
                  <a:pt x="81747" y="128460"/>
                </a:lnTo>
                <a:cubicBezTo>
                  <a:pt x="75288" y="128460"/>
                  <a:pt x="70069" y="123241"/>
                  <a:pt x="70069" y="116782"/>
                </a:cubicBezTo>
                <a:lnTo>
                  <a:pt x="70069" y="110943"/>
                </a:lnTo>
                <a:lnTo>
                  <a:pt x="0" y="110943"/>
                </a:lnTo>
                <a:lnTo>
                  <a:pt x="0" y="151816"/>
                </a:lnTo>
                <a:cubicBezTo>
                  <a:pt x="0" y="164699"/>
                  <a:pt x="10474" y="175172"/>
                  <a:pt x="23356" y="175172"/>
                </a:cubicBezTo>
                <a:lnTo>
                  <a:pt x="163494" y="175172"/>
                </a:lnTo>
                <a:cubicBezTo>
                  <a:pt x="176377" y="175172"/>
                  <a:pt x="186851" y="164699"/>
                  <a:pt x="186851" y="151816"/>
                </a:cubicBezTo>
                <a:lnTo>
                  <a:pt x="186851" y="110943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3" name="Text 20"/>
          <p:cNvSpPr/>
          <p:nvPr/>
        </p:nvSpPr>
        <p:spPr>
          <a:xfrm>
            <a:off x="6895137" y="3837911"/>
            <a:ext cx="161625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Segment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709691" y="3781856"/>
            <a:ext cx="1111761" cy="37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8" b="1" dirty="0">
                <a:solidFill>
                  <a:srgbClr val="4A6C8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38.38%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34585" y="4267668"/>
            <a:ext cx="5390639" cy="485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 secondary contributor</a:t>
            </a:r>
            <a:pPr>
              <a:lnSpc>
                <a:spcPct val="140000"/>
              </a:lnSpc>
            </a:pPr>
            <a:r>
              <a:rPr lang="en-US" sz="117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₹650M annually. Provides stable weekday demand and diversifies customer base.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34585" y="4828219"/>
            <a:ext cx="2625251" cy="635292"/>
          </a:xfrm>
          <a:custGeom>
            <a:avLst/>
            <a:gdLst/>
            <a:ahLst/>
            <a:cxnLst/>
            <a:rect l="l" t="t" r="r" b="b"/>
            <a:pathLst>
              <a:path w="2625251" h="635292">
                <a:moveTo>
                  <a:pt x="37368" y="0"/>
                </a:moveTo>
                <a:lnTo>
                  <a:pt x="2587883" y="0"/>
                </a:lnTo>
                <a:cubicBezTo>
                  <a:pt x="2608520" y="0"/>
                  <a:pt x="2625251" y="16730"/>
                  <a:pt x="2625251" y="37368"/>
                </a:cubicBezTo>
                <a:lnTo>
                  <a:pt x="2625251" y="597924"/>
                </a:lnTo>
                <a:cubicBezTo>
                  <a:pt x="2625251" y="618548"/>
                  <a:pt x="2608507" y="635292"/>
                  <a:pt x="2587883" y="635292"/>
                </a:cubicBezTo>
                <a:lnTo>
                  <a:pt x="37368" y="635292"/>
                </a:lnTo>
                <a:cubicBezTo>
                  <a:pt x="16730" y="635292"/>
                  <a:pt x="0" y="618562"/>
                  <a:pt x="0" y="597924"/>
                </a:cubicBezTo>
                <a:lnTo>
                  <a:pt x="0" y="37368"/>
                </a:lnTo>
                <a:cubicBezTo>
                  <a:pt x="0" y="16744"/>
                  <a:pt x="16744" y="0"/>
                  <a:pt x="37368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409325" y="4902960"/>
            <a:ext cx="2541168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Share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09325" y="5127180"/>
            <a:ext cx="2559853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₹650M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031073" y="4828219"/>
            <a:ext cx="2625251" cy="635292"/>
          </a:xfrm>
          <a:custGeom>
            <a:avLst/>
            <a:gdLst/>
            <a:ahLst/>
            <a:cxnLst/>
            <a:rect l="l" t="t" r="r" b="b"/>
            <a:pathLst>
              <a:path w="2625251" h="635292">
                <a:moveTo>
                  <a:pt x="37368" y="0"/>
                </a:moveTo>
                <a:lnTo>
                  <a:pt x="2587883" y="0"/>
                </a:lnTo>
                <a:cubicBezTo>
                  <a:pt x="2608520" y="0"/>
                  <a:pt x="2625251" y="16730"/>
                  <a:pt x="2625251" y="37368"/>
                </a:cubicBezTo>
                <a:lnTo>
                  <a:pt x="2625251" y="597924"/>
                </a:lnTo>
                <a:cubicBezTo>
                  <a:pt x="2625251" y="618548"/>
                  <a:pt x="2608507" y="635292"/>
                  <a:pt x="2587883" y="635292"/>
                </a:cubicBezTo>
                <a:lnTo>
                  <a:pt x="37368" y="635292"/>
                </a:lnTo>
                <a:cubicBezTo>
                  <a:pt x="16730" y="635292"/>
                  <a:pt x="0" y="618562"/>
                  <a:pt x="0" y="597924"/>
                </a:cubicBezTo>
                <a:lnTo>
                  <a:pt x="0" y="37368"/>
                </a:lnTo>
                <a:cubicBezTo>
                  <a:pt x="0" y="16744"/>
                  <a:pt x="16744" y="0"/>
                  <a:pt x="37368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9105813" y="4902960"/>
            <a:ext cx="2541168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Focus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105813" y="5127180"/>
            <a:ext cx="2559853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Weekday Anchor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92386" y="5740051"/>
            <a:ext cx="11425913" cy="1121103"/>
          </a:xfrm>
          <a:custGeom>
            <a:avLst/>
            <a:gdLst/>
            <a:ahLst/>
            <a:cxnLst/>
            <a:rect l="l" t="t" r="r" b="b"/>
            <a:pathLst>
              <a:path w="11425913" h="1121103">
                <a:moveTo>
                  <a:pt x="37370" y="0"/>
                </a:moveTo>
                <a:lnTo>
                  <a:pt x="11351169" y="0"/>
                </a:lnTo>
                <a:cubicBezTo>
                  <a:pt x="11392449" y="0"/>
                  <a:pt x="11425913" y="33464"/>
                  <a:pt x="11425913" y="74744"/>
                </a:cubicBezTo>
                <a:lnTo>
                  <a:pt x="11425913" y="1046359"/>
                </a:lnTo>
                <a:cubicBezTo>
                  <a:pt x="11425913" y="1087639"/>
                  <a:pt x="11392449" y="1121103"/>
                  <a:pt x="11351169" y="1121103"/>
                </a:cubicBezTo>
                <a:lnTo>
                  <a:pt x="37370" y="1121103"/>
                </a:lnTo>
                <a:cubicBezTo>
                  <a:pt x="16731" y="1121103"/>
                  <a:pt x="0" y="1104372"/>
                  <a:pt x="0" y="1083733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3" name="Shape 30"/>
          <p:cNvSpPr/>
          <p:nvPr/>
        </p:nvSpPr>
        <p:spPr>
          <a:xfrm>
            <a:off x="392386" y="5740051"/>
            <a:ext cx="37370" cy="1121103"/>
          </a:xfrm>
          <a:custGeom>
            <a:avLst/>
            <a:gdLst/>
            <a:ahLst/>
            <a:cxnLst/>
            <a:rect l="l" t="t" r="r" b="b"/>
            <a:pathLst>
              <a:path w="37370" h="1121103">
                <a:moveTo>
                  <a:pt x="37370" y="0"/>
                </a:moveTo>
                <a:lnTo>
                  <a:pt x="37370" y="0"/>
                </a:lnTo>
                <a:lnTo>
                  <a:pt x="37370" y="1121103"/>
                </a:lnTo>
                <a:lnTo>
                  <a:pt x="37370" y="1121103"/>
                </a:lnTo>
                <a:cubicBezTo>
                  <a:pt x="16731" y="1121103"/>
                  <a:pt x="0" y="1104372"/>
                  <a:pt x="0" y="1083733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4" name="Shape 31"/>
          <p:cNvSpPr/>
          <p:nvPr/>
        </p:nvSpPr>
        <p:spPr>
          <a:xfrm>
            <a:off x="560552" y="5889531"/>
            <a:ext cx="373701" cy="373701"/>
          </a:xfrm>
          <a:custGeom>
            <a:avLst/>
            <a:gdLst/>
            <a:ahLst/>
            <a:cxnLst/>
            <a:rect l="l" t="t" r="r" b="b"/>
            <a:pathLst>
              <a:path w="373701" h="373701">
                <a:moveTo>
                  <a:pt x="186851" y="0"/>
                </a:moveTo>
                <a:lnTo>
                  <a:pt x="186851" y="0"/>
                </a:lnTo>
                <a:cubicBezTo>
                  <a:pt x="289976" y="0"/>
                  <a:pt x="373701" y="83725"/>
                  <a:pt x="373701" y="186851"/>
                </a:cubicBezTo>
                <a:lnTo>
                  <a:pt x="373701" y="186851"/>
                </a:lnTo>
                <a:cubicBezTo>
                  <a:pt x="373701" y="289976"/>
                  <a:pt x="289976" y="373701"/>
                  <a:pt x="186851" y="373701"/>
                </a:cubicBezTo>
                <a:lnTo>
                  <a:pt x="186851" y="373701"/>
                </a:lnTo>
                <a:cubicBezTo>
                  <a:pt x="83725" y="373701"/>
                  <a:pt x="0" y="289976"/>
                  <a:pt x="0" y="186851"/>
                </a:cubicBezTo>
                <a:lnTo>
                  <a:pt x="0" y="186851"/>
                </a:lnTo>
                <a:cubicBezTo>
                  <a:pt x="0" y="83725"/>
                  <a:pt x="83725" y="0"/>
                  <a:pt x="18685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686676" y="5992299"/>
            <a:ext cx="126124" cy="168166"/>
          </a:xfrm>
          <a:custGeom>
            <a:avLst/>
            <a:gdLst/>
            <a:ahLst/>
            <a:cxnLst/>
            <a:rect l="l" t="t" r="r" b="b"/>
            <a:pathLst>
              <a:path w="126124" h="168166">
                <a:moveTo>
                  <a:pt x="96203" y="126124"/>
                </a:moveTo>
                <a:cubicBezTo>
                  <a:pt x="98600" y="118800"/>
                  <a:pt x="103396" y="112165"/>
                  <a:pt x="108815" y="106450"/>
                </a:cubicBezTo>
                <a:cubicBezTo>
                  <a:pt x="119555" y="95151"/>
                  <a:pt x="126124" y="79879"/>
                  <a:pt x="126124" y="63062"/>
                </a:cubicBezTo>
                <a:cubicBezTo>
                  <a:pt x="126124" y="28247"/>
                  <a:pt x="97878" y="0"/>
                  <a:pt x="63062" y="0"/>
                </a:cubicBezTo>
                <a:cubicBezTo>
                  <a:pt x="28247" y="0"/>
                  <a:pt x="0" y="28247"/>
                  <a:pt x="0" y="63062"/>
                </a:cubicBezTo>
                <a:cubicBezTo>
                  <a:pt x="0" y="79879"/>
                  <a:pt x="6569" y="95151"/>
                  <a:pt x="17309" y="106450"/>
                </a:cubicBezTo>
                <a:cubicBezTo>
                  <a:pt x="22729" y="112165"/>
                  <a:pt x="27557" y="118800"/>
                  <a:pt x="29922" y="126124"/>
                </a:cubicBezTo>
                <a:lnTo>
                  <a:pt x="96170" y="126124"/>
                </a:lnTo>
                <a:close/>
                <a:moveTo>
                  <a:pt x="94593" y="141890"/>
                </a:moveTo>
                <a:lnTo>
                  <a:pt x="31531" y="141890"/>
                </a:lnTo>
                <a:lnTo>
                  <a:pt x="31531" y="147145"/>
                </a:lnTo>
                <a:cubicBezTo>
                  <a:pt x="31531" y="161662"/>
                  <a:pt x="43289" y="173421"/>
                  <a:pt x="57807" y="173421"/>
                </a:cubicBezTo>
                <a:lnTo>
                  <a:pt x="68317" y="173421"/>
                </a:lnTo>
                <a:cubicBezTo>
                  <a:pt x="82835" y="173421"/>
                  <a:pt x="94593" y="161662"/>
                  <a:pt x="94593" y="147145"/>
                </a:cubicBezTo>
                <a:lnTo>
                  <a:pt x="94593" y="141890"/>
                </a:lnTo>
                <a:close/>
                <a:moveTo>
                  <a:pt x="60434" y="36786"/>
                </a:moveTo>
                <a:cubicBezTo>
                  <a:pt x="47362" y="36786"/>
                  <a:pt x="36786" y="47362"/>
                  <a:pt x="36786" y="60434"/>
                </a:cubicBezTo>
                <a:cubicBezTo>
                  <a:pt x="36786" y="64803"/>
                  <a:pt x="33272" y="68317"/>
                  <a:pt x="28903" y="68317"/>
                </a:cubicBezTo>
                <a:cubicBezTo>
                  <a:pt x="24535" y="68317"/>
                  <a:pt x="21021" y="64803"/>
                  <a:pt x="21021" y="60434"/>
                </a:cubicBezTo>
                <a:cubicBezTo>
                  <a:pt x="21021" y="38658"/>
                  <a:pt x="38658" y="21021"/>
                  <a:pt x="60434" y="21021"/>
                </a:cubicBezTo>
                <a:cubicBezTo>
                  <a:pt x="64803" y="21021"/>
                  <a:pt x="68317" y="24535"/>
                  <a:pt x="68317" y="28903"/>
                </a:cubicBezTo>
                <a:cubicBezTo>
                  <a:pt x="68317" y="33272"/>
                  <a:pt x="64803" y="36786"/>
                  <a:pt x="60434" y="3678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6" name="Text 33"/>
          <p:cNvSpPr/>
          <p:nvPr/>
        </p:nvSpPr>
        <p:spPr>
          <a:xfrm>
            <a:off x="1083733" y="5889531"/>
            <a:ext cx="10669168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Insight: Premium Positioning Drives Profitability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083733" y="6225863"/>
            <a:ext cx="10659825" cy="485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Luxury segment dominance</a:t>
            </a:r>
            <a:pPr>
              <a:lnSpc>
                <a:spcPct val="140000"/>
              </a:lnSpc>
            </a:pPr>
            <a:r>
              <a:rPr lang="en-US" sz="117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indicates premium offerings are the primary profit driver. This suggests a clear strategy for continued investment in luxury experiences and expansion. </a:t>
            </a:r>
            <a:pPr>
              <a:lnSpc>
                <a:spcPct val="140000"/>
              </a:lnSpc>
            </a:pPr>
            <a:r>
              <a:rPr lang="en-US" sz="1177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segment provides weekday stability</a:t>
            </a:r>
            <a:pPr>
              <a:lnSpc>
                <a:spcPct val="140000"/>
              </a:lnSpc>
            </a:pPr>
            <a:r>
              <a:rPr lang="en-US" sz="117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creating an opportunity for hybrid positioning.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Temporal Performance Trends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0668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 patterns and seasonal variations revealing demand volatility and pricing opportunities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" y="1417320"/>
            <a:ext cx="3720465" cy="1386840"/>
          </a:xfrm>
          <a:custGeom>
            <a:avLst/>
            <a:gdLst/>
            <a:ahLst/>
            <a:cxnLst/>
            <a:rect l="l" t="t" r="r" b="b"/>
            <a:pathLst>
              <a:path w="3720465" h="1386840">
                <a:moveTo>
                  <a:pt x="76207" y="0"/>
                </a:moveTo>
                <a:lnTo>
                  <a:pt x="3644258" y="0"/>
                </a:lnTo>
                <a:cubicBezTo>
                  <a:pt x="3686318" y="0"/>
                  <a:pt x="3720465" y="34147"/>
                  <a:pt x="3720465" y="76207"/>
                </a:cubicBezTo>
                <a:lnTo>
                  <a:pt x="3720465" y="1310633"/>
                </a:lnTo>
                <a:cubicBezTo>
                  <a:pt x="3720465" y="1352693"/>
                  <a:pt x="3686318" y="1386840"/>
                  <a:pt x="3644258" y="1386840"/>
                </a:cubicBezTo>
                <a:lnTo>
                  <a:pt x="76207" y="1386840"/>
                </a:lnTo>
                <a:cubicBezTo>
                  <a:pt x="34147" y="1386840"/>
                  <a:pt x="0" y="1352693"/>
                  <a:pt x="0" y="131063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5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0540" y="15392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17696" y="164401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96391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Fluctuation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0540" y="1996441"/>
            <a:ext cx="35528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 variations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indicate seasonal demand patterns and pricing optimization opportunities throughout the year.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36720" y="1417320"/>
            <a:ext cx="3720465" cy="1386840"/>
          </a:xfrm>
          <a:custGeom>
            <a:avLst/>
            <a:gdLst/>
            <a:ahLst/>
            <a:cxnLst/>
            <a:rect l="l" t="t" r="r" b="b"/>
            <a:pathLst>
              <a:path w="3720465" h="1386840">
                <a:moveTo>
                  <a:pt x="76207" y="0"/>
                </a:moveTo>
                <a:lnTo>
                  <a:pt x="3644258" y="0"/>
                </a:lnTo>
                <a:cubicBezTo>
                  <a:pt x="3686318" y="0"/>
                  <a:pt x="3720465" y="34147"/>
                  <a:pt x="3720465" y="76207"/>
                </a:cubicBezTo>
                <a:lnTo>
                  <a:pt x="3720465" y="1310633"/>
                </a:lnTo>
                <a:cubicBezTo>
                  <a:pt x="3720465" y="1352693"/>
                  <a:pt x="3686318" y="1386840"/>
                  <a:pt x="3644258" y="1386840"/>
                </a:cubicBezTo>
                <a:lnTo>
                  <a:pt x="76207" y="1386840"/>
                </a:lnTo>
                <a:cubicBezTo>
                  <a:pt x="34147" y="1386840"/>
                  <a:pt x="0" y="1352693"/>
                  <a:pt x="0" y="131063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5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032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8640" y="15392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444365" y="1644016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3" name="Text 11"/>
          <p:cNvSpPr/>
          <p:nvPr/>
        </p:nvSpPr>
        <p:spPr>
          <a:xfrm>
            <a:off x="4853940" y="1596391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Pricing Stability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58640" y="1996441"/>
            <a:ext cx="35528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RevPAR and ADR stability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demonstrate consistent pricing strategy, while occupancy varies with demand patterns.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84820" y="1417320"/>
            <a:ext cx="3720465" cy="1386840"/>
          </a:xfrm>
          <a:custGeom>
            <a:avLst/>
            <a:gdLst/>
            <a:ahLst/>
            <a:cxnLst/>
            <a:rect l="l" t="t" r="r" b="b"/>
            <a:pathLst>
              <a:path w="3720465" h="1386840">
                <a:moveTo>
                  <a:pt x="76207" y="0"/>
                </a:moveTo>
                <a:lnTo>
                  <a:pt x="3644258" y="0"/>
                </a:lnTo>
                <a:cubicBezTo>
                  <a:pt x="3686318" y="0"/>
                  <a:pt x="3720465" y="34147"/>
                  <a:pt x="3720465" y="76207"/>
                </a:cubicBezTo>
                <a:lnTo>
                  <a:pt x="3720465" y="1310633"/>
                </a:lnTo>
                <a:cubicBezTo>
                  <a:pt x="3720465" y="1352693"/>
                  <a:pt x="3686318" y="1386840"/>
                  <a:pt x="3644258" y="1386840"/>
                </a:cubicBezTo>
                <a:lnTo>
                  <a:pt x="76207" y="1386840"/>
                </a:lnTo>
                <a:cubicBezTo>
                  <a:pt x="34147" y="1386840"/>
                  <a:pt x="0" y="1352693"/>
                  <a:pt x="0" y="131063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25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20320">
            <a:solidFill>
              <a:srgbClr val="8D99AE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06740" y="15392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13897" y="164401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32147"/>
                </a:moveTo>
                <a:cubicBezTo>
                  <a:pt x="21431" y="26220"/>
                  <a:pt x="26220" y="21431"/>
                  <a:pt x="32147" y="21431"/>
                </a:cubicBezTo>
                <a:lnTo>
                  <a:pt x="85725" y="21431"/>
                </a:lnTo>
                <a:cubicBezTo>
                  <a:pt x="91652" y="21431"/>
                  <a:pt x="96441" y="26220"/>
                  <a:pt x="96441" y="32147"/>
                </a:cubicBezTo>
                <a:lnTo>
                  <a:pt x="96441" y="128588"/>
                </a:lnTo>
                <a:lnTo>
                  <a:pt x="128588" y="128588"/>
                </a:lnTo>
                <a:lnTo>
                  <a:pt x="128588" y="85725"/>
                </a:lnTo>
                <a:cubicBezTo>
                  <a:pt x="128588" y="79798"/>
                  <a:pt x="133376" y="75009"/>
                  <a:pt x="139303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150019" y="96441"/>
                </a:lnTo>
                <a:lnTo>
                  <a:pt x="150019" y="139303"/>
                </a:lnTo>
                <a:cubicBezTo>
                  <a:pt x="150019" y="145230"/>
                  <a:pt x="145230" y="150019"/>
                  <a:pt x="139303" y="150019"/>
                </a:cubicBezTo>
                <a:lnTo>
                  <a:pt x="85725" y="150019"/>
                </a:lnTo>
                <a:cubicBezTo>
                  <a:pt x="79798" y="150019"/>
                  <a:pt x="75009" y="145230"/>
                  <a:pt x="75009" y="139303"/>
                </a:cubicBezTo>
                <a:lnTo>
                  <a:pt x="75009" y="42863"/>
                </a:lnTo>
                <a:lnTo>
                  <a:pt x="42863" y="42863"/>
                </a:lnTo>
                <a:lnTo>
                  <a:pt x="42863" y="85725"/>
                </a:lnTo>
                <a:cubicBezTo>
                  <a:pt x="42863" y="91652"/>
                  <a:pt x="38074" y="96441"/>
                  <a:pt x="32147" y="96441"/>
                </a:cubicBezTo>
                <a:lnTo>
                  <a:pt x="10716" y="96441"/>
                </a:lnTo>
                <a:cubicBezTo>
                  <a:pt x="4789" y="96441"/>
                  <a:pt x="0" y="91652"/>
                  <a:pt x="0" y="85725"/>
                </a:cubicBezTo>
                <a:cubicBezTo>
                  <a:pt x="0" y="79798"/>
                  <a:pt x="4789" y="75009"/>
                  <a:pt x="10716" y="75009"/>
                </a:cubicBezTo>
                <a:lnTo>
                  <a:pt x="21431" y="75009"/>
                </a:lnTo>
                <a:lnTo>
                  <a:pt x="21431" y="32147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8" name="Text 16"/>
          <p:cNvSpPr/>
          <p:nvPr/>
        </p:nvSpPr>
        <p:spPr>
          <a:xfrm>
            <a:off x="8702040" y="1596391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Demand Volatility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06740" y="1996441"/>
            <a:ext cx="3552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Peaks and dips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reveal clear demand volatility, creating opportunities for dynamic pricing strategies.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2926080"/>
            <a:ext cx="11430000" cy="3552825"/>
          </a:xfrm>
          <a:custGeom>
            <a:avLst/>
            <a:gdLst/>
            <a:ahLst/>
            <a:cxnLst/>
            <a:rect l="l" t="t" r="r" b="b"/>
            <a:pathLst>
              <a:path w="11430000" h="3552825">
                <a:moveTo>
                  <a:pt x="76208" y="0"/>
                </a:moveTo>
                <a:lnTo>
                  <a:pt x="11353792" y="0"/>
                </a:lnTo>
                <a:cubicBezTo>
                  <a:pt x="11395880" y="0"/>
                  <a:pt x="11430000" y="34120"/>
                  <a:pt x="11430000" y="76208"/>
                </a:cubicBezTo>
                <a:lnTo>
                  <a:pt x="11430000" y="3476617"/>
                </a:lnTo>
                <a:cubicBezTo>
                  <a:pt x="11430000" y="3518705"/>
                  <a:pt x="11395880" y="3552825"/>
                  <a:pt x="11353792" y="3552825"/>
                </a:cubicBezTo>
                <a:lnTo>
                  <a:pt x="76208" y="3552825"/>
                </a:lnTo>
                <a:cubicBezTo>
                  <a:pt x="34120" y="3552825"/>
                  <a:pt x="0" y="3518705"/>
                  <a:pt x="0" y="3476617"/>
                </a:cubicBezTo>
                <a:lnTo>
                  <a:pt x="0" y="76208"/>
                </a:lnTo>
                <a:cubicBezTo>
                  <a:pt x="0" y="34120"/>
                  <a:pt x="34120" y="0"/>
                  <a:pt x="76208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2438" y="3040380"/>
            <a:ext cx="11287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 Revenue &amp; Occupancy Trend Patterns</a:t>
            </a:r>
            <a:endParaRPr lang="en-US" sz="1600" dirty="0"/>
          </a:p>
        </p:txBody>
      </p:sp>
      <p:pic>
        <p:nvPicPr>
          <p:cNvPr id="22" name="Image 0" descr="https://kimi-img.moonshot.cn/pub/slides/26-01-24-03:31:14-d5psp0j67ti81620m2s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5300" y="3383280"/>
            <a:ext cx="11201400" cy="28575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303" y="365303"/>
            <a:ext cx="11534454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spc="58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Demand Patterns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303" y="621016"/>
            <a:ext cx="1162578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F0F0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Day Type Performance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303" y="1022849"/>
            <a:ext cx="11534454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Weekend vs weekday performance reveals leisure-driven demand patterns and optimization opportunities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2609" y="1395459"/>
            <a:ext cx="5640284" cy="2096841"/>
          </a:xfrm>
          <a:custGeom>
            <a:avLst/>
            <a:gdLst/>
            <a:ahLst/>
            <a:cxnLst/>
            <a:rect l="l" t="t" r="r" b="b"/>
            <a:pathLst>
              <a:path w="5640284" h="2096841">
                <a:moveTo>
                  <a:pt x="73054" y="0"/>
                </a:moveTo>
                <a:lnTo>
                  <a:pt x="5567230" y="0"/>
                </a:lnTo>
                <a:cubicBezTo>
                  <a:pt x="5607550" y="0"/>
                  <a:pt x="5640284" y="32734"/>
                  <a:pt x="5640284" y="73054"/>
                </a:cubicBezTo>
                <a:lnTo>
                  <a:pt x="5640284" y="2023787"/>
                </a:lnTo>
                <a:cubicBezTo>
                  <a:pt x="5640284" y="2064107"/>
                  <a:pt x="5607550" y="2096841"/>
                  <a:pt x="5567230" y="2096841"/>
                </a:cubicBezTo>
                <a:lnTo>
                  <a:pt x="73054" y="2096841"/>
                </a:lnTo>
                <a:cubicBezTo>
                  <a:pt x="32734" y="2096841"/>
                  <a:pt x="0" y="2064107"/>
                  <a:pt x="0" y="2023787"/>
                </a:cubicBezTo>
                <a:lnTo>
                  <a:pt x="0" y="73054"/>
                </a:lnTo>
                <a:cubicBezTo>
                  <a:pt x="0" y="32734"/>
                  <a:pt x="32734" y="0"/>
                  <a:pt x="73054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5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6037" y="1548887"/>
            <a:ext cx="438364" cy="438364"/>
          </a:xfrm>
          <a:custGeom>
            <a:avLst/>
            <a:gdLst/>
            <a:ahLst/>
            <a:cxnLst/>
            <a:rect l="l" t="t" r="r" b="b"/>
            <a:pathLst>
              <a:path w="438364" h="438364">
                <a:moveTo>
                  <a:pt x="73062" y="0"/>
                </a:moveTo>
                <a:lnTo>
                  <a:pt x="365302" y="0"/>
                </a:lnTo>
                <a:cubicBezTo>
                  <a:pt x="405653" y="0"/>
                  <a:pt x="438364" y="32711"/>
                  <a:pt x="438364" y="73062"/>
                </a:cubicBezTo>
                <a:lnTo>
                  <a:pt x="438364" y="365302"/>
                </a:lnTo>
                <a:cubicBezTo>
                  <a:pt x="438364" y="405653"/>
                  <a:pt x="405653" y="438364"/>
                  <a:pt x="365302" y="438364"/>
                </a:cubicBezTo>
                <a:lnTo>
                  <a:pt x="73062" y="438364"/>
                </a:lnTo>
                <a:cubicBezTo>
                  <a:pt x="32711" y="438364"/>
                  <a:pt x="0" y="405653"/>
                  <a:pt x="0" y="365302"/>
                </a:cubicBezTo>
                <a:lnTo>
                  <a:pt x="0" y="73062"/>
                </a:lnTo>
                <a:cubicBezTo>
                  <a:pt x="0" y="32738"/>
                  <a:pt x="32738" y="0"/>
                  <a:pt x="73062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5309" y="1676743"/>
            <a:ext cx="159820" cy="182652"/>
          </a:xfrm>
          <a:custGeom>
            <a:avLst/>
            <a:gdLst/>
            <a:ahLst/>
            <a:cxnLst/>
            <a:rect l="l" t="t" r="r" b="b"/>
            <a:pathLst>
              <a:path w="159820" h="182652">
                <a:moveTo>
                  <a:pt x="45663" y="0"/>
                </a:moveTo>
                <a:cubicBezTo>
                  <a:pt x="51977" y="0"/>
                  <a:pt x="57079" y="5101"/>
                  <a:pt x="57079" y="11416"/>
                </a:cubicBezTo>
                <a:lnTo>
                  <a:pt x="57079" y="22831"/>
                </a:lnTo>
                <a:lnTo>
                  <a:pt x="102742" y="22831"/>
                </a:lnTo>
                <a:lnTo>
                  <a:pt x="102742" y="11416"/>
                </a:lnTo>
                <a:cubicBezTo>
                  <a:pt x="102742" y="5101"/>
                  <a:pt x="107843" y="0"/>
                  <a:pt x="114157" y="0"/>
                </a:cubicBezTo>
                <a:cubicBezTo>
                  <a:pt x="120472" y="0"/>
                  <a:pt x="125573" y="5101"/>
                  <a:pt x="125573" y="11416"/>
                </a:cubicBezTo>
                <a:lnTo>
                  <a:pt x="125573" y="22831"/>
                </a:lnTo>
                <a:lnTo>
                  <a:pt x="136989" y="22831"/>
                </a:lnTo>
                <a:cubicBezTo>
                  <a:pt x="149582" y="22831"/>
                  <a:pt x="159820" y="33070"/>
                  <a:pt x="159820" y="45663"/>
                </a:cubicBezTo>
                <a:lnTo>
                  <a:pt x="159820" y="148404"/>
                </a:lnTo>
                <a:cubicBezTo>
                  <a:pt x="159820" y="160997"/>
                  <a:pt x="149582" y="171236"/>
                  <a:pt x="136989" y="171236"/>
                </a:cubicBezTo>
                <a:lnTo>
                  <a:pt x="22831" y="171236"/>
                </a:lnTo>
                <a:cubicBezTo>
                  <a:pt x="10238" y="171236"/>
                  <a:pt x="0" y="160997"/>
                  <a:pt x="0" y="148404"/>
                </a:cubicBezTo>
                <a:lnTo>
                  <a:pt x="0" y="45663"/>
                </a:lnTo>
                <a:cubicBezTo>
                  <a:pt x="0" y="33070"/>
                  <a:pt x="10238" y="22831"/>
                  <a:pt x="22831" y="22831"/>
                </a:cubicBezTo>
                <a:lnTo>
                  <a:pt x="34247" y="22831"/>
                </a:lnTo>
                <a:lnTo>
                  <a:pt x="34247" y="11416"/>
                </a:lnTo>
                <a:cubicBezTo>
                  <a:pt x="34247" y="5101"/>
                  <a:pt x="39349" y="0"/>
                  <a:pt x="45663" y="0"/>
                </a:cubicBezTo>
                <a:close/>
                <a:moveTo>
                  <a:pt x="45663" y="91326"/>
                </a:moveTo>
                <a:cubicBezTo>
                  <a:pt x="39349" y="91326"/>
                  <a:pt x="34247" y="96427"/>
                  <a:pt x="34247" y="102742"/>
                </a:cubicBezTo>
                <a:lnTo>
                  <a:pt x="34247" y="125573"/>
                </a:lnTo>
                <a:cubicBezTo>
                  <a:pt x="34247" y="131887"/>
                  <a:pt x="39349" y="136989"/>
                  <a:pt x="45663" y="136989"/>
                </a:cubicBezTo>
                <a:lnTo>
                  <a:pt x="114157" y="136989"/>
                </a:lnTo>
                <a:cubicBezTo>
                  <a:pt x="120472" y="136989"/>
                  <a:pt x="125573" y="131887"/>
                  <a:pt x="125573" y="125573"/>
                </a:cubicBezTo>
                <a:lnTo>
                  <a:pt x="125573" y="102742"/>
                </a:lnTo>
                <a:cubicBezTo>
                  <a:pt x="125573" y="96427"/>
                  <a:pt x="120472" y="91326"/>
                  <a:pt x="114157" y="91326"/>
                </a:cubicBezTo>
                <a:lnTo>
                  <a:pt x="45663" y="9132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1073992" y="1640213"/>
            <a:ext cx="1945240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Weekend Performance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77717" y="1640213"/>
            <a:ext cx="785402" cy="255712"/>
          </a:xfrm>
          <a:custGeom>
            <a:avLst/>
            <a:gdLst/>
            <a:ahLst/>
            <a:cxnLst/>
            <a:rect l="l" t="t" r="r" b="b"/>
            <a:pathLst>
              <a:path w="785402" h="255712">
                <a:moveTo>
                  <a:pt x="73060" y="0"/>
                </a:moveTo>
                <a:lnTo>
                  <a:pt x="712343" y="0"/>
                </a:lnTo>
                <a:cubicBezTo>
                  <a:pt x="752665" y="0"/>
                  <a:pt x="785402" y="32737"/>
                  <a:pt x="785402" y="73060"/>
                </a:cubicBezTo>
                <a:lnTo>
                  <a:pt x="785402" y="182653"/>
                </a:lnTo>
                <a:cubicBezTo>
                  <a:pt x="785402" y="222975"/>
                  <a:pt x="752665" y="255712"/>
                  <a:pt x="712343" y="255712"/>
                </a:cubicBezTo>
                <a:lnTo>
                  <a:pt x="73060" y="255712"/>
                </a:lnTo>
                <a:cubicBezTo>
                  <a:pt x="32737" y="255712"/>
                  <a:pt x="0" y="222975"/>
                  <a:pt x="0" y="182653"/>
                </a:cubicBezTo>
                <a:lnTo>
                  <a:pt x="0" y="73060"/>
                </a:lnTo>
                <a:cubicBezTo>
                  <a:pt x="0" y="32737"/>
                  <a:pt x="32737" y="0"/>
                  <a:pt x="7306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187308" y="1676743"/>
            <a:ext cx="630148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Days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6037" y="2096842"/>
            <a:ext cx="1726058" cy="657546"/>
          </a:xfrm>
          <a:custGeom>
            <a:avLst/>
            <a:gdLst/>
            <a:ahLst/>
            <a:cxnLst/>
            <a:rect l="l" t="t" r="r" b="b"/>
            <a:pathLst>
              <a:path w="1726058" h="657546">
                <a:moveTo>
                  <a:pt x="36533" y="0"/>
                </a:moveTo>
                <a:lnTo>
                  <a:pt x="1689525" y="0"/>
                </a:lnTo>
                <a:cubicBezTo>
                  <a:pt x="1709702" y="0"/>
                  <a:pt x="1726058" y="16356"/>
                  <a:pt x="1726058" y="36533"/>
                </a:cubicBezTo>
                <a:lnTo>
                  <a:pt x="1726058" y="621013"/>
                </a:lnTo>
                <a:cubicBezTo>
                  <a:pt x="1726058" y="641190"/>
                  <a:pt x="1709702" y="657546"/>
                  <a:pt x="1689525" y="657546"/>
                </a:cubicBezTo>
                <a:lnTo>
                  <a:pt x="36533" y="657546"/>
                </a:lnTo>
                <a:cubicBezTo>
                  <a:pt x="16356" y="657546"/>
                  <a:pt x="0" y="641190"/>
                  <a:pt x="0" y="621013"/>
                </a:cubicBezTo>
                <a:lnTo>
                  <a:pt x="0" y="36533"/>
                </a:lnTo>
                <a:cubicBezTo>
                  <a:pt x="0" y="16370"/>
                  <a:pt x="16370" y="0"/>
                  <a:pt x="36533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67133" y="2169903"/>
            <a:ext cx="1643865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RevPAR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302" y="2389085"/>
            <a:ext cx="1689528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6" b="1" dirty="0">
                <a:solidFill>
                  <a:srgbClr val="D4A373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₹7,972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329266" y="2096842"/>
            <a:ext cx="1726058" cy="657546"/>
          </a:xfrm>
          <a:custGeom>
            <a:avLst/>
            <a:gdLst/>
            <a:ahLst/>
            <a:cxnLst/>
            <a:rect l="l" t="t" r="r" b="b"/>
            <a:pathLst>
              <a:path w="1726058" h="657546">
                <a:moveTo>
                  <a:pt x="36533" y="0"/>
                </a:moveTo>
                <a:lnTo>
                  <a:pt x="1689525" y="0"/>
                </a:lnTo>
                <a:cubicBezTo>
                  <a:pt x="1709702" y="0"/>
                  <a:pt x="1726058" y="16356"/>
                  <a:pt x="1726058" y="36533"/>
                </a:cubicBezTo>
                <a:lnTo>
                  <a:pt x="1726058" y="621013"/>
                </a:lnTo>
                <a:cubicBezTo>
                  <a:pt x="1726058" y="641190"/>
                  <a:pt x="1709702" y="657546"/>
                  <a:pt x="1689525" y="657546"/>
                </a:cubicBezTo>
                <a:lnTo>
                  <a:pt x="36533" y="657546"/>
                </a:lnTo>
                <a:cubicBezTo>
                  <a:pt x="16356" y="657546"/>
                  <a:pt x="0" y="641190"/>
                  <a:pt x="0" y="621013"/>
                </a:cubicBezTo>
                <a:lnTo>
                  <a:pt x="0" y="36533"/>
                </a:lnTo>
                <a:cubicBezTo>
                  <a:pt x="0" y="16370"/>
                  <a:pt x="16370" y="0"/>
                  <a:pt x="36533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370362" y="2169903"/>
            <a:ext cx="1643865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Occupancy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47531" y="2389085"/>
            <a:ext cx="1689528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6" b="1" dirty="0">
                <a:solidFill>
                  <a:srgbClr val="D4A373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62.6%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32494" y="2096842"/>
            <a:ext cx="1726058" cy="657546"/>
          </a:xfrm>
          <a:custGeom>
            <a:avLst/>
            <a:gdLst/>
            <a:ahLst/>
            <a:cxnLst/>
            <a:rect l="l" t="t" r="r" b="b"/>
            <a:pathLst>
              <a:path w="1726058" h="657546">
                <a:moveTo>
                  <a:pt x="36533" y="0"/>
                </a:moveTo>
                <a:lnTo>
                  <a:pt x="1689525" y="0"/>
                </a:lnTo>
                <a:cubicBezTo>
                  <a:pt x="1709702" y="0"/>
                  <a:pt x="1726058" y="16356"/>
                  <a:pt x="1726058" y="36533"/>
                </a:cubicBezTo>
                <a:lnTo>
                  <a:pt x="1726058" y="621013"/>
                </a:lnTo>
                <a:cubicBezTo>
                  <a:pt x="1726058" y="641190"/>
                  <a:pt x="1709702" y="657546"/>
                  <a:pt x="1689525" y="657546"/>
                </a:cubicBezTo>
                <a:lnTo>
                  <a:pt x="36533" y="657546"/>
                </a:lnTo>
                <a:cubicBezTo>
                  <a:pt x="16356" y="657546"/>
                  <a:pt x="0" y="641190"/>
                  <a:pt x="0" y="621013"/>
                </a:cubicBezTo>
                <a:lnTo>
                  <a:pt x="0" y="36533"/>
                </a:lnTo>
                <a:cubicBezTo>
                  <a:pt x="0" y="16370"/>
                  <a:pt x="16370" y="0"/>
                  <a:pt x="36533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173591" y="2169903"/>
            <a:ext cx="1643865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50760" y="2389085"/>
            <a:ext cx="1689528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6" b="1" dirty="0">
                <a:solidFill>
                  <a:srgbClr val="D4A373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₹12,725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6037" y="2863863"/>
            <a:ext cx="5406490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Leisure-driven demand peaks</a:t>
            </a:r>
            <a:pPr>
              <a:lnSpc>
                <a:spcPct val="140000"/>
              </a:lnSpc>
            </a:pPr>
            <a:r>
              <a:rPr lang="en-US" sz="115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weekends with premium pricing power and higher occupancy rates, indicating successful weekend positioning.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6823" y="1395459"/>
            <a:ext cx="5640284" cy="2096841"/>
          </a:xfrm>
          <a:custGeom>
            <a:avLst/>
            <a:gdLst/>
            <a:ahLst/>
            <a:cxnLst/>
            <a:rect l="l" t="t" r="r" b="b"/>
            <a:pathLst>
              <a:path w="5640284" h="2096841">
                <a:moveTo>
                  <a:pt x="73054" y="0"/>
                </a:moveTo>
                <a:lnTo>
                  <a:pt x="5567230" y="0"/>
                </a:lnTo>
                <a:cubicBezTo>
                  <a:pt x="5607550" y="0"/>
                  <a:pt x="5640284" y="32734"/>
                  <a:pt x="5640284" y="73054"/>
                </a:cubicBezTo>
                <a:lnTo>
                  <a:pt x="5640284" y="2023787"/>
                </a:lnTo>
                <a:cubicBezTo>
                  <a:pt x="5640284" y="2064107"/>
                  <a:pt x="5607550" y="2096841"/>
                  <a:pt x="5567230" y="2096841"/>
                </a:cubicBezTo>
                <a:lnTo>
                  <a:pt x="73054" y="2096841"/>
                </a:lnTo>
                <a:cubicBezTo>
                  <a:pt x="32734" y="2096841"/>
                  <a:pt x="0" y="2064107"/>
                  <a:pt x="0" y="2023787"/>
                </a:cubicBezTo>
                <a:lnTo>
                  <a:pt x="0" y="73054"/>
                </a:lnTo>
                <a:cubicBezTo>
                  <a:pt x="0" y="32734"/>
                  <a:pt x="32734" y="0"/>
                  <a:pt x="7305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5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032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30251" y="1548887"/>
            <a:ext cx="438364" cy="438364"/>
          </a:xfrm>
          <a:custGeom>
            <a:avLst/>
            <a:gdLst/>
            <a:ahLst/>
            <a:cxnLst/>
            <a:rect l="l" t="t" r="r" b="b"/>
            <a:pathLst>
              <a:path w="438364" h="438364">
                <a:moveTo>
                  <a:pt x="73062" y="0"/>
                </a:moveTo>
                <a:lnTo>
                  <a:pt x="365302" y="0"/>
                </a:lnTo>
                <a:cubicBezTo>
                  <a:pt x="405653" y="0"/>
                  <a:pt x="438364" y="32711"/>
                  <a:pt x="438364" y="73062"/>
                </a:cubicBezTo>
                <a:lnTo>
                  <a:pt x="438364" y="365302"/>
                </a:lnTo>
                <a:cubicBezTo>
                  <a:pt x="438364" y="405653"/>
                  <a:pt x="405653" y="438364"/>
                  <a:pt x="365302" y="438364"/>
                </a:cubicBezTo>
                <a:lnTo>
                  <a:pt x="73062" y="438364"/>
                </a:lnTo>
                <a:cubicBezTo>
                  <a:pt x="32711" y="438364"/>
                  <a:pt x="0" y="405653"/>
                  <a:pt x="0" y="365302"/>
                </a:cubicBezTo>
                <a:lnTo>
                  <a:pt x="0" y="73062"/>
                </a:lnTo>
                <a:cubicBezTo>
                  <a:pt x="0" y="32738"/>
                  <a:pt x="32738" y="0"/>
                  <a:pt x="7306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58107" y="1676743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71348" y="17124"/>
                </a:moveTo>
                <a:lnTo>
                  <a:pt x="111303" y="17124"/>
                </a:lnTo>
                <a:cubicBezTo>
                  <a:pt x="112873" y="17124"/>
                  <a:pt x="114157" y="18408"/>
                  <a:pt x="114157" y="19978"/>
                </a:cubicBezTo>
                <a:lnTo>
                  <a:pt x="114157" y="34247"/>
                </a:lnTo>
                <a:lnTo>
                  <a:pt x="68494" y="34247"/>
                </a:lnTo>
                <a:lnTo>
                  <a:pt x="68494" y="19978"/>
                </a:lnTo>
                <a:cubicBezTo>
                  <a:pt x="68494" y="18408"/>
                  <a:pt x="69779" y="17124"/>
                  <a:pt x="71348" y="17124"/>
                </a:cubicBezTo>
                <a:close/>
                <a:moveTo>
                  <a:pt x="51371" y="19978"/>
                </a:moveTo>
                <a:lnTo>
                  <a:pt x="51371" y="34247"/>
                </a:lnTo>
                <a:lnTo>
                  <a:pt x="22831" y="34247"/>
                </a:lnTo>
                <a:cubicBezTo>
                  <a:pt x="10238" y="34247"/>
                  <a:pt x="0" y="44486"/>
                  <a:pt x="0" y="57079"/>
                </a:cubicBezTo>
                <a:lnTo>
                  <a:pt x="0" y="91326"/>
                </a:lnTo>
                <a:lnTo>
                  <a:pt x="182652" y="91326"/>
                </a:lnTo>
                <a:lnTo>
                  <a:pt x="182652" y="57079"/>
                </a:lnTo>
                <a:cubicBezTo>
                  <a:pt x="182652" y="44486"/>
                  <a:pt x="172413" y="34247"/>
                  <a:pt x="159820" y="34247"/>
                </a:cubicBezTo>
                <a:lnTo>
                  <a:pt x="131281" y="34247"/>
                </a:lnTo>
                <a:lnTo>
                  <a:pt x="131281" y="19978"/>
                </a:lnTo>
                <a:cubicBezTo>
                  <a:pt x="131281" y="8954"/>
                  <a:pt x="122327" y="0"/>
                  <a:pt x="111303" y="0"/>
                </a:cubicBezTo>
                <a:lnTo>
                  <a:pt x="71348" y="0"/>
                </a:lnTo>
                <a:cubicBezTo>
                  <a:pt x="60325" y="0"/>
                  <a:pt x="51371" y="8954"/>
                  <a:pt x="51371" y="19978"/>
                </a:cubicBezTo>
                <a:close/>
                <a:moveTo>
                  <a:pt x="182652" y="108449"/>
                </a:moveTo>
                <a:lnTo>
                  <a:pt x="114157" y="108449"/>
                </a:lnTo>
                <a:lnTo>
                  <a:pt x="114157" y="114157"/>
                </a:lnTo>
                <a:cubicBezTo>
                  <a:pt x="114157" y="120472"/>
                  <a:pt x="109056" y="125573"/>
                  <a:pt x="102742" y="125573"/>
                </a:cubicBezTo>
                <a:lnTo>
                  <a:pt x="79910" y="125573"/>
                </a:lnTo>
                <a:cubicBezTo>
                  <a:pt x="73596" y="125573"/>
                  <a:pt x="68494" y="120472"/>
                  <a:pt x="68494" y="114157"/>
                </a:cubicBezTo>
                <a:lnTo>
                  <a:pt x="68494" y="108449"/>
                </a:lnTo>
                <a:lnTo>
                  <a:pt x="0" y="108449"/>
                </a:lnTo>
                <a:lnTo>
                  <a:pt x="0" y="148404"/>
                </a:lnTo>
                <a:cubicBezTo>
                  <a:pt x="0" y="160997"/>
                  <a:pt x="10238" y="171236"/>
                  <a:pt x="22831" y="171236"/>
                </a:cubicBezTo>
                <a:lnTo>
                  <a:pt x="159820" y="171236"/>
                </a:lnTo>
                <a:cubicBezTo>
                  <a:pt x="172413" y="171236"/>
                  <a:pt x="182652" y="160997"/>
                  <a:pt x="182652" y="148404"/>
                </a:cubicBezTo>
                <a:lnTo>
                  <a:pt x="182652" y="108449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4" name="Text 22"/>
          <p:cNvSpPr/>
          <p:nvPr/>
        </p:nvSpPr>
        <p:spPr>
          <a:xfrm>
            <a:off x="6878206" y="1640213"/>
            <a:ext cx="1936108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Weekday Performance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39689" y="1640213"/>
            <a:ext cx="1022849" cy="255712"/>
          </a:xfrm>
          <a:custGeom>
            <a:avLst/>
            <a:gdLst/>
            <a:ahLst/>
            <a:cxnLst/>
            <a:rect l="l" t="t" r="r" b="b"/>
            <a:pathLst>
              <a:path w="1022849" h="255712">
                <a:moveTo>
                  <a:pt x="73060" y="0"/>
                </a:moveTo>
                <a:lnTo>
                  <a:pt x="949790" y="0"/>
                </a:lnTo>
                <a:cubicBezTo>
                  <a:pt x="990140" y="0"/>
                  <a:pt x="1022849" y="32710"/>
                  <a:pt x="1022849" y="73060"/>
                </a:cubicBezTo>
                <a:lnTo>
                  <a:pt x="1022849" y="182653"/>
                </a:lnTo>
                <a:cubicBezTo>
                  <a:pt x="1022849" y="223002"/>
                  <a:pt x="990140" y="255712"/>
                  <a:pt x="949790" y="255712"/>
                </a:cubicBezTo>
                <a:lnTo>
                  <a:pt x="73060" y="255712"/>
                </a:lnTo>
                <a:cubicBezTo>
                  <a:pt x="32737" y="255712"/>
                  <a:pt x="0" y="222975"/>
                  <a:pt x="0" y="182653"/>
                </a:cubicBezTo>
                <a:lnTo>
                  <a:pt x="0" y="73060"/>
                </a:lnTo>
                <a:cubicBezTo>
                  <a:pt x="0" y="32737"/>
                  <a:pt x="32737" y="0"/>
                  <a:pt x="7306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749280" y="1676743"/>
            <a:ext cx="867596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Days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30251" y="2096842"/>
            <a:ext cx="1726058" cy="657546"/>
          </a:xfrm>
          <a:custGeom>
            <a:avLst/>
            <a:gdLst/>
            <a:ahLst/>
            <a:cxnLst/>
            <a:rect l="l" t="t" r="r" b="b"/>
            <a:pathLst>
              <a:path w="1726058" h="657546">
                <a:moveTo>
                  <a:pt x="36533" y="0"/>
                </a:moveTo>
                <a:lnTo>
                  <a:pt x="1689525" y="0"/>
                </a:lnTo>
                <a:cubicBezTo>
                  <a:pt x="1709702" y="0"/>
                  <a:pt x="1726058" y="16356"/>
                  <a:pt x="1726058" y="36533"/>
                </a:cubicBezTo>
                <a:lnTo>
                  <a:pt x="1726058" y="621013"/>
                </a:lnTo>
                <a:cubicBezTo>
                  <a:pt x="1726058" y="641190"/>
                  <a:pt x="1709702" y="657546"/>
                  <a:pt x="1689525" y="657546"/>
                </a:cubicBezTo>
                <a:lnTo>
                  <a:pt x="36533" y="657546"/>
                </a:lnTo>
                <a:cubicBezTo>
                  <a:pt x="16356" y="657546"/>
                  <a:pt x="0" y="641190"/>
                  <a:pt x="0" y="621013"/>
                </a:cubicBezTo>
                <a:lnTo>
                  <a:pt x="0" y="36533"/>
                </a:lnTo>
                <a:cubicBezTo>
                  <a:pt x="0" y="16370"/>
                  <a:pt x="16370" y="0"/>
                  <a:pt x="36533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71348" y="2169903"/>
            <a:ext cx="1643865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RevPAR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48516" y="2389085"/>
            <a:ext cx="1689528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6" b="1" dirty="0">
                <a:solidFill>
                  <a:srgbClr val="4A6C8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₹7,083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33480" y="2096842"/>
            <a:ext cx="1726058" cy="657546"/>
          </a:xfrm>
          <a:custGeom>
            <a:avLst/>
            <a:gdLst/>
            <a:ahLst/>
            <a:cxnLst/>
            <a:rect l="l" t="t" r="r" b="b"/>
            <a:pathLst>
              <a:path w="1726058" h="657546">
                <a:moveTo>
                  <a:pt x="36533" y="0"/>
                </a:moveTo>
                <a:lnTo>
                  <a:pt x="1689525" y="0"/>
                </a:lnTo>
                <a:cubicBezTo>
                  <a:pt x="1709702" y="0"/>
                  <a:pt x="1726058" y="16356"/>
                  <a:pt x="1726058" y="36533"/>
                </a:cubicBezTo>
                <a:lnTo>
                  <a:pt x="1726058" y="621013"/>
                </a:lnTo>
                <a:cubicBezTo>
                  <a:pt x="1726058" y="641190"/>
                  <a:pt x="1709702" y="657546"/>
                  <a:pt x="1689525" y="657546"/>
                </a:cubicBezTo>
                <a:lnTo>
                  <a:pt x="36533" y="657546"/>
                </a:lnTo>
                <a:cubicBezTo>
                  <a:pt x="16356" y="657546"/>
                  <a:pt x="0" y="641190"/>
                  <a:pt x="0" y="621013"/>
                </a:cubicBezTo>
                <a:lnTo>
                  <a:pt x="0" y="36533"/>
                </a:lnTo>
                <a:cubicBezTo>
                  <a:pt x="0" y="16370"/>
                  <a:pt x="16370" y="0"/>
                  <a:pt x="36533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174577" y="2169903"/>
            <a:ext cx="1643865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Occupancy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51745" y="2389085"/>
            <a:ext cx="1689528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6" b="1" dirty="0">
                <a:solidFill>
                  <a:srgbClr val="4A6C8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55.8%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936709" y="2096842"/>
            <a:ext cx="1726058" cy="657546"/>
          </a:xfrm>
          <a:custGeom>
            <a:avLst/>
            <a:gdLst/>
            <a:ahLst/>
            <a:cxnLst/>
            <a:rect l="l" t="t" r="r" b="b"/>
            <a:pathLst>
              <a:path w="1726058" h="657546">
                <a:moveTo>
                  <a:pt x="36533" y="0"/>
                </a:moveTo>
                <a:lnTo>
                  <a:pt x="1689525" y="0"/>
                </a:lnTo>
                <a:cubicBezTo>
                  <a:pt x="1709702" y="0"/>
                  <a:pt x="1726058" y="16356"/>
                  <a:pt x="1726058" y="36533"/>
                </a:cubicBezTo>
                <a:lnTo>
                  <a:pt x="1726058" y="621013"/>
                </a:lnTo>
                <a:cubicBezTo>
                  <a:pt x="1726058" y="641190"/>
                  <a:pt x="1709702" y="657546"/>
                  <a:pt x="1689525" y="657546"/>
                </a:cubicBezTo>
                <a:lnTo>
                  <a:pt x="36533" y="657546"/>
                </a:lnTo>
                <a:cubicBezTo>
                  <a:pt x="16356" y="657546"/>
                  <a:pt x="0" y="641190"/>
                  <a:pt x="0" y="621013"/>
                </a:cubicBezTo>
                <a:lnTo>
                  <a:pt x="0" y="36533"/>
                </a:lnTo>
                <a:cubicBezTo>
                  <a:pt x="0" y="16370"/>
                  <a:pt x="16370" y="0"/>
                  <a:pt x="36533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977805" y="2169903"/>
            <a:ext cx="1643865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954974" y="2389085"/>
            <a:ext cx="1689528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6" b="1" dirty="0">
                <a:solidFill>
                  <a:srgbClr val="4A6C8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₹12,682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30251" y="2863863"/>
            <a:ext cx="5406490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travel sustains weekdays</a:t>
            </a:r>
            <a:pPr>
              <a:lnSpc>
                <a:spcPct val="140000"/>
              </a:lnSpc>
            </a:pPr>
            <a:r>
              <a:rPr lang="en-US" sz="115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consistent pricing but lower occupancy, presenting clear opportunity for demand stimulation.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5303" y="3645613"/>
            <a:ext cx="11461393" cy="3214670"/>
          </a:xfrm>
          <a:custGeom>
            <a:avLst/>
            <a:gdLst/>
            <a:ahLst/>
            <a:cxnLst/>
            <a:rect l="l" t="t" r="r" b="b"/>
            <a:pathLst>
              <a:path w="11461393" h="3214670">
                <a:moveTo>
                  <a:pt x="73069" y="0"/>
                </a:moveTo>
                <a:lnTo>
                  <a:pt x="11388324" y="0"/>
                </a:lnTo>
                <a:cubicBezTo>
                  <a:pt x="11428679" y="0"/>
                  <a:pt x="11461393" y="32714"/>
                  <a:pt x="11461393" y="73069"/>
                </a:cubicBezTo>
                <a:lnTo>
                  <a:pt x="11461393" y="3141600"/>
                </a:lnTo>
                <a:cubicBezTo>
                  <a:pt x="11461393" y="3181955"/>
                  <a:pt x="11428679" y="3214670"/>
                  <a:pt x="11388324" y="3214670"/>
                </a:cubicBezTo>
                <a:lnTo>
                  <a:pt x="73069" y="3214670"/>
                </a:lnTo>
                <a:cubicBezTo>
                  <a:pt x="32714" y="3214670"/>
                  <a:pt x="0" y="3181955"/>
                  <a:pt x="0" y="3141600"/>
                </a:cubicBezTo>
                <a:lnTo>
                  <a:pt x="0" y="73069"/>
                </a:lnTo>
                <a:cubicBezTo>
                  <a:pt x="0" y="32741"/>
                  <a:pt x="32741" y="0"/>
                  <a:pt x="73069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70328" y="3791735"/>
            <a:ext cx="11251344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4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Weekend vs Weekday Performance Gap Analysis</a:t>
            </a:r>
            <a:endParaRPr lang="en-US" sz="1600" dirty="0"/>
          </a:p>
        </p:txBody>
      </p:sp>
      <p:pic>
        <p:nvPicPr>
          <p:cNvPr id="39" name="Image 0" descr="https://kimi-img.moonshot.cn/pub/slides/26-01-24-03:31:14-d5psp0ii597ees97vj8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1425" y="4157038"/>
            <a:ext cx="10666858" cy="2557124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537" y="357537"/>
            <a:ext cx="11548434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spc="56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Property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7537" y="607812"/>
            <a:ext cx="11637818" cy="357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4" b="1" dirty="0">
                <a:solidFill>
                  <a:srgbClr val="F0F0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Property-Level Benchmarking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7537" y="1001103"/>
            <a:ext cx="11548434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ranking across cities and properties revealing optimization opportunities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4687" y="1365790"/>
            <a:ext cx="3714806" cy="2088014"/>
          </a:xfrm>
          <a:custGeom>
            <a:avLst/>
            <a:gdLst/>
            <a:ahLst/>
            <a:cxnLst/>
            <a:rect l="l" t="t" r="r" b="b"/>
            <a:pathLst>
              <a:path w="3714806" h="2088014">
                <a:moveTo>
                  <a:pt x="71514" y="0"/>
                </a:moveTo>
                <a:lnTo>
                  <a:pt x="3643291" y="0"/>
                </a:lnTo>
                <a:cubicBezTo>
                  <a:pt x="3682788" y="0"/>
                  <a:pt x="3714806" y="32018"/>
                  <a:pt x="3714806" y="71514"/>
                </a:cubicBezTo>
                <a:lnTo>
                  <a:pt x="3714806" y="2016500"/>
                </a:lnTo>
                <a:cubicBezTo>
                  <a:pt x="3714806" y="2055996"/>
                  <a:pt x="3682788" y="2088014"/>
                  <a:pt x="3643291" y="2088014"/>
                </a:cubicBezTo>
                <a:lnTo>
                  <a:pt x="71514" y="2088014"/>
                </a:lnTo>
                <a:cubicBezTo>
                  <a:pt x="32018" y="2088014"/>
                  <a:pt x="0" y="2055996"/>
                  <a:pt x="0" y="2016500"/>
                </a:cubicBezTo>
                <a:lnTo>
                  <a:pt x="0" y="71514"/>
                </a:lnTo>
                <a:cubicBezTo>
                  <a:pt x="0" y="32045"/>
                  <a:pt x="32045" y="0"/>
                  <a:pt x="71514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5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4853" y="1515956"/>
            <a:ext cx="357537" cy="357537"/>
          </a:xfrm>
          <a:custGeom>
            <a:avLst/>
            <a:gdLst/>
            <a:ahLst/>
            <a:cxnLst/>
            <a:rect l="l" t="t" r="r" b="b"/>
            <a:pathLst>
              <a:path w="357537" h="357537">
                <a:moveTo>
                  <a:pt x="178768" y="0"/>
                </a:moveTo>
                <a:lnTo>
                  <a:pt x="178768" y="0"/>
                </a:lnTo>
                <a:cubicBezTo>
                  <a:pt x="277433" y="0"/>
                  <a:pt x="357537" y="80103"/>
                  <a:pt x="357537" y="178768"/>
                </a:cubicBezTo>
                <a:lnTo>
                  <a:pt x="357537" y="178768"/>
                </a:lnTo>
                <a:cubicBezTo>
                  <a:pt x="357537" y="277433"/>
                  <a:pt x="277433" y="357537"/>
                  <a:pt x="178768" y="357537"/>
                </a:cubicBezTo>
                <a:lnTo>
                  <a:pt x="178768" y="357537"/>
                </a:lnTo>
                <a:cubicBezTo>
                  <a:pt x="80103" y="357537"/>
                  <a:pt x="0" y="277433"/>
                  <a:pt x="0" y="178768"/>
                </a:cubicBezTo>
                <a:lnTo>
                  <a:pt x="0" y="178768"/>
                </a:lnTo>
                <a:cubicBezTo>
                  <a:pt x="0" y="80103"/>
                  <a:pt x="80103" y="0"/>
                  <a:pt x="178768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8035" y="1569587"/>
            <a:ext cx="134076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9650" y="1569587"/>
            <a:ext cx="965349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Atliq Exotica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4853" y="1945000"/>
            <a:ext cx="3485982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Mumbai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4853" y="2231030"/>
            <a:ext cx="1671484" cy="607812"/>
          </a:xfrm>
          <a:custGeom>
            <a:avLst/>
            <a:gdLst/>
            <a:ahLst/>
            <a:cxnLst/>
            <a:rect l="l" t="t" r="r" b="b"/>
            <a:pathLst>
              <a:path w="1671484" h="607812">
                <a:moveTo>
                  <a:pt x="35752" y="0"/>
                </a:moveTo>
                <a:lnTo>
                  <a:pt x="1635732" y="0"/>
                </a:lnTo>
                <a:cubicBezTo>
                  <a:pt x="1655477" y="0"/>
                  <a:pt x="1671484" y="16007"/>
                  <a:pt x="1671484" y="35752"/>
                </a:cubicBezTo>
                <a:lnTo>
                  <a:pt x="1671484" y="572061"/>
                </a:lnTo>
                <a:cubicBezTo>
                  <a:pt x="1671484" y="591806"/>
                  <a:pt x="1655477" y="607812"/>
                  <a:pt x="1635732" y="607812"/>
                </a:cubicBezTo>
                <a:lnTo>
                  <a:pt x="35752" y="607812"/>
                </a:lnTo>
                <a:cubicBezTo>
                  <a:pt x="16007" y="607812"/>
                  <a:pt x="0" y="591806"/>
                  <a:pt x="0" y="572061"/>
                </a:cubicBezTo>
                <a:lnTo>
                  <a:pt x="0" y="35752"/>
                </a:lnTo>
                <a:cubicBezTo>
                  <a:pt x="0" y="16007"/>
                  <a:pt x="16007" y="0"/>
                  <a:pt x="35752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55076" y="2302537"/>
            <a:ext cx="1591038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Rank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6137" y="2517059"/>
            <a:ext cx="1608915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57732" y="2231030"/>
            <a:ext cx="1671484" cy="607812"/>
          </a:xfrm>
          <a:custGeom>
            <a:avLst/>
            <a:gdLst/>
            <a:ahLst/>
            <a:cxnLst/>
            <a:rect l="l" t="t" r="r" b="b"/>
            <a:pathLst>
              <a:path w="1671484" h="607812">
                <a:moveTo>
                  <a:pt x="35752" y="0"/>
                </a:moveTo>
                <a:lnTo>
                  <a:pt x="1635732" y="0"/>
                </a:lnTo>
                <a:cubicBezTo>
                  <a:pt x="1655477" y="0"/>
                  <a:pt x="1671484" y="16007"/>
                  <a:pt x="1671484" y="35752"/>
                </a:cubicBezTo>
                <a:lnTo>
                  <a:pt x="1671484" y="572061"/>
                </a:lnTo>
                <a:cubicBezTo>
                  <a:pt x="1671484" y="591806"/>
                  <a:pt x="1655477" y="607812"/>
                  <a:pt x="1635732" y="607812"/>
                </a:cubicBezTo>
                <a:lnTo>
                  <a:pt x="35752" y="607812"/>
                </a:lnTo>
                <a:cubicBezTo>
                  <a:pt x="16007" y="607812"/>
                  <a:pt x="0" y="591806"/>
                  <a:pt x="0" y="572061"/>
                </a:cubicBezTo>
                <a:lnTo>
                  <a:pt x="0" y="35752"/>
                </a:lnTo>
                <a:cubicBezTo>
                  <a:pt x="0" y="16007"/>
                  <a:pt x="16007" y="0"/>
                  <a:pt x="35752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297955" y="2302537"/>
            <a:ext cx="1591038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Occupancy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9017" y="2517059"/>
            <a:ext cx="1608915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~66%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4853" y="2910349"/>
            <a:ext cx="3485982" cy="393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6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performer</a:t>
            </a:r>
            <a:pPr>
              <a:lnSpc>
                <a:spcPct val="110000"/>
              </a:lnSpc>
            </a:pPr>
            <a:r>
              <a:rPr lang="en-US" sz="11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India's financial capital with highest revenue generation.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36586" y="1365790"/>
            <a:ext cx="3714806" cy="2088014"/>
          </a:xfrm>
          <a:custGeom>
            <a:avLst/>
            <a:gdLst/>
            <a:ahLst/>
            <a:cxnLst/>
            <a:rect l="l" t="t" r="r" b="b"/>
            <a:pathLst>
              <a:path w="3714806" h="2088014">
                <a:moveTo>
                  <a:pt x="71514" y="0"/>
                </a:moveTo>
                <a:lnTo>
                  <a:pt x="3643291" y="0"/>
                </a:lnTo>
                <a:cubicBezTo>
                  <a:pt x="3682788" y="0"/>
                  <a:pt x="3714806" y="32018"/>
                  <a:pt x="3714806" y="71514"/>
                </a:cubicBezTo>
                <a:lnTo>
                  <a:pt x="3714806" y="2016500"/>
                </a:lnTo>
                <a:cubicBezTo>
                  <a:pt x="3714806" y="2055996"/>
                  <a:pt x="3682788" y="2088014"/>
                  <a:pt x="3643291" y="2088014"/>
                </a:cubicBezTo>
                <a:lnTo>
                  <a:pt x="71514" y="2088014"/>
                </a:lnTo>
                <a:cubicBezTo>
                  <a:pt x="32018" y="2088014"/>
                  <a:pt x="0" y="2055996"/>
                  <a:pt x="0" y="2016500"/>
                </a:cubicBezTo>
                <a:lnTo>
                  <a:pt x="0" y="71514"/>
                </a:lnTo>
                <a:cubicBezTo>
                  <a:pt x="0" y="32045"/>
                  <a:pt x="32045" y="0"/>
                  <a:pt x="7151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5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032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6751" y="1515956"/>
            <a:ext cx="357537" cy="357537"/>
          </a:xfrm>
          <a:custGeom>
            <a:avLst/>
            <a:gdLst/>
            <a:ahLst/>
            <a:cxnLst/>
            <a:rect l="l" t="t" r="r" b="b"/>
            <a:pathLst>
              <a:path w="357537" h="357537">
                <a:moveTo>
                  <a:pt x="178768" y="0"/>
                </a:moveTo>
                <a:lnTo>
                  <a:pt x="178768" y="0"/>
                </a:lnTo>
                <a:cubicBezTo>
                  <a:pt x="277433" y="0"/>
                  <a:pt x="357537" y="80103"/>
                  <a:pt x="357537" y="178768"/>
                </a:cubicBezTo>
                <a:lnTo>
                  <a:pt x="357537" y="178768"/>
                </a:lnTo>
                <a:cubicBezTo>
                  <a:pt x="357537" y="277433"/>
                  <a:pt x="277433" y="357537"/>
                  <a:pt x="178768" y="357537"/>
                </a:cubicBezTo>
                <a:lnTo>
                  <a:pt x="178768" y="357537"/>
                </a:lnTo>
                <a:cubicBezTo>
                  <a:pt x="80103" y="357537"/>
                  <a:pt x="0" y="277433"/>
                  <a:pt x="0" y="178768"/>
                </a:cubicBezTo>
                <a:lnTo>
                  <a:pt x="0" y="178768"/>
                </a:lnTo>
                <a:cubicBezTo>
                  <a:pt x="0" y="80103"/>
                  <a:pt x="80103" y="0"/>
                  <a:pt x="178768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24515" y="1569587"/>
            <a:ext cx="160891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51549" y="1569587"/>
            <a:ext cx="732950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Atliq City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86751" y="1945000"/>
            <a:ext cx="3485982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Bangalore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86751" y="2231030"/>
            <a:ext cx="1671484" cy="607812"/>
          </a:xfrm>
          <a:custGeom>
            <a:avLst/>
            <a:gdLst/>
            <a:ahLst/>
            <a:cxnLst/>
            <a:rect l="l" t="t" r="r" b="b"/>
            <a:pathLst>
              <a:path w="1671484" h="607812">
                <a:moveTo>
                  <a:pt x="35752" y="0"/>
                </a:moveTo>
                <a:lnTo>
                  <a:pt x="1635732" y="0"/>
                </a:lnTo>
                <a:cubicBezTo>
                  <a:pt x="1655477" y="0"/>
                  <a:pt x="1671484" y="16007"/>
                  <a:pt x="1671484" y="35752"/>
                </a:cubicBezTo>
                <a:lnTo>
                  <a:pt x="1671484" y="572061"/>
                </a:lnTo>
                <a:cubicBezTo>
                  <a:pt x="1671484" y="591806"/>
                  <a:pt x="1655477" y="607812"/>
                  <a:pt x="1635732" y="607812"/>
                </a:cubicBezTo>
                <a:lnTo>
                  <a:pt x="35752" y="607812"/>
                </a:lnTo>
                <a:cubicBezTo>
                  <a:pt x="16007" y="607812"/>
                  <a:pt x="0" y="591806"/>
                  <a:pt x="0" y="572061"/>
                </a:cubicBezTo>
                <a:lnTo>
                  <a:pt x="0" y="35752"/>
                </a:lnTo>
                <a:cubicBezTo>
                  <a:pt x="0" y="16007"/>
                  <a:pt x="16007" y="0"/>
                  <a:pt x="35752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426974" y="2302537"/>
            <a:ext cx="1591038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Rank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18036" y="2517059"/>
            <a:ext cx="1608915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29631" y="2231030"/>
            <a:ext cx="1671484" cy="607812"/>
          </a:xfrm>
          <a:custGeom>
            <a:avLst/>
            <a:gdLst/>
            <a:ahLst/>
            <a:cxnLst/>
            <a:rect l="l" t="t" r="r" b="b"/>
            <a:pathLst>
              <a:path w="1671484" h="607812">
                <a:moveTo>
                  <a:pt x="35752" y="0"/>
                </a:moveTo>
                <a:lnTo>
                  <a:pt x="1635732" y="0"/>
                </a:lnTo>
                <a:cubicBezTo>
                  <a:pt x="1655477" y="0"/>
                  <a:pt x="1671484" y="16007"/>
                  <a:pt x="1671484" y="35752"/>
                </a:cubicBezTo>
                <a:lnTo>
                  <a:pt x="1671484" y="572061"/>
                </a:lnTo>
                <a:cubicBezTo>
                  <a:pt x="1671484" y="591806"/>
                  <a:pt x="1655477" y="607812"/>
                  <a:pt x="1635732" y="607812"/>
                </a:cubicBezTo>
                <a:lnTo>
                  <a:pt x="35752" y="607812"/>
                </a:lnTo>
                <a:cubicBezTo>
                  <a:pt x="16007" y="607812"/>
                  <a:pt x="0" y="591806"/>
                  <a:pt x="0" y="572061"/>
                </a:cubicBezTo>
                <a:lnTo>
                  <a:pt x="0" y="35752"/>
                </a:lnTo>
                <a:cubicBezTo>
                  <a:pt x="0" y="16007"/>
                  <a:pt x="16007" y="0"/>
                  <a:pt x="35752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169854" y="2302537"/>
            <a:ext cx="1591038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Occupancy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60915" y="2517059"/>
            <a:ext cx="1608915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~60%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86751" y="2910349"/>
            <a:ext cx="3485982" cy="393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6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performer</a:t>
            </a:r>
            <a:pPr>
              <a:lnSpc>
                <a:spcPct val="110000"/>
              </a:lnSpc>
            </a:pPr>
            <a:r>
              <a:rPr lang="en-US" sz="11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tech hub, benefiting from business travel.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08596" y="1365790"/>
            <a:ext cx="3714806" cy="2088014"/>
          </a:xfrm>
          <a:custGeom>
            <a:avLst/>
            <a:gdLst/>
            <a:ahLst/>
            <a:cxnLst/>
            <a:rect l="l" t="t" r="r" b="b"/>
            <a:pathLst>
              <a:path w="3714806" h="2088014">
                <a:moveTo>
                  <a:pt x="71514" y="0"/>
                </a:moveTo>
                <a:lnTo>
                  <a:pt x="3643291" y="0"/>
                </a:lnTo>
                <a:cubicBezTo>
                  <a:pt x="3682788" y="0"/>
                  <a:pt x="3714806" y="32018"/>
                  <a:pt x="3714806" y="71514"/>
                </a:cubicBezTo>
                <a:lnTo>
                  <a:pt x="3714806" y="2016500"/>
                </a:lnTo>
                <a:cubicBezTo>
                  <a:pt x="3714806" y="2055996"/>
                  <a:pt x="3682788" y="2088014"/>
                  <a:pt x="3643291" y="2088014"/>
                </a:cubicBezTo>
                <a:lnTo>
                  <a:pt x="71514" y="2088014"/>
                </a:lnTo>
                <a:cubicBezTo>
                  <a:pt x="32018" y="2088014"/>
                  <a:pt x="0" y="2055996"/>
                  <a:pt x="0" y="2016500"/>
                </a:cubicBezTo>
                <a:lnTo>
                  <a:pt x="0" y="71514"/>
                </a:lnTo>
                <a:cubicBezTo>
                  <a:pt x="0" y="32045"/>
                  <a:pt x="32045" y="0"/>
                  <a:pt x="71514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25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20320">
            <a:solidFill>
              <a:srgbClr val="8D99AE">
                <a:alpha val="5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58762" y="1515956"/>
            <a:ext cx="357537" cy="357537"/>
          </a:xfrm>
          <a:custGeom>
            <a:avLst/>
            <a:gdLst/>
            <a:ahLst/>
            <a:cxnLst/>
            <a:rect l="l" t="t" r="r" b="b"/>
            <a:pathLst>
              <a:path w="357537" h="357537">
                <a:moveTo>
                  <a:pt x="178768" y="0"/>
                </a:moveTo>
                <a:lnTo>
                  <a:pt x="178768" y="0"/>
                </a:lnTo>
                <a:cubicBezTo>
                  <a:pt x="277433" y="0"/>
                  <a:pt x="357537" y="80103"/>
                  <a:pt x="357537" y="178768"/>
                </a:cubicBezTo>
                <a:lnTo>
                  <a:pt x="357537" y="178768"/>
                </a:lnTo>
                <a:cubicBezTo>
                  <a:pt x="357537" y="277433"/>
                  <a:pt x="277433" y="357537"/>
                  <a:pt x="178768" y="357537"/>
                </a:cubicBezTo>
                <a:lnTo>
                  <a:pt x="178768" y="357537"/>
                </a:lnTo>
                <a:cubicBezTo>
                  <a:pt x="80103" y="357537"/>
                  <a:pt x="0" y="277433"/>
                  <a:pt x="0" y="178768"/>
                </a:cubicBezTo>
                <a:lnTo>
                  <a:pt x="0" y="178768"/>
                </a:lnTo>
                <a:cubicBezTo>
                  <a:pt x="0" y="80103"/>
                  <a:pt x="80103" y="0"/>
                  <a:pt x="178768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394402" y="1569587"/>
            <a:ext cx="169830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723559" y="1569587"/>
            <a:ext cx="706135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Atliq Bay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58762" y="1945000"/>
            <a:ext cx="3485982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Hyderabad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58762" y="2231030"/>
            <a:ext cx="1671484" cy="607812"/>
          </a:xfrm>
          <a:custGeom>
            <a:avLst/>
            <a:gdLst/>
            <a:ahLst/>
            <a:cxnLst/>
            <a:rect l="l" t="t" r="r" b="b"/>
            <a:pathLst>
              <a:path w="1671484" h="607812">
                <a:moveTo>
                  <a:pt x="35752" y="0"/>
                </a:moveTo>
                <a:lnTo>
                  <a:pt x="1635732" y="0"/>
                </a:lnTo>
                <a:cubicBezTo>
                  <a:pt x="1655477" y="0"/>
                  <a:pt x="1671484" y="16007"/>
                  <a:pt x="1671484" y="35752"/>
                </a:cubicBezTo>
                <a:lnTo>
                  <a:pt x="1671484" y="572061"/>
                </a:lnTo>
                <a:cubicBezTo>
                  <a:pt x="1671484" y="591806"/>
                  <a:pt x="1655477" y="607812"/>
                  <a:pt x="1635732" y="607812"/>
                </a:cubicBezTo>
                <a:lnTo>
                  <a:pt x="35752" y="607812"/>
                </a:lnTo>
                <a:cubicBezTo>
                  <a:pt x="16007" y="607812"/>
                  <a:pt x="0" y="591806"/>
                  <a:pt x="0" y="572061"/>
                </a:cubicBezTo>
                <a:lnTo>
                  <a:pt x="0" y="35752"/>
                </a:lnTo>
                <a:cubicBezTo>
                  <a:pt x="0" y="16007"/>
                  <a:pt x="16007" y="0"/>
                  <a:pt x="35752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298985" y="2302537"/>
            <a:ext cx="1591038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Rank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90046" y="2517059"/>
            <a:ext cx="1608915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#3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001642" y="2231030"/>
            <a:ext cx="1671484" cy="607812"/>
          </a:xfrm>
          <a:custGeom>
            <a:avLst/>
            <a:gdLst/>
            <a:ahLst/>
            <a:cxnLst/>
            <a:rect l="l" t="t" r="r" b="b"/>
            <a:pathLst>
              <a:path w="1671484" h="607812">
                <a:moveTo>
                  <a:pt x="35752" y="0"/>
                </a:moveTo>
                <a:lnTo>
                  <a:pt x="1635732" y="0"/>
                </a:lnTo>
                <a:cubicBezTo>
                  <a:pt x="1655477" y="0"/>
                  <a:pt x="1671484" y="16007"/>
                  <a:pt x="1671484" y="35752"/>
                </a:cubicBezTo>
                <a:lnTo>
                  <a:pt x="1671484" y="572061"/>
                </a:lnTo>
                <a:cubicBezTo>
                  <a:pt x="1671484" y="591806"/>
                  <a:pt x="1655477" y="607812"/>
                  <a:pt x="1635732" y="607812"/>
                </a:cubicBezTo>
                <a:lnTo>
                  <a:pt x="35752" y="607812"/>
                </a:lnTo>
                <a:cubicBezTo>
                  <a:pt x="16007" y="607812"/>
                  <a:pt x="0" y="591806"/>
                  <a:pt x="0" y="572061"/>
                </a:cubicBezTo>
                <a:lnTo>
                  <a:pt x="0" y="35752"/>
                </a:lnTo>
                <a:cubicBezTo>
                  <a:pt x="0" y="16007"/>
                  <a:pt x="16007" y="0"/>
                  <a:pt x="35752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0041865" y="2302537"/>
            <a:ext cx="1591038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Occupancy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032926" y="2517059"/>
            <a:ext cx="1608915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~58%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58762" y="2910349"/>
            <a:ext cx="3485982" cy="393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6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Solid contributor</a:t>
            </a:r>
            <a:pPr>
              <a:lnSpc>
                <a:spcPct val="110000"/>
              </a:lnSpc>
            </a:pPr>
            <a:r>
              <a:rPr lang="en-US" sz="11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emerging market with balanced performance.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57537" y="3603971"/>
            <a:ext cx="5666956" cy="3039062"/>
          </a:xfrm>
          <a:custGeom>
            <a:avLst/>
            <a:gdLst/>
            <a:ahLst/>
            <a:cxnLst/>
            <a:rect l="l" t="t" r="r" b="b"/>
            <a:pathLst>
              <a:path w="5666956" h="3039062">
                <a:moveTo>
                  <a:pt x="71509" y="0"/>
                </a:moveTo>
                <a:lnTo>
                  <a:pt x="5595447" y="0"/>
                </a:lnTo>
                <a:cubicBezTo>
                  <a:pt x="5634940" y="0"/>
                  <a:pt x="5666956" y="32016"/>
                  <a:pt x="5666956" y="71509"/>
                </a:cubicBezTo>
                <a:lnTo>
                  <a:pt x="5666956" y="2967552"/>
                </a:lnTo>
                <a:cubicBezTo>
                  <a:pt x="5666956" y="3007046"/>
                  <a:pt x="5634940" y="3039062"/>
                  <a:pt x="5595447" y="3039062"/>
                </a:cubicBezTo>
                <a:lnTo>
                  <a:pt x="71509" y="3039062"/>
                </a:lnTo>
                <a:cubicBezTo>
                  <a:pt x="32016" y="3039062"/>
                  <a:pt x="0" y="3007046"/>
                  <a:pt x="0" y="2967552"/>
                </a:cubicBezTo>
                <a:lnTo>
                  <a:pt x="0" y="71509"/>
                </a:lnTo>
                <a:cubicBezTo>
                  <a:pt x="0" y="32042"/>
                  <a:pt x="32042" y="0"/>
                  <a:pt x="71509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60328" y="3746986"/>
            <a:ext cx="5461372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Property Performance Distribution</a:t>
            </a:r>
            <a:endParaRPr lang="en-US" sz="1600" dirty="0"/>
          </a:p>
        </p:txBody>
      </p:sp>
      <p:pic>
        <p:nvPicPr>
          <p:cNvPr id="43" name="Image 0" descr="https://kimi-img.moonshot.cn/pub/slides/26-01-24-03:31:14-d5psp0lkbg75dlilp5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0551" y="4068769"/>
            <a:ext cx="5005513" cy="2431249"/>
          </a:xfrm>
          <a:prstGeom prst="roundRect">
            <a:avLst>
              <a:gd name="adj" fmla="val 0"/>
            </a:avLst>
          </a:prstGeom>
        </p:spPr>
      </p:pic>
      <p:sp>
        <p:nvSpPr>
          <p:cNvPr id="44" name="Shape 41"/>
          <p:cNvSpPr/>
          <p:nvPr/>
        </p:nvSpPr>
        <p:spPr>
          <a:xfrm>
            <a:off x="6183373" y="3603971"/>
            <a:ext cx="5649079" cy="1680422"/>
          </a:xfrm>
          <a:custGeom>
            <a:avLst/>
            <a:gdLst/>
            <a:ahLst/>
            <a:cxnLst/>
            <a:rect l="l" t="t" r="r" b="b"/>
            <a:pathLst>
              <a:path w="5649079" h="1680422">
                <a:moveTo>
                  <a:pt x="35754" y="0"/>
                </a:moveTo>
                <a:lnTo>
                  <a:pt x="5577577" y="0"/>
                </a:lnTo>
                <a:cubicBezTo>
                  <a:pt x="5617067" y="0"/>
                  <a:pt x="5649079" y="32013"/>
                  <a:pt x="5649079" y="71502"/>
                </a:cubicBezTo>
                <a:lnTo>
                  <a:pt x="5649079" y="1608920"/>
                </a:lnTo>
                <a:cubicBezTo>
                  <a:pt x="5649079" y="1648410"/>
                  <a:pt x="5617067" y="1680422"/>
                  <a:pt x="5577577" y="1680422"/>
                </a:cubicBezTo>
                <a:lnTo>
                  <a:pt x="35754" y="1680422"/>
                </a:lnTo>
                <a:cubicBezTo>
                  <a:pt x="16007" y="1680422"/>
                  <a:pt x="0" y="1664415"/>
                  <a:pt x="0" y="1644669"/>
                </a:cubicBezTo>
                <a:lnTo>
                  <a:pt x="0" y="35754"/>
                </a:lnTo>
                <a:cubicBezTo>
                  <a:pt x="0" y="16021"/>
                  <a:pt x="16021" y="0"/>
                  <a:pt x="3575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5" name="Shape 42"/>
          <p:cNvSpPr/>
          <p:nvPr/>
        </p:nvSpPr>
        <p:spPr>
          <a:xfrm>
            <a:off x="6183373" y="3603971"/>
            <a:ext cx="35754" cy="1680422"/>
          </a:xfrm>
          <a:custGeom>
            <a:avLst/>
            <a:gdLst/>
            <a:ahLst/>
            <a:cxnLst/>
            <a:rect l="l" t="t" r="r" b="b"/>
            <a:pathLst>
              <a:path w="35754" h="1680422">
                <a:moveTo>
                  <a:pt x="35754" y="0"/>
                </a:moveTo>
                <a:lnTo>
                  <a:pt x="35754" y="0"/>
                </a:lnTo>
                <a:lnTo>
                  <a:pt x="35754" y="1680422"/>
                </a:lnTo>
                <a:lnTo>
                  <a:pt x="35754" y="1680422"/>
                </a:lnTo>
                <a:cubicBezTo>
                  <a:pt x="16007" y="1680422"/>
                  <a:pt x="0" y="1664415"/>
                  <a:pt x="0" y="1644669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6" name="Shape 43"/>
          <p:cNvSpPr/>
          <p:nvPr/>
        </p:nvSpPr>
        <p:spPr>
          <a:xfrm>
            <a:off x="6308511" y="3711232"/>
            <a:ext cx="357537" cy="357537"/>
          </a:xfrm>
          <a:custGeom>
            <a:avLst/>
            <a:gdLst/>
            <a:ahLst/>
            <a:cxnLst/>
            <a:rect l="l" t="t" r="r" b="b"/>
            <a:pathLst>
              <a:path w="357537" h="357537">
                <a:moveTo>
                  <a:pt x="178768" y="0"/>
                </a:moveTo>
                <a:lnTo>
                  <a:pt x="178768" y="0"/>
                </a:lnTo>
                <a:cubicBezTo>
                  <a:pt x="277433" y="0"/>
                  <a:pt x="357537" y="80103"/>
                  <a:pt x="357537" y="178768"/>
                </a:cubicBezTo>
                <a:lnTo>
                  <a:pt x="357537" y="178768"/>
                </a:lnTo>
                <a:cubicBezTo>
                  <a:pt x="357537" y="277433"/>
                  <a:pt x="277433" y="357537"/>
                  <a:pt x="178768" y="357537"/>
                </a:cubicBezTo>
                <a:lnTo>
                  <a:pt x="178768" y="357537"/>
                </a:lnTo>
                <a:cubicBezTo>
                  <a:pt x="80103" y="357537"/>
                  <a:pt x="0" y="277433"/>
                  <a:pt x="0" y="178768"/>
                </a:cubicBezTo>
                <a:lnTo>
                  <a:pt x="0" y="178768"/>
                </a:lnTo>
                <a:cubicBezTo>
                  <a:pt x="0" y="80103"/>
                  <a:pt x="80103" y="0"/>
                  <a:pt x="178768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409068" y="3809555"/>
            <a:ext cx="160891" cy="160891"/>
          </a:xfrm>
          <a:custGeom>
            <a:avLst/>
            <a:gdLst/>
            <a:ahLst/>
            <a:cxnLst/>
            <a:rect l="l" t="t" r="r" b="b"/>
            <a:pathLst>
              <a:path w="160891" h="160891">
                <a:moveTo>
                  <a:pt x="10056" y="10056"/>
                </a:moveTo>
                <a:cubicBezTo>
                  <a:pt x="15618" y="10056"/>
                  <a:pt x="20111" y="14549"/>
                  <a:pt x="20111" y="20111"/>
                </a:cubicBezTo>
                <a:lnTo>
                  <a:pt x="20111" y="125696"/>
                </a:lnTo>
                <a:cubicBezTo>
                  <a:pt x="20111" y="128462"/>
                  <a:pt x="22374" y="130724"/>
                  <a:pt x="25139" y="130724"/>
                </a:cubicBezTo>
                <a:lnTo>
                  <a:pt x="150836" y="130724"/>
                </a:lnTo>
                <a:cubicBezTo>
                  <a:pt x="156398" y="130724"/>
                  <a:pt x="160891" y="135218"/>
                  <a:pt x="160891" y="140780"/>
                </a:cubicBezTo>
                <a:cubicBezTo>
                  <a:pt x="160891" y="146342"/>
                  <a:pt x="156398" y="150836"/>
                  <a:pt x="150836" y="150836"/>
                </a:cubicBezTo>
                <a:lnTo>
                  <a:pt x="25139" y="150836"/>
                </a:lnTo>
                <a:cubicBezTo>
                  <a:pt x="11250" y="150836"/>
                  <a:pt x="0" y="139586"/>
                  <a:pt x="0" y="125696"/>
                </a:cubicBezTo>
                <a:lnTo>
                  <a:pt x="0" y="20111"/>
                </a:lnTo>
                <a:cubicBezTo>
                  <a:pt x="0" y="14549"/>
                  <a:pt x="4494" y="10056"/>
                  <a:pt x="10056" y="10056"/>
                </a:cubicBezTo>
                <a:close/>
                <a:moveTo>
                  <a:pt x="40223" y="30167"/>
                </a:moveTo>
                <a:cubicBezTo>
                  <a:pt x="40223" y="24605"/>
                  <a:pt x="44717" y="20111"/>
                  <a:pt x="50279" y="20111"/>
                </a:cubicBezTo>
                <a:lnTo>
                  <a:pt x="110613" y="20111"/>
                </a:lnTo>
                <a:cubicBezTo>
                  <a:pt x="116175" y="20111"/>
                  <a:pt x="120669" y="24605"/>
                  <a:pt x="120669" y="30167"/>
                </a:cubicBezTo>
                <a:cubicBezTo>
                  <a:pt x="120669" y="35729"/>
                  <a:pt x="116175" y="40223"/>
                  <a:pt x="110613" y="40223"/>
                </a:cubicBezTo>
                <a:lnTo>
                  <a:pt x="50279" y="40223"/>
                </a:lnTo>
                <a:cubicBezTo>
                  <a:pt x="44717" y="40223"/>
                  <a:pt x="40223" y="35729"/>
                  <a:pt x="40223" y="30167"/>
                </a:cubicBezTo>
                <a:close/>
                <a:moveTo>
                  <a:pt x="50279" y="55306"/>
                </a:moveTo>
                <a:lnTo>
                  <a:pt x="90501" y="55306"/>
                </a:lnTo>
                <a:cubicBezTo>
                  <a:pt x="96064" y="55306"/>
                  <a:pt x="100557" y="59800"/>
                  <a:pt x="100557" y="65362"/>
                </a:cubicBezTo>
                <a:cubicBezTo>
                  <a:pt x="100557" y="70924"/>
                  <a:pt x="96064" y="75418"/>
                  <a:pt x="90501" y="75418"/>
                </a:cubicBezTo>
                <a:lnTo>
                  <a:pt x="50279" y="75418"/>
                </a:lnTo>
                <a:cubicBezTo>
                  <a:pt x="44717" y="75418"/>
                  <a:pt x="40223" y="70924"/>
                  <a:pt x="40223" y="65362"/>
                </a:cubicBezTo>
                <a:cubicBezTo>
                  <a:pt x="40223" y="59800"/>
                  <a:pt x="44717" y="55306"/>
                  <a:pt x="50279" y="55306"/>
                </a:cubicBezTo>
                <a:close/>
                <a:moveTo>
                  <a:pt x="50279" y="90501"/>
                </a:moveTo>
                <a:lnTo>
                  <a:pt x="130724" y="90501"/>
                </a:lnTo>
                <a:cubicBezTo>
                  <a:pt x="136286" y="90501"/>
                  <a:pt x="140780" y="94995"/>
                  <a:pt x="140780" y="100557"/>
                </a:cubicBezTo>
                <a:cubicBezTo>
                  <a:pt x="140780" y="106119"/>
                  <a:pt x="136286" y="110613"/>
                  <a:pt x="130724" y="110613"/>
                </a:cubicBezTo>
                <a:lnTo>
                  <a:pt x="50279" y="110613"/>
                </a:lnTo>
                <a:cubicBezTo>
                  <a:pt x="44717" y="110613"/>
                  <a:pt x="40223" y="106119"/>
                  <a:pt x="40223" y="100557"/>
                </a:cubicBezTo>
                <a:cubicBezTo>
                  <a:pt x="40223" y="94995"/>
                  <a:pt x="44717" y="90501"/>
                  <a:pt x="50279" y="9050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8" name="Text 45"/>
          <p:cNvSpPr/>
          <p:nvPr/>
        </p:nvSpPr>
        <p:spPr>
          <a:xfrm>
            <a:off x="6773309" y="3711232"/>
            <a:ext cx="2109466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Range Analysis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773309" y="4033015"/>
            <a:ext cx="2029021" cy="357537"/>
          </a:xfrm>
          <a:custGeom>
            <a:avLst/>
            <a:gdLst/>
            <a:ahLst/>
            <a:cxnLst/>
            <a:rect l="l" t="t" r="r" b="b"/>
            <a:pathLst>
              <a:path w="2029021" h="357537">
                <a:moveTo>
                  <a:pt x="35754" y="0"/>
                </a:moveTo>
                <a:lnTo>
                  <a:pt x="1993267" y="0"/>
                </a:lnTo>
                <a:cubicBezTo>
                  <a:pt x="2013013" y="0"/>
                  <a:pt x="2029021" y="16007"/>
                  <a:pt x="2029021" y="35754"/>
                </a:cubicBezTo>
                <a:lnTo>
                  <a:pt x="2029021" y="321783"/>
                </a:lnTo>
                <a:cubicBezTo>
                  <a:pt x="2029021" y="341529"/>
                  <a:pt x="2013013" y="357537"/>
                  <a:pt x="1993267" y="357537"/>
                </a:cubicBezTo>
                <a:lnTo>
                  <a:pt x="35754" y="357537"/>
                </a:lnTo>
                <a:cubicBezTo>
                  <a:pt x="16007" y="357537"/>
                  <a:pt x="0" y="341529"/>
                  <a:pt x="0" y="321783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6844816" y="4104523"/>
            <a:ext cx="1197748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Occupancy Range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045245" y="4104523"/>
            <a:ext cx="759765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53% - 66%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773309" y="4426306"/>
            <a:ext cx="2029021" cy="357537"/>
          </a:xfrm>
          <a:custGeom>
            <a:avLst/>
            <a:gdLst/>
            <a:ahLst/>
            <a:cxnLst/>
            <a:rect l="l" t="t" r="r" b="b"/>
            <a:pathLst>
              <a:path w="2029021" h="357537">
                <a:moveTo>
                  <a:pt x="35754" y="0"/>
                </a:moveTo>
                <a:lnTo>
                  <a:pt x="1993267" y="0"/>
                </a:lnTo>
                <a:cubicBezTo>
                  <a:pt x="2013013" y="0"/>
                  <a:pt x="2029021" y="16007"/>
                  <a:pt x="2029021" y="35754"/>
                </a:cubicBezTo>
                <a:lnTo>
                  <a:pt x="2029021" y="321783"/>
                </a:lnTo>
                <a:cubicBezTo>
                  <a:pt x="2029021" y="341529"/>
                  <a:pt x="2013013" y="357537"/>
                  <a:pt x="1993267" y="357537"/>
                </a:cubicBezTo>
                <a:lnTo>
                  <a:pt x="35754" y="357537"/>
                </a:lnTo>
                <a:cubicBezTo>
                  <a:pt x="16007" y="357537"/>
                  <a:pt x="0" y="341529"/>
                  <a:pt x="0" y="321783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53" name="Text 50"/>
          <p:cNvSpPr/>
          <p:nvPr/>
        </p:nvSpPr>
        <p:spPr>
          <a:xfrm>
            <a:off x="6844816" y="4497813"/>
            <a:ext cx="875965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Rating Range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204573" y="4497813"/>
            <a:ext cx="598874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3.0 - 4.3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773309" y="4819596"/>
            <a:ext cx="2029021" cy="357537"/>
          </a:xfrm>
          <a:custGeom>
            <a:avLst/>
            <a:gdLst/>
            <a:ahLst/>
            <a:cxnLst/>
            <a:rect l="l" t="t" r="r" b="b"/>
            <a:pathLst>
              <a:path w="2029021" h="357537">
                <a:moveTo>
                  <a:pt x="35754" y="0"/>
                </a:moveTo>
                <a:lnTo>
                  <a:pt x="1993267" y="0"/>
                </a:lnTo>
                <a:cubicBezTo>
                  <a:pt x="2013013" y="0"/>
                  <a:pt x="2029021" y="16007"/>
                  <a:pt x="2029021" y="35754"/>
                </a:cubicBezTo>
                <a:lnTo>
                  <a:pt x="2029021" y="321783"/>
                </a:lnTo>
                <a:cubicBezTo>
                  <a:pt x="2029021" y="341529"/>
                  <a:pt x="2013013" y="357537"/>
                  <a:pt x="1993267" y="357537"/>
                </a:cubicBezTo>
                <a:lnTo>
                  <a:pt x="35754" y="357537"/>
                </a:lnTo>
                <a:cubicBezTo>
                  <a:pt x="16007" y="357537"/>
                  <a:pt x="0" y="341529"/>
                  <a:pt x="0" y="321783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6844816" y="4891103"/>
            <a:ext cx="1144117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Gap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8382894" y="4891103"/>
            <a:ext cx="420106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pts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6183373" y="5391655"/>
            <a:ext cx="5649079" cy="1466345"/>
          </a:xfrm>
          <a:custGeom>
            <a:avLst/>
            <a:gdLst/>
            <a:ahLst/>
            <a:cxnLst/>
            <a:rect l="l" t="t" r="r" b="b"/>
            <a:pathLst>
              <a:path w="5649079" h="1466345">
                <a:moveTo>
                  <a:pt x="35754" y="0"/>
                </a:moveTo>
                <a:lnTo>
                  <a:pt x="5577567" y="0"/>
                </a:lnTo>
                <a:cubicBezTo>
                  <a:pt x="5617062" y="0"/>
                  <a:pt x="5649079" y="30186"/>
                  <a:pt x="5649079" y="67423"/>
                </a:cubicBezTo>
                <a:lnTo>
                  <a:pt x="5649079" y="1398923"/>
                </a:lnTo>
                <a:cubicBezTo>
                  <a:pt x="5649079" y="1436159"/>
                  <a:pt x="5617062" y="1466345"/>
                  <a:pt x="5577567" y="1466345"/>
                </a:cubicBezTo>
                <a:lnTo>
                  <a:pt x="35754" y="1466345"/>
                </a:lnTo>
                <a:cubicBezTo>
                  <a:pt x="16007" y="1466345"/>
                  <a:pt x="0" y="1451253"/>
                  <a:pt x="0" y="1432636"/>
                </a:cubicBezTo>
                <a:lnTo>
                  <a:pt x="0" y="33709"/>
                </a:lnTo>
                <a:cubicBezTo>
                  <a:pt x="0" y="15092"/>
                  <a:pt x="16007" y="0"/>
                  <a:pt x="3575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9" name="Shape 56"/>
          <p:cNvSpPr/>
          <p:nvPr/>
        </p:nvSpPr>
        <p:spPr>
          <a:xfrm>
            <a:off x="6183373" y="5391655"/>
            <a:ext cx="35754" cy="1555284"/>
          </a:xfrm>
          <a:custGeom>
            <a:avLst/>
            <a:gdLst/>
            <a:ahLst/>
            <a:cxnLst/>
            <a:rect l="l" t="t" r="r" b="b"/>
            <a:pathLst>
              <a:path w="35754" h="1555284">
                <a:moveTo>
                  <a:pt x="35754" y="0"/>
                </a:moveTo>
                <a:lnTo>
                  <a:pt x="35754" y="0"/>
                </a:lnTo>
                <a:lnTo>
                  <a:pt x="35754" y="1555284"/>
                </a:lnTo>
                <a:lnTo>
                  <a:pt x="35754" y="1555284"/>
                </a:lnTo>
                <a:cubicBezTo>
                  <a:pt x="16007" y="1555284"/>
                  <a:pt x="0" y="1539277"/>
                  <a:pt x="0" y="1519531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0" name="Shape 57"/>
          <p:cNvSpPr/>
          <p:nvPr/>
        </p:nvSpPr>
        <p:spPr>
          <a:xfrm>
            <a:off x="6308511" y="5498916"/>
            <a:ext cx="357537" cy="357537"/>
          </a:xfrm>
          <a:custGeom>
            <a:avLst/>
            <a:gdLst/>
            <a:ahLst/>
            <a:cxnLst/>
            <a:rect l="l" t="t" r="r" b="b"/>
            <a:pathLst>
              <a:path w="357537" h="357537">
                <a:moveTo>
                  <a:pt x="178768" y="0"/>
                </a:moveTo>
                <a:lnTo>
                  <a:pt x="178768" y="0"/>
                </a:lnTo>
                <a:cubicBezTo>
                  <a:pt x="277433" y="0"/>
                  <a:pt x="357537" y="80103"/>
                  <a:pt x="357537" y="178768"/>
                </a:cubicBezTo>
                <a:lnTo>
                  <a:pt x="357537" y="178768"/>
                </a:lnTo>
                <a:cubicBezTo>
                  <a:pt x="357537" y="277433"/>
                  <a:pt x="277433" y="357537"/>
                  <a:pt x="178768" y="357537"/>
                </a:cubicBezTo>
                <a:lnTo>
                  <a:pt x="178768" y="357537"/>
                </a:lnTo>
                <a:cubicBezTo>
                  <a:pt x="80103" y="357537"/>
                  <a:pt x="0" y="277433"/>
                  <a:pt x="0" y="178768"/>
                </a:cubicBezTo>
                <a:lnTo>
                  <a:pt x="0" y="178768"/>
                </a:lnTo>
                <a:cubicBezTo>
                  <a:pt x="0" y="80103"/>
                  <a:pt x="80103" y="0"/>
                  <a:pt x="178768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6429180" y="5597238"/>
            <a:ext cx="120669" cy="160891"/>
          </a:xfrm>
          <a:custGeom>
            <a:avLst/>
            <a:gdLst/>
            <a:ahLst/>
            <a:cxnLst/>
            <a:rect l="l" t="t" r="r" b="b"/>
            <a:pathLst>
              <a:path w="120669" h="160891">
                <a:moveTo>
                  <a:pt x="92041" y="120669"/>
                </a:moveTo>
                <a:cubicBezTo>
                  <a:pt x="94335" y="113661"/>
                  <a:pt x="98923" y="107313"/>
                  <a:pt x="104108" y="101846"/>
                </a:cubicBezTo>
                <a:cubicBezTo>
                  <a:pt x="114384" y="91036"/>
                  <a:pt x="120669" y="76423"/>
                  <a:pt x="120669" y="60334"/>
                </a:cubicBezTo>
                <a:cubicBezTo>
                  <a:pt x="120669" y="27025"/>
                  <a:pt x="93644" y="0"/>
                  <a:pt x="60334" y="0"/>
                </a:cubicBezTo>
                <a:cubicBezTo>
                  <a:pt x="27025" y="0"/>
                  <a:pt x="0" y="27025"/>
                  <a:pt x="0" y="60334"/>
                </a:cubicBezTo>
                <a:cubicBezTo>
                  <a:pt x="0" y="76423"/>
                  <a:pt x="6285" y="91036"/>
                  <a:pt x="16561" y="101846"/>
                </a:cubicBezTo>
                <a:cubicBezTo>
                  <a:pt x="21745" y="107313"/>
                  <a:pt x="26365" y="113661"/>
                  <a:pt x="28627" y="120669"/>
                </a:cubicBezTo>
                <a:lnTo>
                  <a:pt x="92010" y="120669"/>
                </a:lnTo>
                <a:close/>
                <a:moveTo>
                  <a:pt x="90501" y="135752"/>
                </a:moveTo>
                <a:lnTo>
                  <a:pt x="30167" y="135752"/>
                </a:lnTo>
                <a:lnTo>
                  <a:pt x="30167" y="140780"/>
                </a:lnTo>
                <a:cubicBezTo>
                  <a:pt x="30167" y="154670"/>
                  <a:pt x="41417" y="165919"/>
                  <a:pt x="55306" y="165919"/>
                </a:cubicBezTo>
                <a:lnTo>
                  <a:pt x="65362" y="165919"/>
                </a:lnTo>
                <a:cubicBezTo>
                  <a:pt x="79252" y="165919"/>
                  <a:pt x="90501" y="154670"/>
                  <a:pt x="90501" y="140780"/>
                </a:cubicBezTo>
                <a:lnTo>
                  <a:pt x="90501" y="135752"/>
                </a:lnTo>
                <a:close/>
                <a:moveTo>
                  <a:pt x="57820" y="35195"/>
                </a:moveTo>
                <a:cubicBezTo>
                  <a:pt x="45314" y="35195"/>
                  <a:pt x="35195" y="45314"/>
                  <a:pt x="35195" y="57820"/>
                </a:cubicBezTo>
                <a:cubicBezTo>
                  <a:pt x="35195" y="62000"/>
                  <a:pt x="31833" y="65362"/>
                  <a:pt x="27653" y="65362"/>
                </a:cubicBezTo>
                <a:cubicBezTo>
                  <a:pt x="23474" y="65362"/>
                  <a:pt x="20111" y="62000"/>
                  <a:pt x="20111" y="57820"/>
                </a:cubicBezTo>
                <a:cubicBezTo>
                  <a:pt x="20111" y="36986"/>
                  <a:pt x="36986" y="20111"/>
                  <a:pt x="57820" y="20111"/>
                </a:cubicBezTo>
                <a:cubicBezTo>
                  <a:pt x="62000" y="20111"/>
                  <a:pt x="65362" y="23474"/>
                  <a:pt x="65362" y="27653"/>
                </a:cubicBezTo>
                <a:cubicBezTo>
                  <a:pt x="65362" y="31833"/>
                  <a:pt x="62000" y="35195"/>
                  <a:pt x="57820" y="3519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2" name="Text 59"/>
          <p:cNvSpPr/>
          <p:nvPr/>
        </p:nvSpPr>
        <p:spPr>
          <a:xfrm>
            <a:off x="6773309" y="5498916"/>
            <a:ext cx="5032328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&amp; Correlations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6773309" y="5820699"/>
            <a:ext cx="5023390" cy="429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126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Uneven performance:</a:t>
            </a:r>
            <a:pPr>
              <a:lnSpc>
                <a:spcPct val="130000"/>
              </a:lnSpc>
            </a:pPr>
            <a:r>
              <a:rPr lang="en-US" sz="11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13-point occupancy gap indicates potential for improvement.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6773309" y="6285496"/>
            <a:ext cx="5023390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126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Rating correlation:</a:t>
            </a:r>
            <a:pPr>
              <a:lnSpc>
                <a:spcPct val="130000"/>
              </a:lnSpc>
            </a:pPr>
            <a:r>
              <a:rPr lang="en-US" sz="11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Higher ratings linked to better performance.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6773309" y="6535772"/>
            <a:ext cx="5023390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126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 dynamics:</a:t>
            </a:r>
            <a:pPr>
              <a:lnSpc>
                <a:spcPct val="130000"/>
              </a:lnSpc>
            </a:pPr>
            <a:r>
              <a:rPr lang="en-US" sz="11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Metro markets outperform emerging cities.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231" y="356231"/>
            <a:ext cx="11550785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spc="56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Distribution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6231" y="605592"/>
            <a:ext cx="11639842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4" b="1" dirty="0">
                <a:solidFill>
                  <a:srgbClr val="F0F0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Channel Performance &amp; Revenue Realization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6231" y="997446"/>
            <a:ext cx="11550785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Booking platform effectiveness and optimization opportunities for net revenue improvement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9793" y="1357239"/>
            <a:ext cx="2785725" cy="862079"/>
          </a:xfrm>
          <a:custGeom>
            <a:avLst/>
            <a:gdLst/>
            <a:ahLst/>
            <a:cxnLst/>
            <a:rect l="l" t="t" r="r" b="b"/>
            <a:pathLst>
              <a:path w="2785725" h="862079">
                <a:moveTo>
                  <a:pt x="71242" y="0"/>
                </a:moveTo>
                <a:lnTo>
                  <a:pt x="2714483" y="0"/>
                </a:lnTo>
                <a:cubicBezTo>
                  <a:pt x="2753829" y="0"/>
                  <a:pt x="2785725" y="31896"/>
                  <a:pt x="2785725" y="71242"/>
                </a:cubicBezTo>
                <a:lnTo>
                  <a:pt x="2785725" y="790836"/>
                </a:lnTo>
                <a:cubicBezTo>
                  <a:pt x="2785725" y="830182"/>
                  <a:pt x="2753829" y="862079"/>
                  <a:pt x="2714483" y="862079"/>
                </a:cubicBezTo>
                <a:lnTo>
                  <a:pt x="71242" y="862079"/>
                </a:lnTo>
                <a:cubicBezTo>
                  <a:pt x="31896" y="862079"/>
                  <a:pt x="0" y="830182"/>
                  <a:pt x="0" y="790836"/>
                </a:cubicBezTo>
                <a:lnTo>
                  <a:pt x="0" y="71242"/>
                </a:lnTo>
                <a:cubicBezTo>
                  <a:pt x="0" y="31923"/>
                  <a:pt x="31923" y="0"/>
                  <a:pt x="71242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5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1016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2489" y="1494391"/>
            <a:ext cx="160304" cy="160304"/>
          </a:xfrm>
          <a:custGeom>
            <a:avLst/>
            <a:gdLst/>
            <a:ahLst/>
            <a:cxnLst/>
            <a:rect l="l" t="t" r="r" b="b"/>
            <a:pathLst>
              <a:path w="160304" h="160304">
                <a:moveTo>
                  <a:pt x="20038" y="10019"/>
                </a:moveTo>
                <a:cubicBezTo>
                  <a:pt x="8986" y="10019"/>
                  <a:pt x="0" y="19005"/>
                  <a:pt x="0" y="30057"/>
                </a:cubicBezTo>
                <a:lnTo>
                  <a:pt x="0" y="110209"/>
                </a:lnTo>
                <a:cubicBezTo>
                  <a:pt x="0" y="121261"/>
                  <a:pt x="8986" y="130247"/>
                  <a:pt x="20038" y="130247"/>
                </a:cubicBezTo>
                <a:lnTo>
                  <a:pt x="65123" y="130247"/>
                </a:lnTo>
                <a:lnTo>
                  <a:pt x="60114" y="145275"/>
                </a:lnTo>
                <a:lnTo>
                  <a:pt x="37571" y="145275"/>
                </a:lnTo>
                <a:cubicBezTo>
                  <a:pt x="33407" y="145275"/>
                  <a:pt x="30057" y="148625"/>
                  <a:pt x="30057" y="152790"/>
                </a:cubicBezTo>
                <a:cubicBezTo>
                  <a:pt x="30057" y="156954"/>
                  <a:pt x="33407" y="160304"/>
                  <a:pt x="37571" y="160304"/>
                </a:cubicBezTo>
                <a:lnTo>
                  <a:pt x="122733" y="160304"/>
                </a:lnTo>
                <a:cubicBezTo>
                  <a:pt x="126897" y="160304"/>
                  <a:pt x="130247" y="156954"/>
                  <a:pt x="130247" y="152790"/>
                </a:cubicBezTo>
                <a:cubicBezTo>
                  <a:pt x="130247" y="148625"/>
                  <a:pt x="126897" y="145275"/>
                  <a:pt x="122733" y="145275"/>
                </a:cubicBezTo>
                <a:lnTo>
                  <a:pt x="100190" y="145275"/>
                </a:lnTo>
                <a:lnTo>
                  <a:pt x="95180" y="130247"/>
                </a:lnTo>
                <a:lnTo>
                  <a:pt x="140266" y="130247"/>
                </a:lnTo>
                <a:cubicBezTo>
                  <a:pt x="151318" y="130247"/>
                  <a:pt x="160304" y="121261"/>
                  <a:pt x="160304" y="110209"/>
                </a:cubicBezTo>
                <a:lnTo>
                  <a:pt x="160304" y="30057"/>
                </a:lnTo>
                <a:cubicBezTo>
                  <a:pt x="160304" y="19005"/>
                  <a:pt x="151318" y="10019"/>
                  <a:pt x="140266" y="10019"/>
                </a:cubicBezTo>
                <a:lnTo>
                  <a:pt x="20038" y="10019"/>
                </a:lnTo>
                <a:close/>
                <a:moveTo>
                  <a:pt x="30057" y="30057"/>
                </a:moveTo>
                <a:lnTo>
                  <a:pt x="130247" y="30057"/>
                </a:lnTo>
                <a:cubicBezTo>
                  <a:pt x="135789" y="30057"/>
                  <a:pt x="140266" y="34534"/>
                  <a:pt x="140266" y="40076"/>
                </a:cubicBezTo>
                <a:lnTo>
                  <a:pt x="140266" y="90171"/>
                </a:lnTo>
                <a:cubicBezTo>
                  <a:pt x="140266" y="95713"/>
                  <a:pt x="135789" y="100190"/>
                  <a:pt x="130247" y="100190"/>
                </a:cubicBezTo>
                <a:lnTo>
                  <a:pt x="30057" y="100190"/>
                </a:lnTo>
                <a:cubicBezTo>
                  <a:pt x="24515" y="100190"/>
                  <a:pt x="20038" y="95713"/>
                  <a:pt x="20038" y="90171"/>
                </a:cubicBezTo>
                <a:lnTo>
                  <a:pt x="20038" y="40076"/>
                </a:lnTo>
                <a:cubicBezTo>
                  <a:pt x="20038" y="34534"/>
                  <a:pt x="24515" y="30057"/>
                  <a:pt x="30057" y="3005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741851" y="1467674"/>
            <a:ext cx="739179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0225" y="1717035"/>
            <a:ext cx="30279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00374" y="1717035"/>
            <a:ext cx="48981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₹13,200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225" y="1930774"/>
            <a:ext cx="64121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Realisation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91291" y="1930774"/>
            <a:ext cx="30279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68%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56061" y="1357239"/>
            <a:ext cx="2785725" cy="862079"/>
          </a:xfrm>
          <a:custGeom>
            <a:avLst/>
            <a:gdLst/>
            <a:ahLst/>
            <a:cxnLst/>
            <a:rect l="l" t="t" r="r" b="b"/>
            <a:pathLst>
              <a:path w="2785725" h="862079">
                <a:moveTo>
                  <a:pt x="71242" y="0"/>
                </a:moveTo>
                <a:lnTo>
                  <a:pt x="2714483" y="0"/>
                </a:lnTo>
                <a:cubicBezTo>
                  <a:pt x="2753829" y="0"/>
                  <a:pt x="2785725" y="31896"/>
                  <a:pt x="2785725" y="71242"/>
                </a:cubicBezTo>
                <a:lnTo>
                  <a:pt x="2785725" y="790836"/>
                </a:lnTo>
                <a:cubicBezTo>
                  <a:pt x="2785725" y="830182"/>
                  <a:pt x="2753829" y="862079"/>
                  <a:pt x="2714483" y="862079"/>
                </a:cubicBezTo>
                <a:lnTo>
                  <a:pt x="71242" y="862079"/>
                </a:lnTo>
                <a:cubicBezTo>
                  <a:pt x="31896" y="862079"/>
                  <a:pt x="0" y="830182"/>
                  <a:pt x="0" y="790836"/>
                </a:cubicBezTo>
                <a:lnTo>
                  <a:pt x="0" y="71242"/>
                </a:lnTo>
                <a:cubicBezTo>
                  <a:pt x="0" y="31923"/>
                  <a:pt x="31923" y="0"/>
                  <a:pt x="7124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5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016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8795" y="1494391"/>
            <a:ext cx="120228" cy="160304"/>
          </a:xfrm>
          <a:custGeom>
            <a:avLst/>
            <a:gdLst/>
            <a:ahLst/>
            <a:cxnLst/>
            <a:rect l="l" t="t" r="r" b="b"/>
            <a:pathLst>
              <a:path w="120228" h="160304">
                <a:moveTo>
                  <a:pt x="5009" y="20038"/>
                </a:moveTo>
                <a:cubicBezTo>
                  <a:pt x="5009" y="8986"/>
                  <a:pt x="13995" y="0"/>
                  <a:pt x="25047" y="0"/>
                </a:cubicBezTo>
                <a:lnTo>
                  <a:pt x="95180" y="0"/>
                </a:lnTo>
                <a:cubicBezTo>
                  <a:pt x="106233" y="0"/>
                  <a:pt x="115218" y="8986"/>
                  <a:pt x="115218" y="20038"/>
                </a:cubicBezTo>
                <a:lnTo>
                  <a:pt x="115218" y="140266"/>
                </a:lnTo>
                <a:cubicBezTo>
                  <a:pt x="115218" y="151318"/>
                  <a:pt x="106233" y="160304"/>
                  <a:pt x="95180" y="160304"/>
                </a:cubicBezTo>
                <a:lnTo>
                  <a:pt x="25047" y="160304"/>
                </a:lnTo>
                <a:cubicBezTo>
                  <a:pt x="13995" y="160304"/>
                  <a:pt x="5009" y="151318"/>
                  <a:pt x="5009" y="140266"/>
                </a:cubicBezTo>
                <a:lnTo>
                  <a:pt x="5009" y="20038"/>
                </a:lnTo>
                <a:close/>
                <a:moveTo>
                  <a:pt x="25047" y="20038"/>
                </a:moveTo>
                <a:lnTo>
                  <a:pt x="25047" y="115218"/>
                </a:lnTo>
                <a:lnTo>
                  <a:pt x="95180" y="115218"/>
                </a:lnTo>
                <a:lnTo>
                  <a:pt x="95180" y="20038"/>
                </a:lnTo>
                <a:lnTo>
                  <a:pt x="25047" y="20038"/>
                </a:lnTo>
                <a:close/>
                <a:moveTo>
                  <a:pt x="60114" y="147780"/>
                </a:moveTo>
                <a:cubicBezTo>
                  <a:pt x="65656" y="147780"/>
                  <a:pt x="70133" y="143303"/>
                  <a:pt x="70133" y="137761"/>
                </a:cubicBezTo>
                <a:cubicBezTo>
                  <a:pt x="70133" y="132219"/>
                  <a:pt x="65656" y="127742"/>
                  <a:pt x="60114" y="127742"/>
                </a:cubicBezTo>
                <a:cubicBezTo>
                  <a:pt x="54572" y="127742"/>
                  <a:pt x="50095" y="132219"/>
                  <a:pt x="50095" y="137761"/>
                </a:cubicBezTo>
                <a:cubicBezTo>
                  <a:pt x="50095" y="143303"/>
                  <a:pt x="54572" y="147780"/>
                  <a:pt x="60114" y="14778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4" name="Text 12"/>
          <p:cNvSpPr/>
          <p:nvPr/>
        </p:nvSpPr>
        <p:spPr>
          <a:xfrm>
            <a:off x="3638119" y="1467674"/>
            <a:ext cx="730273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66493" y="1717035"/>
            <a:ext cx="30279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93970" y="1717035"/>
            <a:ext cx="49872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₹12,800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66493" y="1930774"/>
            <a:ext cx="64121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Realisation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05482" y="1930774"/>
            <a:ext cx="28498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72%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52440" y="1357239"/>
            <a:ext cx="2785725" cy="862079"/>
          </a:xfrm>
          <a:custGeom>
            <a:avLst/>
            <a:gdLst/>
            <a:ahLst/>
            <a:cxnLst/>
            <a:rect l="l" t="t" r="r" b="b"/>
            <a:pathLst>
              <a:path w="2785725" h="862079">
                <a:moveTo>
                  <a:pt x="71242" y="0"/>
                </a:moveTo>
                <a:lnTo>
                  <a:pt x="2714483" y="0"/>
                </a:lnTo>
                <a:cubicBezTo>
                  <a:pt x="2753829" y="0"/>
                  <a:pt x="2785725" y="31896"/>
                  <a:pt x="2785725" y="71242"/>
                </a:cubicBezTo>
                <a:lnTo>
                  <a:pt x="2785725" y="790836"/>
                </a:lnTo>
                <a:cubicBezTo>
                  <a:pt x="2785725" y="830182"/>
                  <a:pt x="2753829" y="862079"/>
                  <a:pt x="2714483" y="862079"/>
                </a:cubicBezTo>
                <a:lnTo>
                  <a:pt x="71242" y="862079"/>
                </a:lnTo>
                <a:cubicBezTo>
                  <a:pt x="31896" y="862079"/>
                  <a:pt x="0" y="830182"/>
                  <a:pt x="0" y="790836"/>
                </a:cubicBezTo>
                <a:lnTo>
                  <a:pt x="0" y="71242"/>
                </a:lnTo>
                <a:cubicBezTo>
                  <a:pt x="0" y="31923"/>
                  <a:pt x="31923" y="0"/>
                  <a:pt x="71242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25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10160">
            <a:solidFill>
              <a:srgbClr val="8D99AE">
                <a:alpha val="5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95155" y="1494391"/>
            <a:ext cx="140266" cy="160304"/>
          </a:xfrm>
          <a:custGeom>
            <a:avLst/>
            <a:gdLst/>
            <a:ahLst/>
            <a:cxnLst/>
            <a:rect l="l" t="t" r="r" b="b"/>
            <a:pathLst>
              <a:path w="140266" h="160304">
                <a:moveTo>
                  <a:pt x="0" y="20038"/>
                </a:moveTo>
                <a:cubicBezTo>
                  <a:pt x="0" y="8986"/>
                  <a:pt x="8986" y="0"/>
                  <a:pt x="20038" y="0"/>
                </a:cubicBezTo>
                <a:lnTo>
                  <a:pt x="120228" y="0"/>
                </a:lnTo>
                <a:cubicBezTo>
                  <a:pt x="131280" y="0"/>
                  <a:pt x="140266" y="8986"/>
                  <a:pt x="140266" y="20038"/>
                </a:cubicBezTo>
                <a:lnTo>
                  <a:pt x="140266" y="140266"/>
                </a:lnTo>
                <a:cubicBezTo>
                  <a:pt x="140266" y="151318"/>
                  <a:pt x="131280" y="160304"/>
                  <a:pt x="120228" y="160304"/>
                </a:cubicBezTo>
                <a:lnTo>
                  <a:pt x="20038" y="160304"/>
                </a:lnTo>
                <a:cubicBezTo>
                  <a:pt x="8986" y="160304"/>
                  <a:pt x="0" y="151318"/>
                  <a:pt x="0" y="140266"/>
                </a:cubicBezTo>
                <a:lnTo>
                  <a:pt x="0" y="20038"/>
                </a:lnTo>
                <a:close/>
                <a:moveTo>
                  <a:pt x="80152" y="135256"/>
                </a:moveTo>
                <a:cubicBezTo>
                  <a:pt x="80152" y="129727"/>
                  <a:pt x="75663" y="125237"/>
                  <a:pt x="70133" y="125237"/>
                </a:cubicBezTo>
                <a:cubicBezTo>
                  <a:pt x="64603" y="125237"/>
                  <a:pt x="60114" y="129727"/>
                  <a:pt x="60114" y="135256"/>
                </a:cubicBezTo>
                <a:cubicBezTo>
                  <a:pt x="60114" y="140786"/>
                  <a:pt x="64603" y="145275"/>
                  <a:pt x="70133" y="145275"/>
                </a:cubicBezTo>
                <a:cubicBezTo>
                  <a:pt x="75663" y="145275"/>
                  <a:pt x="80152" y="140786"/>
                  <a:pt x="80152" y="135256"/>
                </a:cubicBezTo>
                <a:close/>
                <a:moveTo>
                  <a:pt x="120228" y="20038"/>
                </a:moveTo>
                <a:lnTo>
                  <a:pt x="20038" y="20038"/>
                </a:lnTo>
                <a:lnTo>
                  <a:pt x="20038" y="110209"/>
                </a:lnTo>
                <a:lnTo>
                  <a:pt x="120228" y="110209"/>
                </a:lnTo>
                <a:lnTo>
                  <a:pt x="120228" y="20038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4498" y="1467674"/>
            <a:ext cx="739179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2872" y="1717035"/>
            <a:ext cx="30279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92798" y="1717035"/>
            <a:ext cx="48981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₹12,500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62872" y="1930774"/>
            <a:ext cx="64121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Realisation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98299" y="1930774"/>
            <a:ext cx="28498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75%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48820" y="1357239"/>
            <a:ext cx="2785725" cy="862079"/>
          </a:xfrm>
          <a:custGeom>
            <a:avLst/>
            <a:gdLst/>
            <a:ahLst/>
            <a:cxnLst/>
            <a:rect l="l" t="t" r="r" b="b"/>
            <a:pathLst>
              <a:path w="2785725" h="862079">
                <a:moveTo>
                  <a:pt x="71242" y="0"/>
                </a:moveTo>
                <a:lnTo>
                  <a:pt x="2714483" y="0"/>
                </a:lnTo>
                <a:cubicBezTo>
                  <a:pt x="2753829" y="0"/>
                  <a:pt x="2785725" y="31896"/>
                  <a:pt x="2785725" y="71242"/>
                </a:cubicBezTo>
                <a:lnTo>
                  <a:pt x="2785725" y="790836"/>
                </a:lnTo>
                <a:cubicBezTo>
                  <a:pt x="2785725" y="830182"/>
                  <a:pt x="2753829" y="862079"/>
                  <a:pt x="2714483" y="862079"/>
                </a:cubicBezTo>
                <a:lnTo>
                  <a:pt x="71242" y="862079"/>
                </a:lnTo>
                <a:cubicBezTo>
                  <a:pt x="31896" y="862079"/>
                  <a:pt x="0" y="830182"/>
                  <a:pt x="0" y="790836"/>
                </a:cubicBezTo>
                <a:lnTo>
                  <a:pt x="0" y="71242"/>
                </a:lnTo>
                <a:cubicBezTo>
                  <a:pt x="0" y="31923"/>
                  <a:pt x="31923" y="0"/>
                  <a:pt x="71242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5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1016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81516" y="1494391"/>
            <a:ext cx="160304" cy="160304"/>
          </a:xfrm>
          <a:custGeom>
            <a:avLst/>
            <a:gdLst/>
            <a:ahLst/>
            <a:cxnLst/>
            <a:rect l="l" t="t" r="r" b="b"/>
            <a:pathLst>
              <a:path w="160304" h="160304">
                <a:moveTo>
                  <a:pt x="110178" y="87666"/>
                </a:moveTo>
                <a:lnTo>
                  <a:pt x="50408" y="87666"/>
                </a:lnTo>
                <a:cubicBezTo>
                  <a:pt x="51316" y="107861"/>
                  <a:pt x="55793" y="126458"/>
                  <a:pt x="62149" y="140078"/>
                </a:cubicBezTo>
                <a:cubicBezTo>
                  <a:pt x="65718" y="147749"/>
                  <a:pt x="69569" y="153165"/>
                  <a:pt x="73139" y="156484"/>
                </a:cubicBezTo>
                <a:cubicBezTo>
                  <a:pt x="76645" y="159772"/>
                  <a:pt x="79056" y="160304"/>
                  <a:pt x="80308" y="160304"/>
                </a:cubicBezTo>
                <a:cubicBezTo>
                  <a:pt x="81561" y="160304"/>
                  <a:pt x="83972" y="159772"/>
                  <a:pt x="87478" y="156484"/>
                </a:cubicBezTo>
                <a:cubicBezTo>
                  <a:pt x="91048" y="153165"/>
                  <a:pt x="94899" y="147718"/>
                  <a:pt x="98468" y="140078"/>
                </a:cubicBezTo>
                <a:cubicBezTo>
                  <a:pt x="104824" y="126458"/>
                  <a:pt x="109301" y="107861"/>
                  <a:pt x="110209" y="87666"/>
                </a:cubicBezTo>
                <a:close/>
                <a:moveTo>
                  <a:pt x="50377" y="72638"/>
                </a:moveTo>
                <a:lnTo>
                  <a:pt x="110146" y="72638"/>
                </a:lnTo>
                <a:cubicBezTo>
                  <a:pt x="109270" y="52443"/>
                  <a:pt x="104792" y="33845"/>
                  <a:pt x="98437" y="20226"/>
                </a:cubicBezTo>
                <a:cubicBezTo>
                  <a:pt x="94867" y="12586"/>
                  <a:pt x="91016" y="7139"/>
                  <a:pt x="87447" y="3820"/>
                </a:cubicBezTo>
                <a:cubicBezTo>
                  <a:pt x="83940" y="532"/>
                  <a:pt x="81530" y="0"/>
                  <a:pt x="80277" y="0"/>
                </a:cubicBezTo>
                <a:cubicBezTo>
                  <a:pt x="79025" y="0"/>
                  <a:pt x="76614" y="532"/>
                  <a:pt x="73107" y="3820"/>
                </a:cubicBezTo>
                <a:cubicBezTo>
                  <a:pt x="69538" y="7139"/>
                  <a:pt x="65687" y="12586"/>
                  <a:pt x="62118" y="20226"/>
                </a:cubicBezTo>
                <a:cubicBezTo>
                  <a:pt x="55762" y="33845"/>
                  <a:pt x="51285" y="52443"/>
                  <a:pt x="50377" y="72638"/>
                </a:cubicBezTo>
                <a:close/>
                <a:moveTo>
                  <a:pt x="35348" y="72638"/>
                </a:moveTo>
                <a:cubicBezTo>
                  <a:pt x="36444" y="45837"/>
                  <a:pt x="43363" y="20946"/>
                  <a:pt x="53476" y="4602"/>
                </a:cubicBezTo>
                <a:cubicBezTo>
                  <a:pt x="24640" y="14809"/>
                  <a:pt x="3413" y="41078"/>
                  <a:pt x="470" y="72638"/>
                </a:cubicBezTo>
                <a:lnTo>
                  <a:pt x="35348" y="72638"/>
                </a:lnTo>
                <a:close/>
                <a:moveTo>
                  <a:pt x="470" y="87666"/>
                </a:moveTo>
                <a:cubicBezTo>
                  <a:pt x="3413" y="119226"/>
                  <a:pt x="24640" y="145495"/>
                  <a:pt x="53476" y="155701"/>
                </a:cubicBezTo>
                <a:cubicBezTo>
                  <a:pt x="43363" y="139358"/>
                  <a:pt x="36444" y="114467"/>
                  <a:pt x="35348" y="87666"/>
                </a:cubicBezTo>
                <a:lnTo>
                  <a:pt x="470" y="87666"/>
                </a:lnTo>
                <a:close/>
                <a:moveTo>
                  <a:pt x="125206" y="87666"/>
                </a:moveTo>
                <a:cubicBezTo>
                  <a:pt x="124110" y="114467"/>
                  <a:pt x="117191" y="139358"/>
                  <a:pt x="107078" y="155701"/>
                </a:cubicBezTo>
                <a:cubicBezTo>
                  <a:pt x="135914" y="145463"/>
                  <a:pt x="157142" y="119226"/>
                  <a:pt x="160085" y="87666"/>
                </a:cubicBezTo>
                <a:lnTo>
                  <a:pt x="125206" y="87666"/>
                </a:lnTo>
                <a:close/>
                <a:moveTo>
                  <a:pt x="160085" y="72638"/>
                </a:moveTo>
                <a:cubicBezTo>
                  <a:pt x="157142" y="41078"/>
                  <a:pt x="135914" y="14809"/>
                  <a:pt x="107078" y="4602"/>
                </a:cubicBezTo>
                <a:cubicBezTo>
                  <a:pt x="117191" y="20946"/>
                  <a:pt x="124110" y="45837"/>
                  <a:pt x="125206" y="72638"/>
                </a:cubicBezTo>
                <a:lnTo>
                  <a:pt x="160085" y="7263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6"/>
          <p:cNvSpPr/>
          <p:nvPr/>
        </p:nvSpPr>
        <p:spPr>
          <a:xfrm>
            <a:off x="9430877" y="1467674"/>
            <a:ext cx="454194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59251" y="1717035"/>
            <a:ext cx="30279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311888" y="1717035"/>
            <a:ext cx="47200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₹12,696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59251" y="1930774"/>
            <a:ext cx="64121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Realisation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482878" y="1930774"/>
            <a:ext cx="30279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56231" y="2365374"/>
            <a:ext cx="11479538" cy="3437627"/>
          </a:xfrm>
          <a:custGeom>
            <a:avLst/>
            <a:gdLst/>
            <a:ahLst/>
            <a:cxnLst/>
            <a:rect l="l" t="t" r="r" b="b"/>
            <a:pathLst>
              <a:path w="11479538" h="3437627">
                <a:moveTo>
                  <a:pt x="71262" y="0"/>
                </a:moveTo>
                <a:lnTo>
                  <a:pt x="11408276" y="0"/>
                </a:lnTo>
                <a:cubicBezTo>
                  <a:pt x="11447633" y="0"/>
                  <a:pt x="11479538" y="31905"/>
                  <a:pt x="11479538" y="71262"/>
                </a:cubicBezTo>
                <a:lnTo>
                  <a:pt x="11479538" y="3366365"/>
                </a:lnTo>
                <a:cubicBezTo>
                  <a:pt x="11479538" y="3405722"/>
                  <a:pt x="11447633" y="3437627"/>
                  <a:pt x="11408276" y="3437627"/>
                </a:cubicBezTo>
                <a:lnTo>
                  <a:pt x="71262" y="3437627"/>
                </a:lnTo>
                <a:cubicBezTo>
                  <a:pt x="31905" y="3437627"/>
                  <a:pt x="0" y="3405722"/>
                  <a:pt x="0" y="3366365"/>
                </a:cubicBezTo>
                <a:lnTo>
                  <a:pt x="0" y="71262"/>
                </a:lnTo>
                <a:cubicBezTo>
                  <a:pt x="0" y="31931"/>
                  <a:pt x="31931" y="0"/>
                  <a:pt x="71262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58647" y="2507866"/>
            <a:ext cx="1127470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2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Channel Effectiveness: ADR vs Realisation Analysis</a:t>
            </a:r>
            <a:endParaRPr lang="en-US" sz="1600" dirty="0"/>
          </a:p>
        </p:txBody>
      </p:sp>
      <p:pic>
        <p:nvPicPr>
          <p:cNvPr id="35" name="Image 0" descr="https://kimi-img.moonshot.cn/pub/slides/26-01-24-03:31:14-d5psp0hdjjptl36rfvc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723" y="2864097"/>
            <a:ext cx="10401940" cy="2671731"/>
          </a:xfrm>
          <a:prstGeom prst="roundRect">
            <a:avLst>
              <a:gd name="adj" fmla="val 0"/>
            </a:avLst>
          </a:prstGeom>
        </p:spPr>
      </p:pic>
      <p:sp>
        <p:nvSpPr>
          <p:cNvPr id="36" name="Shape 33"/>
          <p:cNvSpPr/>
          <p:nvPr/>
        </p:nvSpPr>
        <p:spPr>
          <a:xfrm>
            <a:off x="374042" y="5908648"/>
            <a:ext cx="11461727" cy="949352"/>
          </a:xfrm>
          <a:custGeom>
            <a:avLst/>
            <a:gdLst/>
            <a:ahLst/>
            <a:cxnLst/>
            <a:rect l="l" t="t" r="r" b="b"/>
            <a:pathLst>
              <a:path w="11461727" h="949352">
                <a:moveTo>
                  <a:pt x="35623" y="0"/>
                </a:moveTo>
                <a:lnTo>
                  <a:pt x="11390477" y="0"/>
                </a:lnTo>
                <a:cubicBezTo>
                  <a:pt x="11429827" y="0"/>
                  <a:pt x="11461727" y="28337"/>
                  <a:pt x="11461727" y="63293"/>
                </a:cubicBezTo>
                <a:lnTo>
                  <a:pt x="11461727" y="886058"/>
                </a:lnTo>
                <a:cubicBezTo>
                  <a:pt x="11461727" y="920991"/>
                  <a:pt x="11429801" y="949352"/>
                  <a:pt x="11390477" y="949352"/>
                </a:cubicBezTo>
                <a:lnTo>
                  <a:pt x="35623" y="949352"/>
                </a:lnTo>
                <a:cubicBezTo>
                  <a:pt x="15949" y="949352"/>
                  <a:pt x="0" y="935184"/>
                  <a:pt x="0" y="917707"/>
                </a:cubicBezTo>
                <a:lnTo>
                  <a:pt x="0" y="31645"/>
                </a:lnTo>
                <a:cubicBezTo>
                  <a:pt x="0" y="14180"/>
                  <a:pt x="15962" y="0"/>
                  <a:pt x="3562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7" name="Shape 34"/>
          <p:cNvSpPr/>
          <p:nvPr/>
        </p:nvSpPr>
        <p:spPr>
          <a:xfrm>
            <a:off x="374042" y="5908648"/>
            <a:ext cx="35623" cy="1068692"/>
          </a:xfrm>
          <a:custGeom>
            <a:avLst/>
            <a:gdLst/>
            <a:ahLst/>
            <a:cxnLst/>
            <a:rect l="l" t="t" r="r" b="b"/>
            <a:pathLst>
              <a:path w="35623" h="1068692">
                <a:moveTo>
                  <a:pt x="35623" y="0"/>
                </a:moveTo>
                <a:lnTo>
                  <a:pt x="35623" y="0"/>
                </a:lnTo>
                <a:lnTo>
                  <a:pt x="35623" y="1068692"/>
                </a:lnTo>
                <a:lnTo>
                  <a:pt x="35623" y="1068692"/>
                </a:lnTo>
                <a:cubicBezTo>
                  <a:pt x="15949" y="1068692"/>
                  <a:pt x="0" y="1052743"/>
                  <a:pt x="0" y="10330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8" name="Shape 35"/>
          <p:cNvSpPr/>
          <p:nvPr/>
        </p:nvSpPr>
        <p:spPr>
          <a:xfrm>
            <a:off x="534346" y="6051141"/>
            <a:ext cx="356231" cy="356231"/>
          </a:xfrm>
          <a:custGeom>
            <a:avLst/>
            <a:gdLst/>
            <a:ahLst/>
            <a:cxnLst/>
            <a:rect l="l" t="t" r="r" b="b"/>
            <a:pathLst>
              <a:path w="356231" h="356231">
                <a:moveTo>
                  <a:pt x="178115" y="0"/>
                </a:moveTo>
                <a:lnTo>
                  <a:pt x="178115" y="0"/>
                </a:lnTo>
                <a:cubicBezTo>
                  <a:pt x="276420" y="0"/>
                  <a:pt x="356231" y="79811"/>
                  <a:pt x="356231" y="178115"/>
                </a:cubicBezTo>
                <a:lnTo>
                  <a:pt x="356231" y="178115"/>
                </a:lnTo>
                <a:cubicBezTo>
                  <a:pt x="356231" y="276420"/>
                  <a:pt x="276420" y="356231"/>
                  <a:pt x="178115" y="356231"/>
                </a:cubicBezTo>
                <a:lnTo>
                  <a:pt x="178115" y="356231"/>
                </a:lnTo>
                <a:cubicBezTo>
                  <a:pt x="79811" y="356231"/>
                  <a:pt x="0" y="276420"/>
                  <a:pt x="0" y="178115"/>
                </a:cubicBezTo>
                <a:lnTo>
                  <a:pt x="0" y="178115"/>
                </a:lnTo>
                <a:cubicBezTo>
                  <a:pt x="0" y="79811"/>
                  <a:pt x="79811" y="0"/>
                  <a:pt x="178115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634536" y="6149104"/>
            <a:ext cx="160304" cy="160304"/>
          </a:xfrm>
          <a:custGeom>
            <a:avLst/>
            <a:gdLst/>
            <a:ahLst/>
            <a:cxnLst/>
            <a:rect l="l" t="t" r="r" b="b"/>
            <a:pathLst>
              <a:path w="160304" h="160304">
                <a:moveTo>
                  <a:pt x="140266" y="80152"/>
                </a:moveTo>
                <a:cubicBezTo>
                  <a:pt x="140266" y="46974"/>
                  <a:pt x="113330" y="20038"/>
                  <a:pt x="80152" y="20038"/>
                </a:cubicBezTo>
                <a:cubicBezTo>
                  <a:pt x="46974" y="20038"/>
                  <a:pt x="20038" y="46974"/>
                  <a:pt x="20038" y="80152"/>
                </a:cubicBezTo>
                <a:cubicBezTo>
                  <a:pt x="20038" y="113330"/>
                  <a:pt x="46974" y="140266"/>
                  <a:pt x="80152" y="140266"/>
                </a:cubicBezTo>
                <a:cubicBezTo>
                  <a:pt x="113330" y="140266"/>
                  <a:pt x="140266" y="113330"/>
                  <a:pt x="140266" y="80152"/>
                </a:cubicBezTo>
                <a:close/>
                <a:moveTo>
                  <a:pt x="0" y="80152"/>
                </a:moveTo>
                <a:cubicBezTo>
                  <a:pt x="0" y="35915"/>
                  <a:pt x="35915" y="0"/>
                  <a:pt x="80152" y="0"/>
                </a:cubicBezTo>
                <a:cubicBezTo>
                  <a:pt x="124389" y="0"/>
                  <a:pt x="160304" y="35915"/>
                  <a:pt x="160304" y="80152"/>
                </a:cubicBezTo>
                <a:cubicBezTo>
                  <a:pt x="160304" y="124389"/>
                  <a:pt x="124389" y="160304"/>
                  <a:pt x="80152" y="160304"/>
                </a:cubicBezTo>
                <a:cubicBezTo>
                  <a:pt x="35915" y="160304"/>
                  <a:pt x="0" y="124389"/>
                  <a:pt x="0" y="80152"/>
                </a:cubicBezTo>
                <a:close/>
                <a:moveTo>
                  <a:pt x="80152" y="105199"/>
                </a:moveTo>
                <a:cubicBezTo>
                  <a:pt x="93976" y="105199"/>
                  <a:pt x="105199" y="93976"/>
                  <a:pt x="105199" y="80152"/>
                </a:cubicBezTo>
                <a:cubicBezTo>
                  <a:pt x="105199" y="66328"/>
                  <a:pt x="93976" y="55104"/>
                  <a:pt x="80152" y="55104"/>
                </a:cubicBezTo>
                <a:cubicBezTo>
                  <a:pt x="66328" y="55104"/>
                  <a:pt x="55104" y="66328"/>
                  <a:pt x="55104" y="80152"/>
                </a:cubicBezTo>
                <a:cubicBezTo>
                  <a:pt x="55104" y="93976"/>
                  <a:pt x="66328" y="105199"/>
                  <a:pt x="80152" y="105199"/>
                </a:cubicBezTo>
                <a:close/>
                <a:moveTo>
                  <a:pt x="80152" y="35066"/>
                </a:moveTo>
                <a:cubicBezTo>
                  <a:pt x="105035" y="35066"/>
                  <a:pt x="125237" y="55269"/>
                  <a:pt x="125237" y="80152"/>
                </a:cubicBezTo>
                <a:cubicBezTo>
                  <a:pt x="125237" y="105035"/>
                  <a:pt x="105035" y="125237"/>
                  <a:pt x="80152" y="125237"/>
                </a:cubicBezTo>
                <a:cubicBezTo>
                  <a:pt x="55269" y="125237"/>
                  <a:pt x="35066" y="105035"/>
                  <a:pt x="35066" y="80152"/>
                </a:cubicBezTo>
                <a:cubicBezTo>
                  <a:pt x="35066" y="55269"/>
                  <a:pt x="55269" y="35066"/>
                  <a:pt x="80152" y="35066"/>
                </a:cubicBezTo>
                <a:close/>
                <a:moveTo>
                  <a:pt x="70133" y="80152"/>
                </a:moveTo>
                <a:cubicBezTo>
                  <a:pt x="70133" y="74622"/>
                  <a:pt x="74622" y="70133"/>
                  <a:pt x="80152" y="70133"/>
                </a:cubicBezTo>
                <a:cubicBezTo>
                  <a:pt x="85682" y="70133"/>
                  <a:pt x="90171" y="74622"/>
                  <a:pt x="90171" y="80152"/>
                </a:cubicBezTo>
                <a:cubicBezTo>
                  <a:pt x="90171" y="85682"/>
                  <a:pt x="85682" y="90171"/>
                  <a:pt x="80152" y="90171"/>
                </a:cubicBezTo>
                <a:cubicBezTo>
                  <a:pt x="74622" y="90171"/>
                  <a:pt x="70133" y="85682"/>
                  <a:pt x="70133" y="8015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0" name="Text 37"/>
          <p:cNvSpPr/>
          <p:nvPr/>
        </p:nvSpPr>
        <p:spPr>
          <a:xfrm>
            <a:off x="1065241" y="5926460"/>
            <a:ext cx="10740359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Channel Optimization Can Significantly Improve Net Revenue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069694" y="6211445"/>
            <a:ext cx="10731454" cy="46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2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 variation</a:t>
            </a:r>
            <a:pPr>
              <a:lnSpc>
                <a:spcPct val="140000"/>
              </a:lnSpc>
            </a:pPr>
            <a:r>
              <a:rPr lang="en-US" sz="11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platforms: some generate higher ADR but lower realisation due to commission structures (15-20%) and cancellation impacts. </a:t>
            </a:r>
            <a:pPr>
              <a:lnSpc>
                <a:spcPct val="140000"/>
              </a:lnSpc>
            </a:pPr>
            <a:r>
              <a:rPr lang="en-US" sz="1122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channels achieve 95% realisation</a:t>
            </a:r>
            <a:pPr>
              <a:lnSpc>
                <a:spcPct val="140000"/>
              </a:lnSpc>
            </a:pPr>
            <a:r>
              <a:rPr lang="en-US" sz="11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emphasizing importance of driving direct bookings.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Drivers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Strategic Insights &amp; Market Drivers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0668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Synthesizing data patterns to establish foundation for targeted strategic interventions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47800"/>
            <a:ext cx="5619750" cy="1828800"/>
          </a:xfrm>
          <a:custGeom>
            <a:avLst/>
            <a:gdLst/>
            <a:ahLst/>
            <a:cxnLst/>
            <a:rect l="l" t="t" r="r" b="b"/>
            <a:pathLst>
              <a:path w="5619750" h="1828800">
                <a:moveTo>
                  <a:pt x="38100" y="0"/>
                </a:moveTo>
                <a:lnTo>
                  <a:pt x="5543544" y="0"/>
                </a:lnTo>
                <a:cubicBezTo>
                  <a:pt x="5585631" y="0"/>
                  <a:pt x="5619750" y="34119"/>
                  <a:pt x="5619750" y="76206"/>
                </a:cubicBezTo>
                <a:lnTo>
                  <a:pt x="5619750" y="1752594"/>
                </a:lnTo>
                <a:cubicBezTo>
                  <a:pt x="5619750" y="1794681"/>
                  <a:pt x="5585631" y="1828800"/>
                  <a:pt x="5543544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2944" y="17335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6458" y="32445"/>
                </a:moveTo>
                <a:cubicBezTo>
                  <a:pt x="119881" y="29728"/>
                  <a:pt x="122039" y="25524"/>
                  <a:pt x="122039" y="20836"/>
                </a:cubicBezTo>
                <a:cubicBezTo>
                  <a:pt x="122039" y="12613"/>
                  <a:pt x="115379" y="5953"/>
                  <a:pt x="107156" y="5953"/>
                </a:cubicBezTo>
                <a:cubicBezTo>
                  <a:pt x="98933" y="5953"/>
                  <a:pt x="92273" y="12613"/>
                  <a:pt x="92273" y="20836"/>
                </a:cubicBezTo>
                <a:cubicBezTo>
                  <a:pt x="92273" y="25524"/>
                  <a:pt x="94469" y="29728"/>
                  <a:pt x="97854" y="32445"/>
                </a:cubicBezTo>
                <a:lnTo>
                  <a:pt x="72405" y="72479"/>
                </a:lnTo>
                <a:cubicBezTo>
                  <a:pt x="68684" y="78321"/>
                  <a:pt x="60759" y="79772"/>
                  <a:pt x="55215" y="75605"/>
                </a:cubicBezTo>
                <a:lnTo>
                  <a:pt x="33077" y="59048"/>
                </a:lnTo>
                <a:cubicBezTo>
                  <a:pt x="34751" y="56666"/>
                  <a:pt x="35719" y="53727"/>
                  <a:pt x="35719" y="50602"/>
                </a:cubicBezTo>
                <a:cubicBezTo>
                  <a:pt x="35719" y="42379"/>
                  <a:pt x="29059" y="35719"/>
                  <a:pt x="20836" y="35719"/>
                </a:cubicBezTo>
                <a:cubicBezTo>
                  <a:pt x="12613" y="35719"/>
                  <a:pt x="5953" y="42379"/>
                  <a:pt x="5953" y="50602"/>
                </a:cubicBezTo>
                <a:cubicBezTo>
                  <a:pt x="5953" y="58713"/>
                  <a:pt x="12464" y="65336"/>
                  <a:pt x="20538" y="65484"/>
                </a:cubicBezTo>
                <a:lnTo>
                  <a:pt x="32668" y="146410"/>
                </a:lnTo>
                <a:cubicBezTo>
                  <a:pt x="34417" y="158055"/>
                  <a:pt x="44425" y="166688"/>
                  <a:pt x="56220" y="166688"/>
                </a:cubicBezTo>
                <a:lnTo>
                  <a:pt x="158093" y="166688"/>
                </a:lnTo>
                <a:cubicBezTo>
                  <a:pt x="169887" y="166688"/>
                  <a:pt x="179896" y="158055"/>
                  <a:pt x="181645" y="146410"/>
                </a:cubicBezTo>
                <a:lnTo>
                  <a:pt x="193774" y="65484"/>
                </a:lnTo>
                <a:cubicBezTo>
                  <a:pt x="201848" y="65336"/>
                  <a:pt x="208359" y="58713"/>
                  <a:pt x="208359" y="50602"/>
                </a:cubicBezTo>
                <a:cubicBezTo>
                  <a:pt x="208359" y="42379"/>
                  <a:pt x="201699" y="35719"/>
                  <a:pt x="193477" y="35719"/>
                </a:cubicBezTo>
                <a:cubicBezTo>
                  <a:pt x="185254" y="35719"/>
                  <a:pt x="178594" y="42379"/>
                  <a:pt x="178594" y="50602"/>
                </a:cubicBezTo>
                <a:cubicBezTo>
                  <a:pt x="178594" y="53727"/>
                  <a:pt x="179561" y="56666"/>
                  <a:pt x="181235" y="59048"/>
                </a:cubicBezTo>
                <a:lnTo>
                  <a:pt x="159134" y="75642"/>
                </a:lnTo>
                <a:cubicBezTo>
                  <a:pt x="153591" y="79809"/>
                  <a:pt x="145666" y="78358"/>
                  <a:pt x="141945" y="72517"/>
                </a:cubicBezTo>
                <a:lnTo>
                  <a:pt x="116458" y="32445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600200"/>
            <a:ext cx="481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Luxury Segment Dominance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943100"/>
            <a:ext cx="4800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revenue engine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61.62% (₹1.04B), indicating successful premium positioning and strong brand equity.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2514600"/>
            <a:ext cx="4724400" cy="609600"/>
          </a:xfrm>
          <a:custGeom>
            <a:avLst/>
            <a:gdLst/>
            <a:ahLst/>
            <a:cxnLst/>
            <a:rect l="l" t="t" r="r" b="b"/>
            <a:pathLst>
              <a:path w="4724400" h="609600">
                <a:moveTo>
                  <a:pt x="38100" y="0"/>
                </a:moveTo>
                <a:lnTo>
                  <a:pt x="4686300" y="0"/>
                </a:lnTo>
                <a:cubicBezTo>
                  <a:pt x="4707328" y="0"/>
                  <a:pt x="4724400" y="17072"/>
                  <a:pt x="4724400" y="38100"/>
                </a:cubicBezTo>
                <a:lnTo>
                  <a:pt x="4724400" y="571500"/>
                </a:lnTo>
                <a:cubicBezTo>
                  <a:pt x="4724400" y="592528"/>
                  <a:pt x="4707328" y="609600"/>
                  <a:pt x="46863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2590800"/>
            <a:ext cx="463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Implication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19200" y="2819400"/>
            <a:ext cx="464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down on luxury experience and expansion.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3390900"/>
            <a:ext cx="5619750" cy="1828800"/>
          </a:xfrm>
          <a:custGeom>
            <a:avLst/>
            <a:gdLst/>
            <a:ahLst/>
            <a:cxnLst/>
            <a:rect l="l" t="t" r="r" b="b"/>
            <a:pathLst>
              <a:path w="5619750" h="1828800">
                <a:moveTo>
                  <a:pt x="38100" y="0"/>
                </a:moveTo>
                <a:lnTo>
                  <a:pt x="5543544" y="0"/>
                </a:lnTo>
                <a:cubicBezTo>
                  <a:pt x="5585631" y="0"/>
                  <a:pt x="5619750" y="34119"/>
                  <a:pt x="5619750" y="76206"/>
                </a:cubicBezTo>
                <a:lnTo>
                  <a:pt x="5619750" y="1752594"/>
                </a:lnTo>
                <a:cubicBezTo>
                  <a:pt x="5619750" y="1794681"/>
                  <a:pt x="5585631" y="1828800"/>
                  <a:pt x="5543544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400050" y="33909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" y="3543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16756" y="36766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47625" y="95250"/>
                </a:moveTo>
                <a:cubicBezTo>
                  <a:pt x="41039" y="95250"/>
                  <a:pt x="35719" y="100571"/>
                  <a:pt x="35719" y="107156"/>
                </a:cubicBezTo>
                <a:lnTo>
                  <a:pt x="35719" y="130969"/>
                </a:lnTo>
                <a:cubicBezTo>
                  <a:pt x="35719" y="137554"/>
                  <a:pt x="41039" y="142875"/>
                  <a:pt x="47625" y="142875"/>
                </a:cubicBezTo>
                <a:lnTo>
                  <a:pt x="119063" y="142875"/>
                </a:lnTo>
                <a:cubicBezTo>
                  <a:pt x="125648" y="142875"/>
                  <a:pt x="130969" y="137554"/>
                  <a:pt x="130969" y="130969"/>
                </a:cubicBezTo>
                <a:lnTo>
                  <a:pt x="130969" y="107156"/>
                </a:lnTo>
                <a:cubicBezTo>
                  <a:pt x="130969" y="100571"/>
                  <a:pt x="125648" y="95250"/>
                  <a:pt x="119063" y="95250"/>
                </a:cubicBezTo>
                <a:lnTo>
                  <a:pt x="47625" y="9525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3543300"/>
            <a:ext cx="481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Weekend Demand Peaks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886200"/>
            <a:ext cx="4800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Weekend RevPAR 12.5% higher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(₹7,972 vs ₹7,083), confirming leisure-driven demand and successful weekend positioning.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3000" y="4457700"/>
            <a:ext cx="4724400" cy="609600"/>
          </a:xfrm>
          <a:custGeom>
            <a:avLst/>
            <a:gdLst/>
            <a:ahLst/>
            <a:cxnLst/>
            <a:rect l="l" t="t" r="r" b="b"/>
            <a:pathLst>
              <a:path w="4724400" h="609600">
                <a:moveTo>
                  <a:pt x="38100" y="0"/>
                </a:moveTo>
                <a:lnTo>
                  <a:pt x="4686300" y="0"/>
                </a:lnTo>
                <a:cubicBezTo>
                  <a:pt x="4707328" y="0"/>
                  <a:pt x="4724400" y="17072"/>
                  <a:pt x="4724400" y="38100"/>
                </a:cubicBezTo>
                <a:lnTo>
                  <a:pt x="4724400" y="571500"/>
                </a:lnTo>
                <a:cubicBezTo>
                  <a:pt x="4724400" y="592528"/>
                  <a:pt x="4707328" y="609600"/>
                  <a:pt x="46863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19200" y="4533900"/>
            <a:ext cx="463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Implication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" y="4762500"/>
            <a:ext cx="464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on weekday demand stimulation.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1447800"/>
            <a:ext cx="5619750" cy="1828800"/>
          </a:xfrm>
          <a:custGeom>
            <a:avLst/>
            <a:gdLst/>
            <a:ahLst/>
            <a:cxnLst/>
            <a:rect l="l" t="t" r="r" b="b"/>
            <a:pathLst>
              <a:path w="5619750" h="1828800">
                <a:moveTo>
                  <a:pt x="38100" y="0"/>
                </a:moveTo>
                <a:lnTo>
                  <a:pt x="5543544" y="0"/>
                </a:lnTo>
                <a:cubicBezTo>
                  <a:pt x="5585631" y="0"/>
                  <a:pt x="5619750" y="34119"/>
                  <a:pt x="5619750" y="76206"/>
                </a:cubicBezTo>
                <a:lnTo>
                  <a:pt x="5619750" y="1752594"/>
                </a:lnTo>
                <a:cubicBezTo>
                  <a:pt x="5619750" y="1794681"/>
                  <a:pt x="5585631" y="1828800"/>
                  <a:pt x="5543544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6191250" y="14478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5" name="Shape 23"/>
          <p:cNvSpPr/>
          <p:nvPr/>
        </p:nvSpPr>
        <p:spPr>
          <a:xfrm>
            <a:off x="63627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19863" y="17335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70172"/>
                </a:moveTo>
                <a:cubicBezTo>
                  <a:pt x="0" y="31403"/>
                  <a:pt x="31998" y="0"/>
                  <a:pt x="71438" y="0"/>
                </a:cubicBezTo>
                <a:cubicBezTo>
                  <a:pt x="110877" y="0"/>
                  <a:pt x="142875" y="31403"/>
                  <a:pt x="142875" y="70172"/>
                </a:cubicBezTo>
                <a:cubicBezTo>
                  <a:pt x="142875" y="114560"/>
                  <a:pt x="98152" y="167767"/>
                  <a:pt x="79474" y="188044"/>
                </a:cubicBezTo>
                <a:cubicBezTo>
                  <a:pt x="75084" y="192807"/>
                  <a:pt x="67754" y="192807"/>
                  <a:pt x="63364" y="188044"/>
                </a:cubicBezTo>
                <a:cubicBezTo>
                  <a:pt x="44686" y="167767"/>
                  <a:pt x="-37" y="114560"/>
                  <a:pt x="-37" y="70172"/>
                </a:cubicBezTo>
                <a:close/>
                <a:moveTo>
                  <a:pt x="71438" y="95250"/>
                </a:moveTo>
                <a:cubicBezTo>
                  <a:pt x="84580" y="95250"/>
                  <a:pt x="95250" y="84580"/>
                  <a:pt x="95250" y="71438"/>
                </a:cubicBezTo>
                <a:cubicBezTo>
                  <a:pt x="95250" y="58295"/>
                  <a:pt x="84580" y="47625"/>
                  <a:pt x="71438" y="47625"/>
                </a:cubicBezTo>
                <a:cubicBezTo>
                  <a:pt x="58295" y="47625"/>
                  <a:pt x="47625" y="58295"/>
                  <a:pt x="47625" y="71438"/>
                </a:cubicBezTo>
                <a:cubicBezTo>
                  <a:pt x="47625" y="84580"/>
                  <a:pt x="58295" y="95250"/>
                  <a:pt x="71438" y="9525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6934200" y="1600200"/>
            <a:ext cx="481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Property-Level Variations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34200" y="1943100"/>
            <a:ext cx="4800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13-point occupancy gap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top and bottom performers indicates significant optimization potential.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34200" y="2514600"/>
            <a:ext cx="4724400" cy="609600"/>
          </a:xfrm>
          <a:custGeom>
            <a:avLst/>
            <a:gdLst/>
            <a:ahLst/>
            <a:cxnLst/>
            <a:rect l="l" t="t" r="r" b="b"/>
            <a:pathLst>
              <a:path w="4724400" h="609600">
                <a:moveTo>
                  <a:pt x="38100" y="0"/>
                </a:moveTo>
                <a:lnTo>
                  <a:pt x="4686300" y="0"/>
                </a:lnTo>
                <a:cubicBezTo>
                  <a:pt x="4707328" y="0"/>
                  <a:pt x="4724400" y="17072"/>
                  <a:pt x="4724400" y="38100"/>
                </a:cubicBezTo>
                <a:lnTo>
                  <a:pt x="4724400" y="571500"/>
                </a:lnTo>
                <a:cubicBezTo>
                  <a:pt x="4724400" y="592528"/>
                  <a:pt x="4707328" y="609600"/>
                  <a:pt x="46863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010400" y="2590800"/>
            <a:ext cx="463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Implication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10400" y="2819400"/>
            <a:ext cx="464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Benchmark and replicate top performer strategies.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250" y="3390900"/>
            <a:ext cx="5619750" cy="1828800"/>
          </a:xfrm>
          <a:custGeom>
            <a:avLst/>
            <a:gdLst/>
            <a:ahLst/>
            <a:cxnLst/>
            <a:rect l="l" t="t" r="r" b="b"/>
            <a:pathLst>
              <a:path w="5619750" h="1828800">
                <a:moveTo>
                  <a:pt x="38100" y="0"/>
                </a:moveTo>
                <a:lnTo>
                  <a:pt x="5543544" y="0"/>
                </a:lnTo>
                <a:cubicBezTo>
                  <a:pt x="5585631" y="0"/>
                  <a:pt x="5619750" y="34119"/>
                  <a:pt x="5619750" y="76206"/>
                </a:cubicBezTo>
                <a:lnTo>
                  <a:pt x="5619750" y="1752594"/>
                </a:lnTo>
                <a:cubicBezTo>
                  <a:pt x="5619750" y="1794681"/>
                  <a:pt x="5585631" y="1828800"/>
                  <a:pt x="5543544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3" name="Shape 31"/>
          <p:cNvSpPr/>
          <p:nvPr/>
        </p:nvSpPr>
        <p:spPr>
          <a:xfrm>
            <a:off x="6191250" y="33909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4" name="Shape 32"/>
          <p:cNvSpPr/>
          <p:nvPr/>
        </p:nvSpPr>
        <p:spPr>
          <a:xfrm>
            <a:off x="6362700" y="3543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96050" y="3676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0242" y="12799"/>
                </a:moveTo>
                <a:cubicBezTo>
                  <a:pt x="154707" y="10939"/>
                  <a:pt x="159804" y="11981"/>
                  <a:pt x="163227" y="15367"/>
                </a:cubicBezTo>
                <a:lnTo>
                  <a:pt x="187040" y="39179"/>
                </a:lnTo>
                <a:cubicBezTo>
                  <a:pt x="189272" y="41411"/>
                  <a:pt x="190537" y="44425"/>
                  <a:pt x="190537" y="47588"/>
                </a:cubicBezTo>
                <a:cubicBezTo>
                  <a:pt x="190537" y="50750"/>
                  <a:pt x="189272" y="53764"/>
                  <a:pt x="187040" y="55997"/>
                </a:cubicBezTo>
                <a:lnTo>
                  <a:pt x="163227" y="79809"/>
                </a:lnTo>
                <a:cubicBezTo>
                  <a:pt x="159804" y="83232"/>
                  <a:pt x="154707" y="84237"/>
                  <a:pt x="150242" y="82376"/>
                </a:cubicBezTo>
                <a:cubicBezTo>
                  <a:pt x="145777" y="80516"/>
                  <a:pt x="142875" y="76237"/>
                  <a:pt x="142875" y="71438"/>
                </a:cubicBezTo>
                <a:lnTo>
                  <a:pt x="142875" y="59531"/>
                </a:lnTo>
                <a:lnTo>
                  <a:pt x="130969" y="59531"/>
                </a:lnTo>
                <a:cubicBezTo>
                  <a:pt x="127211" y="59531"/>
                  <a:pt x="123676" y="61280"/>
                  <a:pt x="121444" y="64294"/>
                </a:cubicBezTo>
                <a:lnTo>
                  <a:pt x="109389" y="80367"/>
                </a:lnTo>
                <a:lnTo>
                  <a:pt x="94506" y="60536"/>
                </a:lnTo>
                <a:lnTo>
                  <a:pt x="102394" y="50006"/>
                </a:lnTo>
                <a:cubicBezTo>
                  <a:pt x="109128" y="41002"/>
                  <a:pt x="119732" y="35719"/>
                  <a:pt x="130969" y="35719"/>
                </a:cubicBezTo>
                <a:lnTo>
                  <a:pt x="142875" y="35719"/>
                </a:lnTo>
                <a:lnTo>
                  <a:pt x="142875" y="23812"/>
                </a:lnTo>
                <a:cubicBezTo>
                  <a:pt x="142875" y="19013"/>
                  <a:pt x="145777" y="14660"/>
                  <a:pt x="150242" y="12799"/>
                </a:cubicBezTo>
                <a:close/>
                <a:moveTo>
                  <a:pt x="57299" y="110133"/>
                </a:moveTo>
                <a:lnTo>
                  <a:pt x="72182" y="129964"/>
                </a:lnTo>
                <a:lnTo>
                  <a:pt x="64294" y="140494"/>
                </a:lnTo>
                <a:cubicBezTo>
                  <a:pt x="57559" y="149498"/>
                  <a:pt x="46955" y="154781"/>
                  <a:pt x="35719" y="154781"/>
                </a:cubicBezTo>
                <a:lnTo>
                  <a:pt x="11906" y="154781"/>
                </a:lnTo>
                <a:cubicBezTo>
                  <a:pt x="5321" y="154781"/>
                  <a:pt x="0" y="149461"/>
                  <a:pt x="0" y="142875"/>
                </a:cubicBezTo>
                <a:cubicBezTo>
                  <a:pt x="0" y="136289"/>
                  <a:pt x="5321" y="130969"/>
                  <a:pt x="11906" y="130969"/>
                </a:cubicBezTo>
                <a:lnTo>
                  <a:pt x="35719" y="130969"/>
                </a:lnTo>
                <a:cubicBezTo>
                  <a:pt x="39477" y="130969"/>
                  <a:pt x="43011" y="129220"/>
                  <a:pt x="45244" y="126206"/>
                </a:cubicBezTo>
                <a:lnTo>
                  <a:pt x="57299" y="110133"/>
                </a:lnTo>
                <a:close/>
                <a:moveTo>
                  <a:pt x="163190" y="175096"/>
                </a:moveTo>
                <a:cubicBezTo>
                  <a:pt x="159767" y="178519"/>
                  <a:pt x="154670" y="179524"/>
                  <a:pt x="150205" y="177664"/>
                </a:cubicBezTo>
                <a:cubicBezTo>
                  <a:pt x="145740" y="175803"/>
                  <a:pt x="142875" y="171487"/>
                  <a:pt x="142875" y="166688"/>
                </a:cubicBezTo>
                <a:lnTo>
                  <a:pt x="142875" y="154781"/>
                </a:lnTo>
                <a:lnTo>
                  <a:pt x="130969" y="154781"/>
                </a:lnTo>
                <a:cubicBezTo>
                  <a:pt x="119732" y="154781"/>
                  <a:pt x="109128" y="149498"/>
                  <a:pt x="102394" y="140494"/>
                </a:cubicBezTo>
                <a:lnTo>
                  <a:pt x="45244" y="64294"/>
                </a:lnTo>
                <a:cubicBezTo>
                  <a:pt x="43011" y="61280"/>
                  <a:pt x="39477" y="59531"/>
                  <a:pt x="35719" y="59531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cubicBezTo>
                  <a:pt x="46955" y="35719"/>
                  <a:pt x="57559" y="41002"/>
                  <a:pt x="64294" y="50006"/>
                </a:cubicBezTo>
                <a:lnTo>
                  <a:pt x="121444" y="126206"/>
                </a:lnTo>
                <a:cubicBezTo>
                  <a:pt x="123676" y="129220"/>
                  <a:pt x="127211" y="130969"/>
                  <a:pt x="130969" y="130969"/>
                </a:cubicBezTo>
                <a:lnTo>
                  <a:pt x="142875" y="130969"/>
                </a:lnTo>
                <a:lnTo>
                  <a:pt x="142875" y="119063"/>
                </a:lnTo>
                <a:cubicBezTo>
                  <a:pt x="142875" y="114263"/>
                  <a:pt x="145777" y="109910"/>
                  <a:pt x="150242" y="108049"/>
                </a:cubicBezTo>
                <a:cubicBezTo>
                  <a:pt x="154707" y="106189"/>
                  <a:pt x="159804" y="107231"/>
                  <a:pt x="163227" y="110617"/>
                </a:cubicBezTo>
                <a:lnTo>
                  <a:pt x="187040" y="134429"/>
                </a:lnTo>
                <a:cubicBezTo>
                  <a:pt x="189272" y="136661"/>
                  <a:pt x="190537" y="139675"/>
                  <a:pt x="190537" y="142838"/>
                </a:cubicBezTo>
                <a:cubicBezTo>
                  <a:pt x="190537" y="146000"/>
                  <a:pt x="189272" y="149014"/>
                  <a:pt x="187040" y="151247"/>
                </a:cubicBezTo>
                <a:lnTo>
                  <a:pt x="163227" y="175059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6" name="Text 34"/>
          <p:cNvSpPr/>
          <p:nvPr/>
        </p:nvSpPr>
        <p:spPr>
          <a:xfrm>
            <a:off x="6934200" y="3543300"/>
            <a:ext cx="481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Channel Mix Effects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34200" y="3886200"/>
            <a:ext cx="4800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 variation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ADR and realisation across booking platforms, with direct channels achieving 95% realisation.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934200" y="4457700"/>
            <a:ext cx="4724400" cy="609600"/>
          </a:xfrm>
          <a:custGeom>
            <a:avLst/>
            <a:gdLst/>
            <a:ahLst/>
            <a:cxnLst/>
            <a:rect l="l" t="t" r="r" b="b"/>
            <a:pathLst>
              <a:path w="4724400" h="609600">
                <a:moveTo>
                  <a:pt x="38100" y="0"/>
                </a:moveTo>
                <a:lnTo>
                  <a:pt x="4686300" y="0"/>
                </a:lnTo>
                <a:cubicBezTo>
                  <a:pt x="4707328" y="0"/>
                  <a:pt x="4724400" y="17072"/>
                  <a:pt x="4724400" y="38100"/>
                </a:cubicBezTo>
                <a:lnTo>
                  <a:pt x="4724400" y="571500"/>
                </a:lnTo>
                <a:cubicBezTo>
                  <a:pt x="4724400" y="592528"/>
                  <a:pt x="4707328" y="609600"/>
                  <a:pt x="46863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010400" y="4533900"/>
            <a:ext cx="463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Implication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10400" y="4762500"/>
            <a:ext cx="464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Prioritize direct bookings and optimize channel mix.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5372100"/>
            <a:ext cx="11410950" cy="1143000"/>
          </a:xfrm>
          <a:custGeom>
            <a:avLst/>
            <a:gdLst/>
            <a:ahLst/>
            <a:cxnLst/>
            <a:rect l="l" t="t" r="r" b="b"/>
            <a:pathLst>
              <a:path w="11410950" h="1143000">
                <a:moveTo>
                  <a:pt x="38100" y="0"/>
                </a:moveTo>
                <a:lnTo>
                  <a:pt x="11334746" y="0"/>
                </a:lnTo>
                <a:cubicBezTo>
                  <a:pt x="11376832" y="0"/>
                  <a:pt x="11410950" y="34118"/>
                  <a:pt x="11410950" y="76204"/>
                </a:cubicBezTo>
                <a:lnTo>
                  <a:pt x="11410950" y="1066796"/>
                </a:lnTo>
                <a:cubicBezTo>
                  <a:pt x="11410950" y="1108882"/>
                  <a:pt x="11376832" y="1143000"/>
                  <a:pt x="11334746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400050" y="53721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" y="552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04850" y="5657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5" name="Text 43"/>
          <p:cNvSpPr/>
          <p:nvPr/>
        </p:nvSpPr>
        <p:spPr>
          <a:xfrm>
            <a:off x="1181100" y="5524500"/>
            <a:ext cx="1057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Connecting Data Patterns to Market Dynamics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81100" y="5867400"/>
            <a:ext cx="10553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analysis reveals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core business drivers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premium positioning strength, leisure demand patterns, and operational inconsistencies. These patterns establish a clear foundation for targeted interventions: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 luxury dominance, bridge weekday gaps, and standardize excellence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0F0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Business Recommendations &amp; Action Plan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8890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Prioritized strategic initiatives across four pillars for revenue optimization and operational excellence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3850" y="1212850"/>
            <a:ext cx="5703887" cy="2646373"/>
          </a:xfrm>
          <a:custGeom>
            <a:avLst/>
            <a:gdLst/>
            <a:ahLst/>
            <a:cxnLst/>
            <a:rect l="l" t="t" r="r" b="b"/>
            <a:pathLst>
              <a:path w="5703887" h="2646373">
                <a:moveTo>
                  <a:pt x="63514" y="0"/>
                </a:moveTo>
                <a:lnTo>
                  <a:pt x="5640374" y="0"/>
                </a:lnTo>
                <a:cubicBezTo>
                  <a:pt x="5675451" y="0"/>
                  <a:pt x="5703887" y="26291"/>
                  <a:pt x="5703887" y="58723"/>
                </a:cubicBezTo>
                <a:lnTo>
                  <a:pt x="5703887" y="2587650"/>
                </a:lnTo>
                <a:cubicBezTo>
                  <a:pt x="5703887" y="2620082"/>
                  <a:pt x="5675451" y="2646373"/>
                  <a:pt x="5640374" y="2646373"/>
                </a:cubicBezTo>
                <a:lnTo>
                  <a:pt x="63514" y="2646373"/>
                </a:lnTo>
                <a:cubicBezTo>
                  <a:pt x="28436" y="2646373"/>
                  <a:pt x="0" y="2620082"/>
                  <a:pt x="0" y="2587650"/>
                </a:cubicBezTo>
                <a:lnTo>
                  <a:pt x="0" y="58723"/>
                </a:lnTo>
                <a:cubicBezTo>
                  <a:pt x="0" y="26313"/>
                  <a:pt x="28459" y="0"/>
                  <a:pt x="63514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5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4619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6497" y="143350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5719" y="26789"/>
                </a:moveTo>
                <a:lnTo>
                  <a:pt x="35719" y="22324"/>
                </a:lnTo>
                <a:cubicBezTo>
                  <a:pt x="35719" y="9990"/>
                  <a:pt x="59717" y="0"/>
                  <a:pt x="89297" y="0"/>
                </a:cubicBezTo>
                <a:cubicBezTo>
                  <a:pt x="118876" y="0"/>
                  <a:pt x="142875" y="9990"/>
                  <a:pt x="142875" y="22324"/>
                </a:cubicBezTo>
                <a:lnTo>
                  <a:pt x="142875" y="26789"/>
                </a:lnTo>
                <a:cubicBezTo>
                  <a:pt x="142875" y="35328"/>
                  <a:pt x="131350" y="42751"/>
                  <a:pt x="114412" y="46518"/>
                </a:cubicBezTo>
                <a:cubicBezTo>
                  <a:pt x="113742" y="45737"/>
                  <a:pt x="113044" y="44983"/>
                  <a:pt x="112347" y="44286"/>
                </a:cubicBezTo>
                <a:cubicBezTo>
                  <a:pt x="108021" y="40016"/>
                  <a:pt x="102440" y="36779"/>
                  <a:pt x="96608" y="34379"/>
                </a:cubicBezTo>
                <a:cubicBezTo>
                  <a:pt x="84916" y="29496"/>
                  <a:pt x="69679" y="26817"/>
                  <a:pt x="53578" y="26817"/>
                </a:cubicBezTo>
                <a:cubicBezTo>
                  <a:pt x="47467" y="26817"/>
                  <a:pt x="41495" y="27208"/>
                  <a:pt x="35775" y="27961"/>
                </a:cubicBezTo>
                <a:cubicBezTo>
                  <a:pt x="35719" y="27598"/>
                  <a:pt x="35719" y="27208"/>
                  <a:pt x="35719" y="26817"/>
                </a:cubicBezTo>
                <a:close/>
                <a:moveTo>
                  <a:pt x="120551" y="98506"/>
                </a:moveTo>
                <a:lnTo>
                  <a:pt x="120551" y="85613"/>
                </a:lnTo>
                <a:cubicBezTo>
                  <a:pt x="124764" y="84525"/>
                  <a:pt x="128727" y="83241"/>
                  <a:pt x="132327" y="81735"/>
                </a:cubicBezTo>
                <a:cubicBezTo>
                  <a:pt x="136010" y="80200"/>
                  <a:pt x="139610" y="78330"/>
                  <a:pt x="142875" y="76070"/>
                </a:cubicBezTo>
                <a:lnTo>
                  <a:pt x="142875" y="80367"/>
                </a:lnTo>
                <a:cubicBezTo>
                  <a:pt x="142875" y="87846"/>
                  <a:pt x="134085" y="94459"/>
                  <a:pt x="120551" y="98506"/>
                </a:cubicBezTo>
                <a:close/>
                <a:moveTo>
                  <a:pt x="120551" y="71717"/>
                </a:moveTo>
                <a:lnTo>
                  <a:pt x="120551" y="62508"/>
                </a:lnTo>
                <a:cubicBezTo>
                  <a:pt x="120551" y="61252"/>
                  <a:pt x="120439" y="60052"/>
                  <a:pt x="120272" y="58880"/>
                </a:cubicBezTo>
                <a:cubicBezTo>
                  <a:pt x="124597" y="57792"/>
                  <a:pt x="128643" y="56480"/>
                  <a:pt x="132327" y="54918"/>
                </a:cubicBezTo>
                <a:cubicBezTo>
                  <a:pt x="136010" y="53355"/>
                  <a:pt x="139610" y="51513"/>
                  <a:pt x="142875" y="49253"/>
                </a:cubicBezTo>
                <a:lnTo>
                  <a:pt x="142875" y="53550"/>
                </a:lnTo>
                <a:cubicBezTo>
                  <a:pt x="142875" y="61029"/>
                  <a:pt x="134085" y="67642"/>
                  <a:pt x="120551" y="71689"/>
                </a:cubicBezTo>
                <a:close/>
                <a:moveTo>
                  <a:pt x="0" y="66973"/>
                </a:moveTo>
                <a:lnTo>
                  <a:pt x="0" y="62508"/>
                </a:lnTo>
                <a:cubicBezTo>
                  <a:pt x="0" y="50174"/>
                  <a:pt x="23999" y="40184"/>
                  <a:pt x="53578" y="40184"/>
                </a:cubicBezTo>
                <a:cubicBezTo>
                  <a:pt x="83158" y="40184"/>
                  <a:pt x="107156" y="50174"/>
                  <a:pt x="107156" y="62508"/>
                </a:cubicBezTo>
                <a:lnTo>
                  <a:pt x="107156" y="66973"/>
                </a:lnTo>
                <a:cubicBezTo>
                  <a:pt x="107156" y="79307"/>
                  <a:pt x="83158" y="89297"/>
                  <a:pt x="53578" y="89297"/>
                </a:cubicBezTo>
                <a:cubicBezTo>
                  <a:pt x="23999" y="89297"/>
                  <a:pt x="0" y="79307"/>
                  <a:pt x="0" y="66973"/>
                </a:cubicBezTo>
                <a:close/>
                <a:moveTo>
                  <a:pt x="107156" y="93762"/>
                </a:moveTo>
                <a:cubicBezTo>
                  <a:pt x="107156" y="106096"/>
                  <a:pt x="83158" y="116086"/>
                  <a:pt x="53578" y="116086"/>
                </a:cubicBezTo>
                <a:cubicBezTo>
                  <a:pt x="23999" y="116086"/>
                  <a:pt x="0" y="106096"/>
                  <a:pt x="0" y="93762"/>
                </a:cubicBezTo>
                <a:lnTo>
                  <a:pt x="0" y="89464"/>
                </a:lnTo>
                <a:cubicBezTo>
                  <a:pt x="3237" y="91725"/>
                  <a:pt x="6837" y="93566"/>
                  <a:pt x="10548" y="95129"/>
                </a:cubicBezTo>
                <a:cubicBezTo>
                  <a:pt x="22241" y="100013"/>
                  <a:pt x="37477" y="102691"/>
                  <a:pt x="53578" y="102691"/>
                </a:cubicBezTo>
                <a:cubicBezTo>
                  <a:pt x="69679" y="102691"/>
                  <a:pt x="84916" y="99985"/>
                  <a:pt x="96608" y="95129"/>
                </a:cubicBezTo>
                <a:cubicBezTo>
                  <a:pt x="100292" y="93594"/>
                  <a:pt x="103891" y="91725"/>
                  <a:pt x="107156" y="89464"/>
                </a:cubicBezTo>
                <a:lnTo>
                  <a:pt x="107156" y="93762"/>
                </a:lnTo>
                <a:close/>
                <a:moveTo>
                  <a:pt x="107156" y="116253"/>
                </a:moveTo>
                <a:lnTo>
                  <a:pt x="107156" y="120551"/>
                </a:lnTo>
                <a:cubicBezTo>
                  <a:pt x="107156" y="132885"/>
                  <a:pt x="83158" y="142875"/>
                  <a:pt x="53578" y="142875"/>
                </a:cubicBezTo>
                <a:cubicBezTo>
                  <a:pt x="23999" y="142875"/>
                  <a:pt x="0" y="132885"/>
                  <a:pt x="0" y="120551"/>
                </a:cubicBezTo>
                <a:lnTo>
                  <a:pt x="0" y="116253"/>
                </a:lnTo>
                <a:cubicBezTo>
                  <a:pt x="3237" y="118514"/>
                  <a:pt x="6837" y="120355"/>
                  <a:pt x="10548" y="121918"/>
                </a:cubicBezTo>
                <a:cubicBezTo>
                  <a:pt x="22241" y="126802"/>
                  <a:pt x="37477" y="129480"/>
                  <a:pt x="53578" y="129480"/>
                </a:cubicBezTo>
                <a:cubicBezTo>
                  <a:pt x="69679" y="129480"/>
                  <a:pt x="84916" y="126774"/>
                  <a:pt x="96608" y="121918"/>
                </a:cubicBezTo>
                <a:cubicBezTo>
                  <a:pt x="100292" y="120383"/>
                  <a:pt x="103891" y="118514"/>
                  <a:pt x="107156" y="11625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869950" y="1393822"/>
            <a:ext cx="1317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Strategy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758947"/>
            <a:ext cx="5437188" cy="508000"/>
          </a:xfrm>
          <a:custGeom>
            <a:avLst/>
            <a:gdLst/>
            <a:ahLst/>
            <a:cxnLst/>
            <a:rect l="l" t="t" r="r" b="b"/>
            <a:pathLst>
              <a:path w="5437188" h="508000">
                <a:moveTo>
                  <a:pt x="63500" y="0"/>
                </a:moveTo>
                <a:lnTo>
                  <a:pt x="5373688" y="0"/>
                </a:lnTo>
                <a:cubicBezTo>
                  <a:pt x="5408734" y="0"/>
                  <a:pt x="5437188" y="28453"/>
                  <a:pt x="5437188" y="63500"/>
                </a:cubicBezTo>
                <a:lnTo>
                  <a:pt x="5437188" y="444500"/>
                </a:lnTo>
                <a:cubicBezTo>
                  <a:pt x="5437188" y="479547"/>
                  <a:pt x="5408734" y="508000"/>
                  <a:pt x="5373688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20700" y="1822447"/>
            <a:ext cx="537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Luxury Segment Expansion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0700" y="2044697"/>
            <a:ext cx="536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Capitalize on 61.62% revenue contribution.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330451"/>
            <a:ext cx="5437188" cy="508000"/>
          </a:xfrm>
          <a:custGeom>
            <a:avLst/>
            <a:gdLst/>
            <a:ahLst/>
            <a:cxnLst/>
            <a:rect l="l" t="t" r="r" b="b"/>
            <a:pathLst>
              <a:path w="5437188" h="508000">
                <a:moveTo>
                  <a:pt x="63500" y="0"/>
                </a:moveTo>
                <a:lnTo>
                  <a:pt x="5373688" y="0"/>
                </a:lnTo>
                <a:cubicBezTo>
                  <a:pt x="5408734" y="0"/>
                  <a:pt x="5437188" y="28453"/>
                  <a:pt x="5437188" y="63500"/>
                </a:cubicBezTo>
                <a:lnTo>
                  <a:pt x="5437188" y="444500"/>
                </a:lnTo>
                <a:cubicBezTo>
                  <a:pt x="5437188" y="479547"/>
                  <a:pt x="5408734" y="508000"/>
                  <a:pt x="5373688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20700" y="2393951"/>
            <a:ext cx="537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Weekday Promotions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0700" y="2616201"/>
            <a:ext cx="536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Bridge 12.5% RevPAR gap with targeted campaigns.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901951"/>
            <a:ext cx="5437188" cy="508000"/>
          </a:xfrm>
          <a:custGeom>
            <a:avLst/>
            <a:gdLst/>
            <a:ahLst/>
            <a:cxnLst/>
            <a:rect l="l" t="t" r="r" b="b"/>
            <a:pathLst>
              <a:path w="5437188" h="508000">
                <a:moveTo>
                  <a:pt x="63500" y="0"/>
                </a:moveTo>
                <a:lnTo>
                  <a:pt x="5373688" y="0"/>
                </a:lnTo>
                <a:cubicBezTo>
                  <a:pt x="5408734" y="0"/>
                  <a:pt x="5437188" y="28453"/>
                  <a:pt x="5437188" y="63500"/>
                </a:cubicBezTo>
                <a:lnTo>
                  <a:pt x="5437188" y="444500"/>
                </a:lnTo>
                <a:cubicBezTo>
                  <a:pt x="5437188" y="479547"/>
                  <a:pt x="5408734" y="508000"/>
                  <a:pt x="5373688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20700" y="2965451"/>
            <a:ext cx="537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Pricing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0700" y="3187701"/>
            <a:ext cx="536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demand-based pricing during peak weeks.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65850" y="1212850"/>
            <a:ext cx="5703887" cy="2646373"/>
          </a:xfrm>
          <a:custGeom>
            <a:avLst/>
            <a:gdLst/>
            <a:ahLst/>
            <a:cxnLst/>
            <a:rect l="l" t="t" r="r" b="b"/>
            <a:pathLst>
              <a:path w="5703887" h="2646373">
                <a:moveTo>
                  <a:pt x="63514" y="0"/>
                </a:moveTo>
                <a:lnTo>
                  <a:pt x="5640374" y="0"/>
                </a:lnTo>
                <a:cubicBezTo>
                  <a:pt x="5675451" y="0"/>
                  <a:pt x="5703887" y="26291"/>
                  <a:pt x="5703887" y="58723"/>
                </a:cubicBezTo>
                <a:lnTo>
                  <a:pt x="5703887" y="2587650"/>
                </a:lnTo>
                <a:cubicBezTo>
                  <a:pt x="5703887" y="2620082"/>
                  <a:pt x="5675451" y="2646373"/>
                  <a:pt x="5640374" y="2646373"/>
                </a:cubicBezTo>
                <a:lnTo>
                  <a:pt x="63514" y="2646373"/>
                </a:lnTo>
                <a:cubicBezTo>
                  <a:pt x="28436" y="2646373"/>
                  <a:pt x="0" y="2620082"/>
                  <a:pt x="0" y="2587650"/>
                </a:cubicBezTo>
                <a:lnTo>
                  <a:pt x="0" y="58723"/>
                </a:lnTo>
                <a:cubicBezTo>
                  <a:pt x="0" y="26313"/>
                  <a:pt x="28459" y="0"/>
                  <a:pt x="6351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5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032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99200" y="134619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70638" y="1433509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116058" y="58741"/>
                </a:moveTo>
                <a:cubicBezTo>
                  <a:pt x="119462" y="57820"/>
                  <a:pt x="123034" y="59438"/>
                  <a:pt x="124569" y="62592"/>
                </a:cubicBezTo>
                <a:lnTo>
                  <a:pt x="129760" y="73084"/>
                </a:lnTo>
                <a:cubicBezTo>
                  <a:pt x="132634" y="73475"/>
                  <a:pt x="135452" y="74256"/>
                  <a:pt x="138103" y="75344"/>
                </a:cubicBezTo>
                <a:lnTo>
                  <a:pt x="147870" y="68842"/>
                </a:lnTo>
                <a:cubicBezTo>
                  <a:pt x="150800" y="66889"/>
                  <a:pt x="154679" y="67280"/>
                  <a:pt x="157162" y="69763"/>
                </a:cubicBezTo>
                <a:lnTo>
                  <a:pt x="162520" y="75121"/>
                </a:lnTo>
                <a:cubicBezTo>
                  <a:pt x="165004" y="77605"/>
                  <a:pt x="165395" y="81511"/>
                  <a:pt x="163441" y="84413"/>
                </a:cubicBezTo>
                <a:lnTo>
                  <a:pt x="156939" y="94152"/>
                </a:lnTo>
                <a:cubicBezTo>
                  <a:pt x="157469" y="95464"/>
                  <a:pt x="157944" y="96831"/>
                  <a:pt x="158335" y="98254"/>
                </a:cubicBezTo>
                <a:cubicBezTo>
                  <a:pt x="158725" y="99678"/>
                  <a:pt x="158976" y="101073"/>
                  <a:pt x="159172" y="102496"/>
                </a:cubicBezTo>
                <a:lnTo>
                  <a:pt x="169692" y="107686"/>
                </a:lnTo>
                <a:cubicBezTo>
                  <a:pt x="172845" y="109249"/>
                  <a:pt x="174464" y="112821"/>
                  <a:pt x="173543" y="116198"/>
                </a:cubicBezTo>
                <a:lnTo>
                  <a:pt x="171590" y="123509"/>
                </a:lnTo>
                <a:cubicBezTo>
                  <a:pt x="170669" y="126885"/>
                  <a:pt x="167515" y="129174"/>
                  <a:pt x="163999" y="128950"/>
                </a:cubicBezTo>
                <a:lnTo>
                  <a:pt x="152279" y="128197"/>
                </a:lnTo>
                <a:cubicBezTo>
                  <a:pt x="150521" y="130457"/>
                  <a:pt x="148484" y="132550"/>
                  <a:pt x="146168" y="134336"/>
                </a:cubicBezTo>
                <a:lnTo>
                  <a:pt x="146921" y="146028"/>
                </a:lnTo>
                <a:cubicBezTo>
                  <a:pt x="147145" y="149544"/>
                  <a:pt x="144856" y="152726"/>
                  <a:pt x="141480" y="153619"/>
                </a:cubicBezTo>
                <a:lnTo>
                  <a:pt x="134169" y="155572"/>
                </a:lnTo>
                <a:cubicBezTo>
                  <a:pt x="130764" y="156493"/>
                  <a:pt x="127220" y="154874"/>
                  <a:pt x="125657" y="151721"/>
                </a:cubicBezTo>
                <a:lnTo>
                  <a:pt x="120467" y="141229"/>
                </a:lnTo>
                <a:cubicBezTo>
                  <a:pt x="117593" y="140838"/>
                  <a:pt x="114774" y="140057"/>
                  <a:pt x="112123" y="138968"/>
                </a:cubicBezTo>
                <a:lnTo>
                  <a:pt x="102357" y="145470"/>
                </a:lnTo>
                <a:cubicBezTo>
                  <a:pt x="99426" y="147424"/>
                  <a:pt x="95548" y="147033"/>
                  <a:pt x="93064" y="144549"/>
                </a:cubicBezTo>
                <a:lnTo>
                  <a:pt x="87706" y="139192"/>
                </a:lnTo>
                <a:cubicBezTo>
                  <a:pt x="85223" y="136708"/>
                  <a:pt x="84832" y="132829"/>
                  <a:pt x="86785" y="129899"/>
                </a:cubicBezTo>
                <a:lnTo>
                  <a:pt x="93287" y="120132"/>
                </a:lnTo>
                <a:cubicBezTo>
                  <a:pt x="92757" y="118821"/>
                  <a:pt x="92283" y="117453"/>
                  <a:pt x="91892" y="116030"/>
                </a:cubicBezTo>
                <a:cubicBezTo>
                  <a:pt x="91501" y="114607"/>
                  <a:pt x="91250" y="113184"/>
                  <a:pt x="91055" y="111789"/>
                </a:cubicBezTo>
                <a:lnTo>
                  <a:pt x="80535" y="106598"/>
                </a:lnTo>
                <a:cubicBezTo>
                  <a:pt x="77381" y="105035"/>
                  <a:pt x="75791" y="101464"/>
                  <a:pt x="76684" y="98087"/>
                </a:cubicBezTo>
                <a:lnTo>
                  <a:pt x="78637" y="90776"/>
                </a:lnTo>
                <a:cubicBezTo>
                  <a:pt x="79558" y="87399"/>
                  <a:pt x="82711" y="85111"/>
                  <a:pt x="86227" y="85334"/>
                </a:cubicBezTo>
                <a:lnTo>
                  <a:pt x="97920" y="86088"/>
                </a:lnTo>
                <a:cubicBezTo>
                  <a:pt x="99678" y="83827"/>
                  <a:pt x="101715" y="81735"/>
                  <a:pt x="104031" y="79949"/>
                </a:cubicBezTo>
                <a:lnTo>
                  <a:pt x="103277" y="68284"/>
                </a:lnTo>
                <a:cubicBezTo>
                  <a:pt x="103054" y="64768"/>
                  <a:pt x="105342" y="61587"/>
                  <a:pt x="108719" y="60694"/>
                </a:cubicBezTo>
                <a:lnTo>
                  <a:pt x="116030" y="58741"/>
                </a:lnTo>
                <a:close/>
                <a:moveTo>
                  <a:pt x="125127" y="94878"/>
                </a:moveTo>
                <a:cubicBezTo>
                  <a:pt x="118351" y="94886"/>
                  <a:pt x="112855" y="100394"/>
                  <a:pt x="112863" y="107170"/>
                </a:cubicBezTo>
                <a:cubicBezTo>
                  <a:pt x="112871" y="113947"/>
                  <a:pt x="118379" y="119442"/>
                  <a:pt x="125155" y="119435"/>
                </a:cubicBezTo>
                <a:cubicBezTo>
                  <a:pt x="131932" y="119427"/>
                  <a:pt x="137427" y="113919"/>
                  <a:pt x="137420" y="107142"/>
                </a:cubicBezTo>
                <a:cubicBezTo>
                  <a:pt x="137412" y="100366"/>
                  <a:pt x="131904" y="94870"/>
                  <a:pt x="125127" y="94878"/>
                </a:cubicBezTo>
                <a:close/>
                <a:moveTo>
                  <a:pt x="62759" y="-12697"/>
                </a:moveTo>
                <a:lnTo>
                  <a:pt x="70070" y="-10744"/>
                </a:lnTo>
                <a:cubicBezTo>
                  <a:pt x="73447" y="-9823"/>
                  <a:pt x="75735" y="-6641"/>
                  <a:pt x="75512" y="-3153"/>
                </a:cubicBezTo>
                <a:lnTo>
                  <a:pt x="74758" y="8511"/>
                </a:lnTo>
                <a:cubicBezTo>
                  <a:pt x="77074" y="10297"/>
                  <a:pt x="79111" y="12362"/>
                  <a:pt x="80869" y="14650"/>
                </a:cubicBezTo>
                <a:lnTo>
                  <a:pt x="92590" y="13897"/>
                </a:lnTo>
                <a:cubicBezTo>
                  <a:pt x="96078" y="13674"/>
                  <a:pt x="99259" y="15962"/>
                  <a:pt x="100180" y="19338"/>
                </a:cubicBezTo>
                <a:lnTo>
                  <a:pt x="102133" y="26650"/>
                </a:lnTo>
                <a:cubicBezTo>
                  <a:pt x="103026" y="30026"/>
                  <a:pt x="101436" y="33598"/>
                  <a:pt x="98282" y="35161"/>
                </a:cubicBezTo>
                <a:lnTo>
                  <a:pt x="87762" y="40351"/>
                </a:lnTo>
                <a:cubicBezTo>
                  <a:pt x="87567" y="41774"/>
                  <a:pt x="87288" y="43197"/>
                  <a:pt x="86925" y="44593"/>
                </a:cubicBezTo>
                <a:cubicBezTo>
                  <a:pt x="86562" y="45988"/>
                  <a:pt x="86060" y="47383"/>
                  <a:pt x="85530" y="48695"/>
                </a:cubicBezTo>
                <a:lnTo>
                  <a:pt x="92032" y="58462"/>
                </a:lnTo>
                <a:cubicBezTo>
                  <a:pt x="93985" y="61392"/>
                  <a:pt x="93594" y="65270"/>
                  <a:pt x="91111" y="67754"/>
                </a:cubicBezTo>
                <a:lnTo>
                  <a:pt x="85753" y="73112"/>
                </a:lnTo>
                <a:cubicBezTo>
                  <a:pt x="83269" y="75595"/>
                  <a:pt x="79391" y="75986"/>
                  <a:pt x="76460" y="74033"/>
                </a:cubicBezTo>
                <a:lnTo>
                  <a:pt x="66694" y="67531"/>
                </a:lnTo>
                <a:cubicBezTo>
                  <a:pt x="64043" y="68619"/>
                  <a:pt x="61224" y="69400"/>
                  <a:pt x="58350" y="69791"/>
                </a:cubicBezTo>
                <a:lnTo>
                  <a:pt x="53160" y="80283"/>
                </a:lnTo>
                <a:cubicBezTo>
                  <a:pt x="51597" y="83437"/>
                  <a:pt x="48025" y="85027"/>
                  <a:pt x="44648" y="84134"/>
                </a:cubicBezTo>
                <a:lnTo>
                  <a:pt x="37337" y="82181"/>
                </a:lnTo>
                <a:cubicBezTo>
                  <a:pt x="33933" y="81260"/>
                  <a:pt x="31672" y="78079"/>
                  <a:pt x="31896" y="74591"/>
                </a:cubicBezTo>
                <a:lnTo>
                  <a:pt x="32649" y="62898"/>
                </a:lnTo>
                <a:cubicBezTo>
                  <a:pt x="30333" y="61113"/>
                  <a:pt x="28296" y="59048"/>
                  <a:pt x="26538" y="56759"/>
                </a:cubicBezTo>
                <a:lnTo>
                  <a:pt x="14818" y="57513"/>
                </a:lnTo>
                <a:cubicBezTo>
                  <a:pt x="11330" y="57736"/>
                  <a:pt x="8148" y="55448"/>
                  <a:pt x="7227" y="52071"/>
                </a:cubicBezTo>
                <a:lnTo>
                  <a:pt x="5274" y="44760"/>
                </a:lnTo>
                <a:cubicBezTo>
                  <a:pt x="4381" y="41384"/>
                  <a:pt x="5972" y="37812"/>
                  <a:pt x="9125" y="36249"/>
                </a:cubicBezTo>
                <a:lnTo>
                  <a:pt x="19645" y="31059"/>
                </a:lnTo>
                <a:cubicBezTo>
                  <a:pt x="19841" y="29635"/>
                  <a:pt x="20120" y="28240"/>
                  <a:pt x="20482" y="26817"/>
                </a:cubicBezTo>
                <a:cubicBezTo>
                  <a:pt x="20873" y="25394"/>
                  <a:pt x="21320" y="24026"/>
                  <a:pt x="21878" y="22715"/>
                </a:cubicBezTo>
                <a:lnTo>
                  <a:pt x="15376" y="12976"/>
                </a:lnTo>
                <a:cubicBezTo>
                  <a:pt x="13422" y="10046"/>
                  <a:pt x="13813" y="6167"/>
                  <a:pt x="16297" y="3683"/>
                </a:cubicBezTo>
                <a:lnTo>
                  <a:pt x="21654" y="-1674"/>
                </a:lnTo>
                <a:cubicBezTo>
                  <a:pt x="24138" y="-4158"/>
                  <a:pt x="28017" y="-4549"/>
                  <a:pt x="30947" y="-2595"/>
                </a:cubicBezTo>
                <a:lnTo>
                  <a:pt x="40714" y="3907"/>
                </a:lnTo>
                <a:cubicBezTo>
                  <a:pt x="43365" y="2818"/>
                  <a:pt x="46183" y="2037"/>
                  <a:pt x="49057" y="1646"/>
                </a:cubicBezTo>
                <a:lnTo>
                  <a:pt x="54248" y="-8846"/>
                </a:lnTo>
                <a:cubicBezTo>
                  <a:pt x="55811" y="-11999"/>
                  <a:pt x="59355" y="-13590"/>
                  <a:pt x="62759" y="-12697"/>
                </a:cubicBezTo>
                <a:close/>
                <a:moveTo>
                  <a:pt x="53690" y="23440"/>
                </a:moveTo>
                <a:cubicBezTo>
                  <a:pt x="46913" y="23440"/>
                  <a:pt x="41411" y="28942"/>
                  <a:pt x="41411" y="35719"/>
                </a:cubicBezTo>
                <a:cubicBezTo>
                  <a:pt x="41411" y="42495"/>
                  <a:pt x="46913" y="47997"/>
                  <a:pt x="53690" y="47997"/>
                </a:cubicBezTo>
                <a:cubicBezTo>
                  <a:pt x="60466" y="47997"/>
                  <a:pt x="65968" y="42495"/>
                  <a:pt x="65968" y="35719"/>
                </a:cubicBezTo>
                <a:cubicBezTo>
                  <a:pt x="65968" y="28942"/>
                  <a:pt x="60466" y="23440"/>
                  <a:pt x="53690" y="2344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1" name="Text 19"/>
          <p:cNvSpPr/>
          <p:nvPr/>
        </p:nvSpPr>
        <p:spPr>
          <a:xfrm>
            <a:off x="6711950" y="1393822"/>
            <a:ext cx="849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99200" y="1758947"/>
            <a:ext cx="5437188" cy="508000"/>
          </a:xfrm>
          <a:custGeom>
            <a:avLst/>
            <a:gdLst/>
            <a:ahLst/>
            <a:cxnLst/>
            <a:rect l="l" t="t" r="r" b="b"/>
            <a:pathLst>
              <a:path w="5437188" h="508000">
                <a:moveTo>
                  <a:pt x="63500" y="0"/>
                </a:moveTo>
                <a:lnTo>
                  <a:pt x="5373688" y="0"/>
                </a:lnTo>
                <a:cubicBezTo>
                  <a:pt x="5408734" y="0"/>
                  <a:pt x="5437188" y="28453"/>
                  <a:pt x="5437188" y="63500"/>
                </a:cubicBezTo>
                <a:lnTo>
                  <a:pt x="5437188" y="444500"/>
                </a:lnTo>
                <a:cubicBezTo>
                  <a:pt x="5437188" y="479547"/>
                  <a:pt x="5408734" y="508000"/>
                  <a:pt x="5373688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62700" y="1822447"/>
            <a:ext cx="537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Benchmarking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62700" y="2044697"/>
            <a:ext cx="536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Replicate top performer strategies across portfolio.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99200" y="2330451"/>
            <a:ext cx="5437188" cy="508000"/>
          </a:xfrm>
          <a:custGeom>
            <a:avLst/>
            <a:gdLst/>
            <a:ahLst/>
            <a:cxnLst/>
            <a:rect l="l" t="t" r="r" b="b"/>
            <a:pathLst>
              <a:path w="5437188" h="508000">
                <a:moveTo>
                  <a:pt x="63500" y="0"/>
                </a:moveTo>
                <a:lnTo>
                  <a:pt x="5373688" y="0"/>
                </a:lnTo>
                <a:cubicBezTo>
                  <a:pt x="5408734" y="0"/>
                  <a:pt x="5437188" y="28453"/>
                  <a:pt x="5437188" y="63500"/>
                </a:cubicBezTo>
                <a:lnTo>
                  <a:pt x="5437188" y="444500"/>
                </a:lnTo>
                <a:cubicBezTo>
                  <a:pt x="5437188" y="479547"/>
                  <a:pt x="5408734" y="508000"/>
                  <a:pt x="5373688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62700" y="2393951"/>
            <a:ext cx="537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Experience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62700" y="2616201"/>
            <a:ext cx="536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 ratings from 3.0-4.3 to 4.0+ consistently.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99200" y="2901951"/>
            <a:ext cx="5437188" cy="508000"/>
          </a:xfrm>
          <a:custGeom>
            <a:avLst/>
            <a:gdLst/>
            <a:ahLst/>
            <a:cxnLst/>
            <a:rect l="l" t="t" r="r" b="b"/>
            <a:pathLst>
              <a:path w="5437188" h="508000">
                <a:moveTo>
                  <a:pt x="63500" y="0"/>
                </a:moveTo>
                <a:lnTo>
                  <a:pt x="5373688" y="0"/>
                </a:lnTo>
                <a:cubicBezTo>
                  <a:pt x="5408734" y="0"/>
                  <a:pt x="5437188" y="28453"/>
                  <a:pt x="5437188" y="63500"/>
                </a:cubicBezTo>
                <a:lnTo>
                  <a:pt x="5437188" y="444500"/>
                </a:lnTo>
                <a:cubicBezTo>
                  <a:pt x="5437188" y="479547"/>
                  <a:pt x="5408734" y="508000"/>
                  <a:pt x="5373688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62700" y="2965451"/>
            <a:ext cx="537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Capacity Optimization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62700" y="3187701"/>
            <a:ext cx="536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 13-point occupancy gap through best practices.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3850" y="4211640"/>
            <a:ext cx="5703887" cy="2544778"/>
          </a:xfrm>
          <a:custGeom>
            <a:avLst/>
            <a:gdLst/>
            <a:ahLst/>
            <a:cxnLst/>
            <a:rect l="l" t="t" r="r" b="b"/>
            <a:pathLst>
              <a:path w="5703887" h="2544778">
                <a:moveTo>
                  <a:pt x="63514" y="0"/>
                </a:moveTo>
                <a:lnTo>
                  <a:pt x="5640374" y="0"/>
                </a:lnTo>
                <a:cubicBezTo>
                  <a:pt x="5675451" y="0"/>
                  <a:pt x="5703887" y="25282"/>
                  <a:pt x="5703887" y="56469"/>
                </a:cubicBezTo>
                <a:lnTo>
                  <a:pt x="5703887" y="2488310"/>
                </a:lnTo>
                <a:cubicBezTo>
                  <a:pt x="5703887" y="2519497"/>
                  <a:pt x="5675451" y="2544778"/>
                  <a:pt x="5640374" y="2544778"/>
                </a:cubicBezTo>
                <a:lnTo>
                  <a:pt x="63514" y="2544778"/>
                </a:lnTo>
                <a:cubicBezTo>
                  <a:pt x="28436" y="2544778"/>
                  <a:pt x="0" y="2519497"/>
                  <a:pt x="0" y="2488310"/>
                </a:cubicBezTo>
                <a:lnTo>
                  <a:pt x="0" y="56469"/>
                </a:lnTo>
                <a:cubicBezTo>
                  <a:pt x="0" y="25303"/>
                  <a:pt x="28459" y="0"/>
                  <a:pt x="63514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25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20320">
            <a:solidFill>
              <a:srgbClr val="8D99AE">
                <a:alpha val="5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34498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46497" y="443229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12681" y="9599"/>
                </a:moveTo>
                <a:cubicBezTo>
                  <a:pt x="116030" y="8204"/>
                  <a:pt x="119853" y="8985"/>
                  <a:pt x="122420" y="11525"/>
                </a:cubicBezTo>
                <a:lnTo>
                  <a:pt x="140280" y="29384"/>
                </a:lnTo>
                <a:cubicBezTo>
                  <a:pt x="141954" y="31059"/>
                  <a:pt x="142903" y="33319"/>
                  <a:pt x="142903" y="35691"/>
                </a:cubicBezTo>
                <a:cubicBezTo>
                  <a:pt x="142903" y="38063"/>
                  <a:pt x="141954" y="40323"/>
                  <a:pt x="140280" y="41997"/>
                </a:cubicBezTo>
                <a:lnTo>
                  <a:pt x="122420" y="59857"/>
                </a:lnTo>
                <a:cubicBezTo>
                  <a:pt x="119853" y="62424"/>
                  <a:pt x="116030" y="63178"/>
                  <a:pt x="112681" y="61782"/>
                </a:cubicBezTo>
                <a:cubicBezTo>
                  <a:pt x="109333" y="60387"/>
                  <a:pt x="107156" y="57178"/>
                  <a:pt x="107156" y="53578"/>
                </a:cubicBezTo>
                <a:lnTo>
                  <a:pt x="107156" y="44648"/>
                </a:lnTo>
                <a:lnTo>
                  <a:pt x="98227" y="44648"/>
                </a:lnTo>
                <a:cubicBezTo>
                  <a:pt x="95408" y="44648"/>
                  <a:pt x="92757" y="45960"/>
                  <a:pt x="91083" y="48220"/>
                </a:cubicBezTo>
                <a:lnTo>
                  <a:pt x="82042" y="60275"/>
                </a:lnTo>
                <a:lnTo>
                  <a:pt x="70879" y="45402"/>
                </a:lnTo>
                <a:lnTo>
                  <a:pt x="76795" y="37505"/>
                </a:lnTo>
                <a:cubicBezTo>
                  <a:pt x="81846" y="30752"/>
                  <a:pt x="89799" y="26789"/>
                  <a:pt x="98227" y="26789"/>
                </a:cubicBezTo>
                <a:lnTo>
                  <a:pt x="107156" y="26789"/>
                </a:lnTo>
                <a:lnTo>
                  <a:pt x="107156" y="17859"/>
                </a:lnTo>
                <a:cubicBezTo>
                  <a:pt x="107156" y="14260"/>
                  <a:pt x="109333" y="10995"/>
                  <a:pt x="112681" y="9599"/>
                </a:cubicBezTo>
                <a:close/>
                <a:moveTo>
                  <a:pt x="42974" y="82600"/>
                </a:moveTo>
                <a:lnTo>
                  <a:pt x="54136" y="97473"/>
                </a:lnTo>
                <a:lnTo>
                  <a:pt x="48220" y="105370"/>
                </a:lnTo>
                <a:cubicBezTo>
                  <a:pt x="43169" y="112123"/>
                  <a:pt x="35216" y="116086"/>
                  <a:pt x="26789" y="116086"/>
                </a:cubicBezTo>
                <a:lnTo>
                  <a:pt x="8930" y="116086"/>
                </a:lnTo>
                <a:cubicBezTo>
                  <a:pt x="3990" y="116086"/>
                  <a:pt x="0" y="112095"/>
                  <a:pt x="0" y="107156"/>
                </a:cubicBezTo>
                <a:cubicBezTo>
                  <a:pt x="0" y="102217"/>
                  <a:pt x="3990" y="98227"/>
                  <a:pt x="8930" y="98227"/>
                </a:cubicBezTo>
                <a:lnTo>
                  <a:pt x="26789" y="98227"/>
                </a:lnTo>
                <a:cubicBezTo>
                  <a:pt x="29607" y="98227"/>
                  <a:pt x="32258" y="96915"/>
                  <a:pt x="33933" y="94655"/>
                </a:cubicBezTo>
                <a:lnTo>
                  <a:pt x="42974" y="82600"/>
                </a:lnTo>
                <a:close/>
                <a:moveTo>
                  <a:pt x="122393" y="131322"/>
                </a:moveTo>
                <a:cubicBezTo>
                  <a:pt x="119825" y="133890"/>
                  <a:pt x="116002" y="134643"/>
                  <a:pt x="112654" y="133248"/>
                </a:cubicBezTo>
                <a:cubicBezTo>
                  <a:pt x="109305" y="131852"/>
                  <a:pt x="107156" y="128615"/>
                  <a:pt x="107156" y="125016"/>
                </a:cubicBezTo>
                <a:lnTo>
                  <a:pt x="107156" y="116086"/>
                </a:lnTo>
                <a:lnTo>
                  <a:pt x="98227" y="116086"/>
                </a:lnTo>
                <a:cubicBezTo>
                  <a:pt x="89799" y="116086"/>
                  <a:pt x="81846" y="112123"/>
                  <a:pt x="76795" y="105370"/>
                </a:cubicBezTo>
                <a:lnTo>
                  <a:pt x="33933" y="48220"/>
                </a:lnTo>
                <a:cubicBezTo>
                  <a:pt x="32258" y="45960"/>
                  <a:pt x="29607" y="44648"/>
                  <a:pt x="26789" y="44648"/>
                </a:cubicBezTo>
                <a:lnTo>
                  <a:pt x="8930" y="44648"/>
                </a:lnTo>
                <a:cubicBezTo>
                  <a:pt x="3990" y="44648"/>
                  <a:pt x="0" y="40658"/>
                  <a:pt x="0" y="35719"/>
                </a:cubicBezTo>
                <a:cubicBezTo>
                  <a:pt x="0" y="30780"/>
                  <a:pt x="3990" y="26789"/>
                  <a:pt x="8930" y="26789"/>
                </a:cubicBezTo>
                <a:lnTo>
                  <a:pt x="26789" y="26789"/>
                </a:lnTo>
                <a:cubicBezTo>
                  <a:pt x="35216" y="26789"/>
                  <a:pt x="43169" y="30752"/>
                  <a:pt x="48220" y="37505"/>
                </a:cubicBezTo>
                <a:lnTo>
                  <a:pt x="91083" y="94655"/>
                </a:lnTo>
                <a:cubicBezTo>
                  <a:pt x="92757" y="96915"/>
                  <a:pt x="95408" y="98227"/>
                  <a:pt x="98227" y="98227"/>
                </a:cubicBezTo>
                <a:lnTo>
                  <a:pt x="107156" y="98227"/>
                </a:lnTo>
                <a:lnTo>
                  <a:pt x="107156" y="89297"/>
                </a:lnTo>
                <a:cubicBezTo>
                  <a:pt x="107156" y="85697"/>
                  <a:pt x="109333" y="82432"/>
                  <a:pt x="112681" y="81037"/>
                </a:cubicBezTo>
                <a:cubicBezTo>
                  <a:pt x="116030" y="79642"/>
                  <a:pt x="119853" y="80423"/>
                  <a:pt x="122420" y="82962"/>
                </a:cubicBezTo>
                <a:lnTo>
                  <a:pt x="140280" y="100822"/>
                </a:lnTo>
                <a:cubicBezTo>
                  <a:pt x="141954" y="102496"/>
                  <a:pt x="142903" y="104756"/>
                  <a:pt x="142903" y="107128"/>
                </a:cubicBezTo>
                <a:cubicBezTo>
                  <a:pt x="142903" y="109500"/>
                  <a:pt x="141954" y="111761"/>
                  <a:pt x="140280" y="113435"/>
                </a:cubicBezTo>
                <a:lnTo>
                  <a:pt x="122420" y="131294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4" name="Text 32"/>
          <p:cNvSpPr/>
          <p:nvPr/>
        </p:nvSpPr>
        <p:spPr>
          <a:xfrm>
            <a:off x="869950" y="4392612"/>
            <a:ext cx="1579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Channel Optimization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7200" y="4757737"/>
            <a:ext cx="5437188" cy="508000"/>
          </a:xfrm>
          <a:custGeom>
            <a:avLst/>
            <a:gdLst/>
            <a:ahLst/>
            <a:cxnLst/>
            <a:rect l="l" t="t" r="r" b="b"/>
            <a:pathLst>
              <a:path w="5437188" h="508000">
                <a:moveTo>
                  <a:pt x="63500" y="0"/>
                </a:moveTo>
                <a:lnTo>
                  <a:pt x="5373688" y="0"/>
                </a:lnTo>
                <a:cubicBezTo>
                  <a:pt x="5408734" y="0"/>
                  <a:pt x="5437188" y="28453"/>
                  <a:pt x="5437188" y="63500"/>
                </a:cubicBezTo>
                <a:lnTo>
                  <a:pt x="5437188" y="444500"/>
                </a:lnTo>
                <a:cubicBezTo>
                  <a:pt x="5437188" y="479547"/>
                  <a:pt x="5408734" y="508000"/>
                  <a:pt x="5373688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20700" y="4821237"/>
            <a:ext cx="537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High-Realisation Platforms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0700" y="5043487"/>
            <a:ext cx="536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Prioritize channels with optimal ADR-realisation balance.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7200" y="5329237"/>
            <a:ext cx="5437188" cy="508000"/>
          </a:xfrm>
          <a:custGeom>
            <a:avLst/>
            <a:gdLst/>
            <a:ahLst/>
            <a:cxnLst/>
            <a:rect l="l" t="t" r="r" b="b"/>
            <a:pathLst>
              <a:path w="5437188" h="508000">
                <a:moveTo>
                  <a:pt x="63500" y="0"/>
                </a:moveTo>
                <a:lnTo>
                  <a:pt x="5373688" y="0"/>
                </a:lnTo>
                <a:cubicBezTo>
                  <a:pt x="5408734" y="0"/>
                  <a:pt x="5437188" y="28453"/>
                  <a:pt x="5437188" y="63500"/>
                </a:cubicBezTo>
                <a:lnTo>
                  <a:pt x="5437188" y="444500"/>
                </a:lnTo>
                <a:cubicBezTo>
                  <a:pt x="5437188" y="479547"/>
                  <a:pt x="5408734" y="508000"/>
                  <a:pt x="5373688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20700" y="5392737"/>
            <a:ext cx="537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Commission Negotiation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20700" y="5614987"/>
            <a:ext cx="536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Negotiate better terms to reduce revenue leakage.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7200" y="5900737"/>
            <a:ext cx="5437188" cy="508000"/>
          </a:xfrm>
          <a:custGeom>
            <a:avLst/>
            <a:gdLst/>
            <a:ahLst/>
            <a:cxnLst/>
            <a:rect l="l" t="t" r="r" b="b"/>
            <a:pathLst>
              <a:path w="5437188" h="508000">
                <a:moveTo>
                  <a:pt x="63500" y="0"/>
                </a:moveTo>
                <a:lnTo>
                  <a:pt x="5373688" y="0"/>
                </a:lnTo>
                <a:cubicBezTo>
                  <a:pt x="5408734" y="0"/>
                  <a:pt x="5437188" y="28453"/>
                  <a:pt x="5437188" y="63500"/>
                </a:cubicBezTo>
                <a:lnTo>
                  <a:pt x="5437188" y="444500"/>
                </a:lnTo>
                <a:cubicBezTo>
                  <a:pt x="5437188" y="479547"/>
                  <a:pt x="5408734" y="508000"/>
                  <a:pt x="5373688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20700" y="5964237"/>
            <a:ext cx="537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Booking Push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0700" y="6186487"/>
            <a:ext cx="536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 direct bookings for 95% realisation rates.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65850" y="4211640"/>
            <a:ext cx="5703887" cy="2544778"/>
          </a:xfrm>
          <a:custGeom>
            <a:avLst/>
            <a:gdLst/>
            <a:ahLst/>
            <a:cxnLst/>
            <a:rect l="l" t="t" r="r" b="b"/>
            <a:pathLst>
              <a:path w="5703887" h="2544778">
                <a:moveTo>
                  <a:pt x="63514" y="0"/>
                </a:moveTo>
                <a:lnTo>
                  <a:pt x="5640374" y="0"/>
                </a:lnTo>
                <a:cubicBezTo>
                  <a:pt x="5675451" y="0"/>
                  <a:pt x="5703887" y="25282"/>
                  <a:pt x="5703887" y="56469"/>
                </a:cubicBezTo>
                <a:lnTo>
                  <a:pt x="5703887" y="2488310"/>
                </a:lnTo>
                <a:cubicBezTo>
                  <a:pt x="5703887" y="2519497"/>
                  <a:pt x="5675451" y="2544778"/>
                  <a:pt x="5640374" y="2544778"/>
                </a:cubicBezTo>
                <a:lnTo>
                  <a:pt x="63514" y="2544778"/>
                </a:lnTo>
                <a:cubicBezTo>
                  <a:pt x="28436" y="2544778"/>
                  <a:pt x="0" y="2519497"/>
                  <a:pt x="0" y="2488310"/>
                </a:cubicBezTo>
                <a:lnTo>
                  <a:pt x="0" y="56469"/>
                </a:lnTo>
                <a:cubicBezTo>
                  <a:pt x="0" y="25303"/>
                  <a:pt x="28459" y="0"/>
                  <a:pt x="63514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5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99200" y="434498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88497" y="443229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7859" y="17859"/>
                </a:moveTo>
                <a:cubicBezTo>
                  <a:pt x="17859" y="12920"/>
                  <a:pt x="13869" y="8930"/>
                  <a:pt x="8930" y="8930"/>
                </a:cubicBezTo>
                <a:cubicBezTo>
                  <a:pt x="3990" y="8930"/>
                  <a:pt x="0" y="12920"/>
                  <a:pt x="0" y="17859"/>
                </a:cubicBezTo>
                <a:lnTo>
                  <a:pt x="0" y="111621"/>
                </a:lnTo>
                <a:cubicBezTo>
                  <a:pt x="0" y="123955"/>
                  <a:pt x="9990" y="133945"/>
                  <a:pt x="22324" y="133945"/>
                </a:cubicBezTo>
                <a:lnTo>
                  <a:pt x="133945" y="133945"/>
                </a:lnTo>
                <a:cubicBezTo>
                  <a:pt x="138885" y="133945"/>
                  <a:pt x="142875" y="129955"/>
                  <a:pt x="142875" y="125016"/>
                </a:cubicBezTo>
                <a:cubicBezTo>
                  <a:pt x="142875" y="120076"/>
                  <a:pt x="138885" y="116086"/>
                  <a:pt x="133945" y="116086"/>
                </a:cubicBezTo>
                <a:lnTo>
                  <a:pt x="22324" y="116086"/>
                </a:lnTo>
                <a:cubicBezTo>
                  <a:pt x="19869" y="116086"/>
                  <a:pt x="17859" y="114077"/>
                  <a:pt x="17859" y="111621"/>
                </a:cubicBezTo>
                <a:lnTo>
                  <a:pt x="17859" y="17859"/>
                </a:lnTo>
                <a:close/>
                <a:moveTo>
                  <a:pt x="131322" y="42025"/>
                </a:moveTo>
                <a:cubicBezTo>
                  <a:pt x="134810" y="38537"/>
                  <a:pt x="134810" y="32872"/>
                  <a:pt x="131322" y="29384"/>
                </a:cubicBezTo>
                <a:cubicBezTo>
                  <a:pt x="127834" y="25896"/>
                  <a:pt x="122169" y="25896"/>
                  <a:pt x="118681" y="29384"/>
                </a:cubicBezTo>
                <a:lnTo>
                  <a:pt x="89297" y="58796"/>
                </a:lnTo>
                <a:lnTo>
                  <a:pt x="73279" y="42807"/>
                </a:lnTo>
                <a:cubicBezTo>
                  <a:pt x="69791" y="39319"/>
                  <a:pt x="64126" y="39319"/>
                  <a:pt x="60638" y="42807"/>
                </a:cubicBezTo>
                <a:lnTo>
                  <a:pt x="33849" y="69596"/>
                </a:lnTo>
                <a:cubicBezTo>
                  <a:pt x="30361" y="73084"/>
                  <a:pt x="30361" y="78749"/>
                  <a:pt x="33849" y="82237"/>
                </a:cubicBezTo>
                <a:cubicBezTo>
                  <a:pt x="37337" y="85725"/>
                  <a:pt x="43002" y="85725"/>
                  <a:pt x="46490" y="82237"/>
                </a:cubicBezTo>
                <a:lnTo>
                  <a:pt x="66973" y="61754"/>
                </a:lnTo>
                <a:lnTo>
                  <a:pt x="82990" y="77772"/>
                </a:lnTo>
                <a:cubicBezTo>
                  <a:pt x="86478" y="81260"/>
                  <a:pt x="92143" y="81260"/>
                  <a:pt x="95631" y="77772"/>
                </a:cubicBezTo>
                <a:lnTo>
                  <a:pt x="131350" y="4205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7" name="Text 45"/>
          <p:cNvSpPr/>
          <p:nvPr/>
        </p:nvSpPr>
        <p:spPr>
          <a:xfrm>
            <a:off x="6711950" y="4392612"/>
            <a:ext cx="1627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Demand Management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99200" y="4757737"/>
            <a:ext cx="5437188" cy="508000"/>
          </a:xfrm>
          <a:custGeom>
            <a:avLst/>
            <a:gdLst/>
            <a:ahLst/>
            <a:cxnLst/>
            <a:rect l="l" t="t" r="r" b="b"/>
            <a:pathLst>
              <a:path w="5437188" h="508000">
                <a:moveTo>
                  <a:pt x="63500" y="0"/>
                </a:moveTo>
                <a:lnTo>
                  <a:pt x="5373688" y="0"/>
                </a:lnTo>
                <a:cubicBezTo>
                  <a:pt x="5408734" y="0"/>
                  <a:pt x="5437188" y="28453"/>
                  <a:pt x="5437188" y="63500"/>
                </a:cubicBezTo>
                <a:lnTo>
                  <a:pt x="5437188" y="444500"/>
                </a:lnTo>
                <a:cubicBezTo>
                  <a:pt x="5437188" y="479547"/>
                  <a:pt x="5408734" y="508000"/>
                  <a:pt x="5373688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362700" y="4821237"/>
            <a:ext cx="537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Pricing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62700" y="5043487"/>
            <a:ext cx="536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real-time pricing during high-demand periods.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99200" y="5329237"/>
            <a:ext cx="5437188" cy="508000"/>
          </a:xfrm>
          <a:custGeom>
            <a:avLst/>
            <a:gdLst/>
            <a:ahLst/>
            <a:cxnLst/>
            <a:rect l="l" t="t" r="r" b="b"/>
            <a:pathLst>
              <a:path w="5437188" h="508000">
                <a:moveTo>
                  <a:pt x="63500" y="0"/>
                </a:moveTo>
                <a:lnTo>
                  <a:pt x="5373688" y="0"/>
                </a:lnTo>
                <a:cubicBezTo>
                  <a:pt x="5408734" y="0"/>
                  <a:pt x="5437188" y="28453"/>
                  <a:pt x="5437188" y="63500"/>
                </a:cubicBezTo>
                <a:lnTo>
                  <a:pt x="5437188" y="444500"/>
                </a:lnTo>
                <a:cubicBezTo>
                  <a:pt x="5437188" y="479547"/>
                  <a:pt x="5408734" y="508000"/>
                  <a:pt x="5373688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362700" y="5392737"/>
            <a:ext cx="537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Low-Period Campaigns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62700" y="5614987"/>
            <a:ext cx="536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Targeted marketing during demand dips to boost occupancy.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299200" y="5900737"/>
            <a:ext cx="5437188" cy="508000"/>
          </a:xfrm>
          <a:custGeom>
            <a:avLst/>
            <a:gdLst/>
            <a:ahLst/>
            <a:cxnLst/>
            <a:rect l="l" t="t" r="r" b="b"/>
            <a:pathLst>
              <a:path w="5437188" h="508000">
                <a:moveTo>
                  <a:pt x="63500" y="0"/>
                </a:moveTo>
                <a:lnTo>
                  <a:pt x="5373688" y="0"/>
                </a:lnTo>
                <a:cubicBezTo>
                  <a:pt x="5408734" y="0"/>
                  <a:pt x="5437188" y="28453"/>
                  <a:pt x="5437188" y="63500"/>
                </a:cubicBezTo>
                <a:lnTo>
                  <a:pt x="5437188" y="444500"/>
                </a:lnTo>
                <a:cubicBezTo>
                  <a:pt x="5437188" y="479547"/>
                  <a:pt x="5408734" y="508000"/>
                  <a:pt x="5373688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362700" y="5964237"/>
            <a:ext cx="537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Cancellation Management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62700" y="6186487"/>
            <a:ext cx="536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policies to reduce revenue leakage.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33375" y="7204076"/>
            <a:ext cx="11541125" cy="746125"/>
          </a:xfrm>
          <a:custGeom>
            <a:avLst/>
            <a:gdLst/>
            <a:ahLst/>
            <a:cxnLst/>
            <a:rect l="l" t="t" r="r" b="b"/>
            <a:pathLst>
              <a:path w="11541125" h="746125">
                <a:moveTo>
                  <a:pt x="31750" y="0"/>
                </a:moveTo>
                <a:lnTo>
                  <a:pt x="11477622" y="0"/>
                </a:lnTo>
                <a:cubicBezTo>
                  <a:pt x="11512694" y="0"/>
                  <a:pt x="11541125" y="28431"/>
                  <a:pt x="11541125" y="63503"/>
                </a:cubicBezTo>
                <a:lnTo>
                  <a:pt x="11541125" y="682622"/>
                </a:lnTo>
                <a:cubicBezTo>
                  <a:pt x="11541125" y="717694"/>
                  <a:pt x="11512694" y="746125"/>
                  <a:pt x="11477622" y="746125"/>
                </a:cubicBezTo>
                <a:lnTo>
                  <a:pt x="31750" y="746125"/>
                </a:lnTo>
                <a:cubicBezTo>
                  <a:pt x="14215" y="746125"/>
                  <a:pt x="0" y="731910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8" name="Shape 56"/>
          <p:cNvSpPr/>
          <p:nvPr/>
        </p:nvSpPr>
        <p:spPr>
          <a:xfrm>
            <a:off x="333375" y="7204076"/>
            <a:ext cx="31750" cy="746125"/>
          </a:xfrm>
          <a:custGeom>
            <a:avLst/>
            <a:gdLst/>
            <a:ahLst/>
            <a:cxnLst/>
            <a:rect l="l" t="t" r="r" b="b"/>
            <a:pathLst>
              <a:path w="31750" h="746125">
                <a:moveTo>
                  <a:pt x="31750" y="0"/>
                </a:moveTo>
                <a:lnTo>
                  <a:pt x="31750" y="0"/>
                </a:lnTo>
                <a:lnTo>
                  <a:pt x="31750" y="746125"/>
                </a:lnTo>
                <a:lnTo>
                  <a:pt x="31750" y="746125"/>
                </a:lnTo>
                <a:cubicBezTo>
                  <a:pt x="14227" y="746125"/>
                  <a:pt x="0" y="731898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9" name="Shape 57"/>
          <p:cNvSpPr/>
          <p:nvPr/>
        </p:nvSpPr>
        <p:spPr>
          <a:xfrm>
            <a:off x="476250" y="7331076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565547" y="741838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5719" y="89297"/>
                </a:moveTo>
                <a:lnTo>
                  <a:pt x="6837" y="89297"/>
                </a:lnTo>
                <a:cubicBezTo>
                  <a:pt x="-112" y="89297"/>
                  <a:pt x="-4381" y="81735"/>
                  <a:pt x="-809" y="75763"/>
                </a:cubicBezTo>
                <a:lnTo>
                  <a:pt x="13953" y="51150"/>
                </a:lnTo>
                <a:cubicBezTo>
                  <a:pt x="16380" y="47104"/>
                  <a:pt x="20734" y="44648"/>
                  <a:pt x="25450" y="44648"/>
                </a:cubicBezTo>
                <a:lnTo>
                  <a:pt x="51960" y="44648"/>
                </a:lnTo>
                <a:cubicBezTo>
                  <a:pt x="73196" y="8679"/>
                  <a:pt x="104868" y="6865"/>
                  <a:pt x="126048" y="9962"/>
                </a:cubicBezTo>
                <a:cubicBezTo>
                  <a:pt x="129620" y="10492"/>
                  <a:pt x="132411" y="13283"/>
                  <a:pt x="132913" y="16827"/>
                </a:cubicBezTo>
                <a:cubicBezTo>
                  <a:pt x="136010" y="38007"/>
                  <a:pt x="134196" y="69679"/>
                  <a:pt x="98227" y="90915"/>
                </a:cubicBezTo>
                <a:lnTo>
                  <a:pt x="98227" y="117425"/>
                </a:lnTo>
                <a:cubicBezTo>
                  <a:pt x="98227" y="122141"/>
                  <a:pt x="95771" y="126495"/>
                  <a:pt x="91725" y="128922"/>
                </a:cubicBezTo>
                <a:lnTo>
                  <a:pt x="67112" y="143684"/>
                </a:lnTo>
                <a:cubicBezTo>
                  <a:pt x="61168" y="147256"/>
                  <a:pt x="53578" y="142959"/>
                  <a:pt x="53578" y="136038"/>
                </a:cubicBezTo>
                <a:lnTo>
                  <a:pt x="53578" y="107156"/>
                </a:lnTo>
                <a:cubicBezTo>
                  <a:pt x="53578" y="97306"/>
                  <a:pt x="45569" y="89297"/>
                  <a:pt x="35719" y="89297"/>
                </a:cubicBezTo>
                <a:lnTo>
                  <a:pt x="35691" y="89297"/>
                </a:lnTo>
                <a:close/>
                <a:moveTo>
                  <a:pt x="111621" y="44648"/>
                </a:moveTo>
                <a:cubicBezTo>
                  <a:pt x="111621" y="37256"/>
                  <a:pt x="105619" y="31254"/>
                  <a:pt x="98227" y="31254"/>
                </a:cubicBezTo>
                <a:cubicBezTo>
                  <a:pt x="90834" y="31254"/>
                  <a:pt x="84832" y="37256"/>
                  <a:pt x="84832" y="44648"/>
                </a:cubicBezTo>
                <a:cubicBezTo>
                  <a:pt x="84832" y="52041"/>
                  <a:pt x="90834" y="58043"/>
                  <a:pt x="98227" y="58043"/>
                </a:cubicBezTo>
                <a:cubicBezTo>
                  <a:pt x="105619" y="58043"/>
                  <a:pt x="111621" y="52041"/>
                  <a:pt x="111621" y="4464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1" name="Text 59"/>
          <p:cNvSpPr/>
          <p:nvPr/>
        </p:nvSpPr>
        <p:spPr>
          <a:xfrm>
            <a:off x="920750" y="7331076"/>
            <a:ext cx="1032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Priority &amp; Expected Impact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20750" y="7616826"/>
            <a:ext cx="103187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 (0-3 months):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Dynamic pricing, weekday campaigns.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 (3-6 months):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Channel optimization, benchmarking.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8-12% RevPAR uplift, 5-7% occupancy increase.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luxxu.net/728d081a2b21a7366309bed539b349bfdc4fc1f6.jpe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683" b="21683"/>
          <a:stretch/>
        </p:blipFill>
        <p:spPr>
          <a:xfrm>
            <a:off x="0" y="0"/>
            <a:ext cx="12192000" cy="6904701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904701"/>
          </a:xfrm>
          <a:custGeom>
            <a:avLst/>
            <a:gdLst/>
            <a:ahLst/>
            <a:cxnLst/>
            <a:rect l="l" t="t" r="r" b="b"/>
            <a:pathLst>
              <a:path w="12192000" h="6904701">
                <a:moveTo>
                  <a:pt x="0" y="0"/>
                </a:moveTo>
                <a:lnTo>
                  <a:pt x="12192000" y="0"/>
                </a:lnTo>
                <a:lnTo>
                  <a:pt x="12192000" y="6904701"/>
                </a:lnTo>
                <a:lnTo>
                  <a:pt x="0" y="690470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90000"/>
                </a:srgbClr>
              </a:gs>
              <a:gs pos="100000">
                <a:srgbClr val="4A6C8C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97257" y="-711"/>
            <a:ext cx="2374082" cy="416174"/>
          </a:xfrm>
          <a:custGeom>
            <a:avLst/>
            <a:gdLst/>
            <a:ahLst/>
            <a:cxnLst/>
            <a:rect l="l" t="t" r="r" b="b"/>
            <a:pathLst>
              <a:path w="2374082" h="416174">
                <a:moveTo>
                  <a:pt x="0" y="0"/>
                </a:moveTo>
                <a:lnTo>
                  <a:pt x="2374082" y="0"/>
                </a:lnTo>
                <a:lnTo>
                  <a:pt x="2374082" y="416174"/>
                </a:lnTo>
                <a:lnTo>
                  <a:pt x="0" y="416174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97257" y="-711"/>
            <a:ext cx="37834" cy="416174"/>
          </a:xfrm>
          <a:custGeom>
            <a:avLst/>
            <a:gdLst/>
            <a:ahLst/>
            <a:cxnLst/>
            <a:rect l="l" t="t" r="r" b="b"/>
            <a:pathLst>
              <a:path w="37834" h="416174">
                <a:moveTo>
                  <a:pt x="0" y="0"/>
                </a:moveTo>
                <a:lnTo>
                  <a:pt x="37834" y="0"/>
                </a:lnTo>
                <a:lnTo>
                  <a:pt x="37834" y="416174"/>
                </a:lnTo>
                <a:lnTo>
                  <a:pt x="0" y="416174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605344" y="74957"/>
            <a:ext cx="2061952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1" b="1" spc="134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Summary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78340" y="642466"/>
            <a:ext cx="11719075" cy="709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69" b="1" dirty="0">
                <a:solidFill>
                  <a:srgbClr val="F0F0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Conclusion &amp; Next Steps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78340" y="1503189"/>
            <a:ext cx="1210687" cy="56751"/>
          </a:xfrm>
          <a:custGeom>
            <a:avLst/>
            <a:gdLst/>
            <a:ahLst/>
            <a:cxnLst/>
            <a:rect l="l" t="t" r="r" b="b"/>
            <a:pathLst>
              <a:path w="1210687" h="56751">
                <a:moveTo>
                  <a:pt x="0" y="0"/>
                </a:moveTo>
                <a:lnTo>
                  <a:pt x="1210687" y="0"/>
                </a:lnTo>
                <a:lnTo>
                  <a:pt x="1210687" y="56751"/>
                </a:lnTo>
                <a:lnTo>
                  <a:pt x="0" y="56751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9" name="Shape 6"/>
          <p:cNvSpPr/>
          <p:nvPr/>
        </p:nvSpPr>
        <p:spPr>
          <a:xfrm>
            <a:off x="397257" y="1786944"/>
            <a:ext cx="5580512" cy="1456608"/>
          </a:xfrm>
          <a:custGeom>
            <a:avLst/>
            <a:gdLst/>
            <a:ahLst/>
            <a:cxnLst/>
            <a:rect l="l" t="t" r="r" b="b"/>
            <a:pathLst>
              <a:path w="5580512" h="1456608">
                <a:moveTo>
                  <a:pt x="37834" y="0"/>
                </a:moveTo>
                <a:lnTo>
                  <a:pt x="5504841" y="0"/>
                </a:lnTo>
                <a:cubicBezTo>
                  <a:pt x="5546633" y="0"/>
                  <a:pt x="5580512" y="33879"/>
                  <a:pt x="5580512" y="75671"/>
                </a:cubicBezTo>
                <a:lnTo>
                  <a:pt x="5580512" y="1380937"/>
                </a:lnTo>
                <a:cubicBezTo>
                  <a:pt x="5580512" y="1422729"/>
                  <a:pt x="5546633" y="1456608"/>
                  <a:pt x="5504841" y="1456608"/>
                </a:cubicBezTo>
                <a:lnTo>
                  <a:pt x="37834" y="1456608"/>
                </a:lnTo>
                <a:cubicBezTo>
                  <a:pt x="16939" y="1456608"/>
                  <a:pt x="0" y="1439669"/>
                  <a:pt x="0" y="1418774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0" name="Shape 7"/>
          <p:cNvSpPr/>
          <p:nvPr/>
        </p:nvSpPr>
        <p:spPr>
          <a:xfrm>
            <a:off x="397257" y="1786944"/>
            <a:ext cx="37834" cy="1456608"/>
          </a:xfrm>
          <a:custGeom>
            <a:avLst/>
            <a:gdLst/>
            <a:ahLst/>
            <a:cxnLst/>
            <a:rect l="l" t="t" r="r" b="b"/>
            <a:pathLst>
              <a:path w="37834" h="1456608">
                <a:moveTo>
                  <a:pt x="37834" y="0"/>
                </a:moveTo>
                <a:lnTo>
                  <a:pt x="37834" y="0"/>
                </a:lnTo>
                <a:lnTo>
                  <a:pt x="37834" y="1456608"/>
                </a:lnTo>
                <a:lnTo>
                  <a:pt x="37834" y="1456608"/>
                </a:lnTo>
                <a:cubicBezTo>
                  <a:pt x="16939" y="1456608"/>
                  <a:pt x="0" y="1439669"/>
                  <a:pt x="0" y="1418774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1" name="Shape 8"/>
          <p:cNvSpPr/>
          <p:nvPr/>
        </p:nvSpPr>
        <p:spPr>
          <a:xfrm>
            <a:off x="605344" y="1976114"/>
            <a:ext cx="454008" cy="454008"/>
          </a:xfrm>
          <a:custGeom>
            <a:avLst/>
            <a:gdLst/>
            <a:ahLst/>
            <a:cxnLst/>
            <a:rect l="l" t="t" r="r" b="b"/>
            <a:pathLst>
              <a:path w="454008" h="454008">
                <a:moveTo>
                  <a:pt x="227004" y="0"/>
                </a:moveTo>
                <a:lnTo>
                  <a:pt x="227004" y="0"/>
                </a:lnTo>
                <a:cubicBezTo>
                  <a:pt x="352291" y="0"/>
                  <a:pt x="454008" y="101717"/>
                  <a:pt x="454008" y="227004"/>
                </a:cubicBezTo>
                <a:lnTo>
                  <a:pt x="454008" y="227004"/>
                </a:lnTo>
                <a:cubicBezTo>
                  <a:pt x="454008" y="352291"/>
                  <a:pt x="352291" y="454008"/>
                  <a:pt x="227004" y="454008"/>
                </a:cubicBezTo>
                <a:lnTo>
                  <a:pt x="227004" y="454008"/>
                </a:lnTo>
                <a:cubicBezTo>
                  <a:pt x="101717" y="454008"/>
                  <a:pt x="0" y="352291"/>
                  <a:pt x="0" y="227004"/>
                </a:cubicBezTo>
                <a:lnTo>
                  <a:pt x="0" y="227004"/>
                </a:lnTo>
                <a:cubicBezTo>
                  <a:pt x="0" y="101717"/>
                  <a:pt x="101717" y="0"/>
                  <a:pt x="227004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37763" y="2108533"/>
            <a:ext cx="189170" cy="189170"/>
          </a:xfrm>
          <a:custGeom>
            <a:avLst/>
            <a:gdLst/>
            <a:ahLst/>
            <a:cxnLst/>
            <a:rect l="l" t="t" r="r" b="b"/>
            <a:pathLst>
              <a:path w="189170" h="189170">
                <a:moveTo>
                  <a:pt x="94585" y="189170"/>
                </a:moveTo>
                <a:cubicBezTo>
                  <a:pt x="146788" y="189170"/>
                  <a:pt x="189170" y="146788"/>
                  <a:pt x="189170" y="94585"/>
                </a:cubicBezTo>
                <a:cubicBezTo>
                  <a:pt x="189170" y="42382"/>
                  <a:pt x="146788" y="0"/>
                  <a:pt x="94585" y="0"/>
                </a:cubicBezTo>
                <a:cubicBezTo>
                  <a:pt x="42382" y="0"/>
                  <a:pt x="0" y="42382"/>
                  <a:pt x="0" y="94585"/>
                </a:cubicBezTo>
                <a:cubicBezTo>
                  <a:pt x="0" y="146788"/>
                  <a:pt x="42382" y="189170"/>
                  <a:pt x="94585" y="189170"/>
                </a:cubicBezTo>
                <a:close/>
                <a:moveTo>
                  <a:pt x="125768" y="78587"/>
                </a:moveTo>
                <a:lnTo>
                  <a:pt x="96211" y="125879"/>
                </a:lnTo>
                <a:cubicBezTo>
                  <a:pt x="94659" y="128355"/>
                  <a:pt x="91999" y="129907"/>
                  <a:pt x="89080" y="130054"/>
                </a:cubicBezTo>
                <a:cubicBezTo>
                  <a:pt x="86161" y="130202"/>
                  <a:pt x="83353" y="128872"/>
                  <a:pt x="81616" y="126507"/>
                </a:cubicBezTo>
                <a:lnTo>
                  <a:pt x="63882" y="102861"/>
                </a:lnTo>
                <a:cubicBezTo>
                  <a:pt x="60926" y="98945"/>
                  <a:pt x="61739" y="93403"/>
                  <a:pt x="65655" y="90447"/>
                </a:cubicBezTo>
                <a:cubicBezTo>
                  <a:pt x="69572" y="87491"/>
                  <a:pt x="75114" y="88304"/>
                  <a:pt x="78070" y="92220"/>
                </a:cubicBezTo>
                <a:lnTo>
                  <a:pt x="88045" y="105521"/>
                </a:lnTo>
                <a:lnTo>
                  <a:pt x="110731" y="69202"/>
                </a:lnTo>
                <a:cubicBezTo>
                  <a:pt x="113317" y="65064"/>
                  <a:pt x="118785" y="63771"/>
                  <a:pt x="122960" y="66394"/>
                </a:cubicBezTo>
                <a:cubicBezTo>
                  <a:pt x="127135" y="69017"/>
                  <a:pt x="128392" y="74449"/>
                  <a:pt x="125768" y="7862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3" name="Text 10"/>
          <p:cNvSpPr/>
          <p:nvPr/>
        </p:nvSpPr>
        <p:spPr>
          <a:xfrm>
            <a:off x="1210687" y="1976114"/>
            <a:ext cx="4672497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Summary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10687" y="2316620"/>
            <a:ext cx="4653580" cy="73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analysis provides a </a:t>
            </a:r>
            <a:pPr>
              <a:lnSpc>
                <a:spcPct val="140000"/>
              </a:lnSpc>
            </a:pPr>
            <a:r>
              <a:rPr lang="en-US" sz="1192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view of revenue performance, demand patterns, and channel effectiveness</a:t>
            </a:r>
            <a:pPr>
              <a:lnSpc>
                <a:spcPct val="140000"/>
              </a:lnSpc>
            </a:pPr>
            <a:r>
              <a:rPr lang="en-US" sz="119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establishing clear strategic direction.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27828" y="1786944"/>
            <a:ext cx="5580512" cy="1456608"/>
          </a:xfrm>
          <a:custGeom>
            <a:avLst/>
            <a:gdLst/>
            <a:ahLst/>
            <a:cxnLst/>
            <a:rect l="l" t="t" r="r" b="b"/>
            <a:pathLst>
              <a:path w="5580512" h="1456608">
                <a:moveTo>
                  <a:pt x="37834" y="0"/>
                </a:moveTo>
                <a:lnTo>
                  <a:pt x="5504841" y="0"/>
                </a:lnTo>
                <a:cubicBezTo>
                  <a:pt x="5546633" y="0"/>
                  <a:pt x="5580512" y="33879"/>
                  <a:pt x="5580512" y="75671"/>
                </a:cubicBezTo>
                <a:lnTo>
                  <a:pt x="5580512" y="1380937"/>
                </a:lnTo>
                <a:cubicBezTo>
                  <a:pt x="5580512" y="1422729"/>
                  <a:pt x="5546633" y="1456608"/>
                  <a:pt x="5504841" y="1456608"/>
                </a:cubicBezTo>
                <a:lnTo>
                  <a:pt x="37834" y="1456608"/>
                </a:lnTo>
                <a:cubicBezTo>
                  <a:pt x="16939" y="1456608"/>
                  <a:pt x="0" y="1439669"/>
                  <a:pt x="0" y="1418774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6" name="Shape 13"/>
          <p:cNvSpPr/>
          <p:nvPr/>
        </p:nvSpPr>
        <p:spPr>
          <a:xfrm>
            <a:off x="6227828" y="1786944"/>
            <a:ext cx="37834" cy="1456608"/>
          </a:xfrm>
          <a:custGeom>
            <a:avLst/>
            <a:gdLst/>
            <a:ahLst/>
            <a:cxnLst/>
            <a:rect l="l" t="t" r="r" b="b"/>
            <a:pathLst>
              <a:path w="37834" h="1456608">
                <a:moveTo>
                  <a:pt x="37834" y="0"/>
                </a:moveTo>
                <a:lnTo>
                  <a:pt x="37834" y="0"/>
                </a:lnTo>
                <a:lnTo>
                  <a:pt x="37834" y="1456608"/>
                </a:lnTo>
                <a:lnTo>
                  <a:pt x="37834" y="1456608"/>
                </a:lnTo>
                <a:cubicBezTo>
                  <a:pt x="16939" y="1456608"/>
                  <a:pt x="0" y="1439669"/>
                  <a:pt x="0" y="1418774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7" name="Shape 14"/>
          <p:cNvSpPr/>
          <p:nvPr/>
        </p:nvSpPr>
        <p:spPr>
          <a:xfrm>
            <a:off x="6435915" y="1976114"/>
            <a:ext cx="454008" cy="454008"/>
          </a:xfrm>
          <a:custGeom>
            <a:avLst/>
            <a:gdLst/>
            <a:ahLst/>
            <a:cxnLst/>
            <a:rect l="l" t="t" r="r" b="b"/>
            <a:pathLst>
              <a:path w="454008" h="454008">
                <a:moveTo>
                  <a:pt x="227004" y="0"/>
                </a:moveTo>
                <a:lnTo>
                  <a:pt x="227004" y="0"/>
                </a:lnTo>
                <a:cubicBezTo>
                  <a:pt x="352291" y="0"/>
                  <a:pt x="454008" y="101717"/>
                  <a:pt x="454008" y="227004"/>
                </a:cubicBezTo>
                <a:lnTo>
                  <a:pt x="454008" y="227004"/>
                </a:lnTo>
                <a:cubicBezTo>
                  <a:pt x="454008" y="352291"/>
                  <a:pt x="352291" y="454008"/>
                  <a:pt x="227004" y="454008"/>
                </a:cubicBezTo>
                <a:lnTo>
                  <a:pt x="227004" y="454008"/>
                </a:lnTo>
                <a:cubicBezTo>
                  <a:pt x="101717" y="454008"/>
                  <a:pt x="0" y="352291"/>
                  <a:pt x="0" y="227004"/>
                </a:cubicBezTo>
                <a:lnTo>
                  <a:pt x="0" y="227004"/>
                </a:lnTo>
                <a:cubicBezTo>
                  <a:pt x="0" y="101717"/>
                  <a:pt x="101717" y="0"/>
                  <a:pt x="227004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568334" y="2108533"/>
            <a:ext cx="189170" cy="189170"/>
          </a:xfrm>
          <a:custGeom>
            <a:avLst/>
            <a:gdLst/>
            <a:ahLst/>
            <a:cxnLst/>
            <a:rect l="l" t="t" r="r" b="b"/>
            <a:pathLst>
              <a:path w="189170" h="189170">
                <a:moveTo>
                  <a:pt x="23646" y="23646"/>
                </a:moveTo>
                <a:cubicBezTo>
                  <a:pt x="23646" y="17107"/>
                  <a:pt x="18363" y="11823"/>
                  <a:pt x="11823" y="11823"/>
                </a:cubicBezTo>
                <a:cubicBezTo>
                  <a:pt x="5283" y="11823"/>
                  <a:pt x="0" y="17107"/>
                  <a:pt x="0" y="23646"/>
                </a:cubicBezTo>
                <a:lnTo>
                  <a:pt x="0" y="147789"/>
                </a:lnTo>
                <a:cubicBezTo>
                  <a:pt x="0" y="164120"/>
                  <a:pt x="13227" y="177347"/>
                  <a:pt x="29558" y="177347"/>
                </a:cubicBezTo>
                <a:lnTo>
                  <a:pt x="177347" y="177347"/>
                </a:lnTo>
                <a:cubicBezTo>
                  <a:pt x="183886" y="177347"/>
                  <a:pt x="189170" y="172063"/>
                  <a:pt x="189170" y="165524"/>
                </a:cubicBezTo>
                <a:cubicBezTo>
                  <a:pt x="189170" y="158984"/>
                  <a:pt x="183886" y="153701"/>
                  <a:pt x="177347" y="153701"/>
                </a:cubicBezTo>
                <a:lnTo>
                  <a:pt x="29558" y="153701"/>
                </a:lnTo>
                <a:cubicBezTo>
                  <a:pt x="26306" y="153701"/>
                  <a:pt x="23646" y="151040"/>
                  <a:pt x="23646" y="147789"/>
                </a:cubicBezTo>
                <a:lnTo>
                  <a:pt x="23646" y="23646"/>
                </a:lnTo>
                <a:close/>
                <a:moveTo>
                  <a:pt x="173874" y="55643"/>
                </a:moveTo>
                <a:cubicBezTo>
                  <a:pt x="178492" y="51024"/>
                  <a:pt x="178492" y="43524"/>
                  <a:pt x="173874" y="38905"/>
                </a:cubicBezTo>
                <a:cubicBezTo>
                  <a:pt x="169255" y="34287"/>
                  <a:pt x="161755" y="34287"/>
                  <a:pt x="157137" y="38905"/>
                </a:cubicBezTo>
                <a:lnTo>
                  <a:pt x="118231" y="77848"/>
                </a:lnTo>
                <a:lnTo>
                  <a:pt x="97023" y="56677"/>
                </a:lnTo>
                <a:cubicBezTo>
                  <a:pt x="92405" y="52059"/>
                  <a:pt x="84905" y="52059"/>
                  <a:pt x="80286" y="56677"/>
                </a:cubicBezTo>
                <a:lnTo>
                  <a:pt x="44817" y="92146"/>
                </a:lnTo>
                <a:cubicBezTo>
                  <a:pt x="40199" y="96765"/>
                  <a:pt x="40199" y="104265"/>
                  <a:pt x="44817" y="108884"/>
                </a:cubicBezTo>
                <a:cubicBezTo>
                  <a:pt x="49435" y="113502"/>
                  <a:pt x="56936" y="113502"/>
                  <a:pt x="61554" y="108884"/>
                </a:cubicBezTo>
                <a:lnTo>
                  <a:pt x="88673" y="81764"/>
                </a:lnTo>
                <a:lnTo>
                  <a:pt x="109881" y="102972"/>
                </a:lnTo>
                <a:cubicBezTo>
                  <a:pt x="114500" y="107590"/>
                  <a:pt x="122000" y="107590"/>
                  <a:pt x="126618" y="102972"/>
                </a:cubicBezTo>
                <a:lnTo>
                  <a:pt x="173911" y="55679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9" name="Text 16"/>
          <p:cNvSpPr/>
          <p:nvPr/>
        </p:nvSpPr>
        <p:spPr>
          <a:xfrm>
            <a:off x="7041258" y="1976114"/>
            <a:ext cx="4672497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Impact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41258" y="2316620"/>
            <a:ext cx="4653580" cy="49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2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strategies can enhance occupancy, improve realization, and strengthen profitability</a:t>
            </a:r>
            <a:pPr>
              <a:lnSpc>
                <a:spcPct val="140000"/>
              </a:lnSpc>
            </a:pPr>
            <a:r>
              <a:rPr lang="en-US" sz="119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pricing, channels, and operations.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85907" y="3478123"/>
            <a:ext cx="11422079" cy="2625678"/>
          </a:xfrm>
          <a:custGeom>
            <a:avLst/>
            <a:gdLst/>
            <a:ahLst/>
            <a:cxnLst/>
            <a:rect l="l" t="t" r="r" b="b"/>
            <a:pathLst>
              <a:path w="11422079" h="2625678">
                <a:moveTo>
                  <a:pt x="75672" y="0"/>
                </a:moveTo>
                <a:lnTo>
                  <a:pt x="11346406" y="0"/>
                </a:lnTo>
                <a:cubicBezTo>
                  <a:pt x="11388199" y="0"/>
                  <a:pt x="11422079" y="33880"/>
                  <a:pt x="11422079" y="75672"/>
                </a:cubicBezTo>
                <a:lnTo>
                  <a:pt x="11422079" y="2550006"/>
                </a:lnTo>
                <a:cubicBezTo>
                  <a:pt x="11422079" y="2591799"/>
                  <a:pt x="11388199" y="2625678"/>
                  <a:pt x="11346406" y="2625678"/>
                </a:cubicBezTo>
                <a:lnTo>
                  <a:pt x="75672" y="2625678"/>
                </a:lnTo>
                <a:cubicBezTo>
                  <a:pt x="33880" y="2625678"/>
                  <a:pt x="0" y="2591799"/>
                  <a:pt x="0" y="2550006"/>
                </a:cubicBezTo>
                <a:lnTo>
                  <a:pt x="0" y="75672"/>
                </a:lnTo>
                <a:cubicBezTo>
                  <a:pt x="0" y="33908"/>
                  <a:pt x="33908" y="0"/>
                  <a:pt x="75672" y="0"/>
                </a:cubicBezTo>
                <a:close/>
              </a:path>
            </a:pathLst>
          </a:custGeom>
          <a:gradFill rotWithShape="1" flip="none">
            <a:gsLst>
              <a:gs pos="0">
                <a:srgbClr val="2B2D42">
                  <a:alpha val="80000"/>
                </a:srgbClr>
              </a:gs>
              <a:gs pos="100000">
                <a:srgbClr val="2B2D42">
                  <a:alpha val="60000"/>
                </a:srgbClr>
              </a:gs>
            </a:gsLst>
            <a:lin ang="0" scaled="1"/>
          </a:gradFill>
          <a:ln w="2032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3726" y="3712690"/>
            <a:ext cx="11066439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7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 &amp; Implementation Roadmap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0477" y="4166587"/>
            <a:ext cx="3546936" cy="1702529"/>
          </a:xfrm>
          <a:custGeom>
            <a:avLst/>
            <a:gdLst/>
            <a:ahLst/>
            <a:cxnLst/>
            <a:rect l="l" t="t" r="r" b="b"/>
            <a:pathLst>
              <a:path w="3546936" h="1702529">
                <a:moveTo>
                  <a:pt x="75660" y="0"/>
                </a:moveTo>
                <a:lnTo>
                  <a:pt x="3471275" y="0"/>
                </a:lnTo>
                <a:cubicBezTo>
                  <a:pt x="3513061" y="0"/>
                  <a:pt x="3546936" y="33874"/>
                  <a:pt x="3546936" y="75660"/>
                </a:cubicBezTo>
                <a:lnTo>
                  <a:pt x="3546936" y="1626869"/>
                </a:lnTo>
                <a:cubicBezTo>
                  <a:pt x="3546936" y="1668655"/>
                  <a:pt x="3513061" y="1702529"/>
                  <a:pt x="3471275" y="1702529"/>
                </a:cubicBezTo>
                <a:lnTo>
                  <a:pt x="75660" y="1702529"/>
                </a:lnTo>
                <a:cubicBezTo>
                  <a:pt x="33874" y="1702529"/>
                  <a:pt x="0" y="1668655"/>
                  <a:pt x="0" y="1626869"/>
                </a:cubicBezTo>
                <a:lnTo>
                  <a:pt x="0" y="75660"/>
                </a:lnTo>
                <a:cubicBezTo>
                  <a:pt x="0" y="33874"/>
                  <a:pt x="33874" y="0"/>
                  <a:pt x="7566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205839" y="4317923"/>
            <a:ext cx="378340" cy="378340"/>
          </a:xfrm>
          <a:custGeom>
            <a:avLst/>
            <a:gdLst/>
            <a:ahLst/>
            <a:cxnLst/>
            <a:rect l="l" t="t" r="r" b="b"/>
            <a:pathLst>
              <a:path w="378340" h="378340">
                <a:moveTo>
                  <a:pt x="189170" y="0"/>
                </a:moveTo>
                <a:lnTo>
                  <a:pt x="189170" y="0"/>
                </a:lnTo>
                <a:cubicBezTo>
                  <a:pt x="293576" y="0"/>
                  <a:pt x="378340" y="84764"/>
                  <a:pt x="378340" y="189170"/>
                </a:cubicBezTo>
                <a:lnTo>
                  <a:pt x="378340" y="189170"/>
                </a:lnTo>
                <a:cubicBezTo>
                  <a:pt x="378340" y="293576"/>
                  <a:pt x="293576" y="378340"/>
                  <a:pt x="189170" y="378340"/>
                </a:cubicBezTo>
                <a:lnTo>
                  <a:pt x="189170" y="378340"/>
                </a:lnTo>
                <a:cubicBezTo>
                  <a:pt x="84764" y="378340"/>
                  <a:pt x="0" y="293576"/>
                  <a:pt x="0" y="189170"/>
                </a:cubicBezTo>
                <a:lnTo>
                  <a:pt x="0" y="189170"/>
                </a:lnTo>
                <a:cubicBezTo>
                  <a:pt x="0" y="84764"/>
                  <a:pt x="84764" y="0"/>
                  <a:pt x="18917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2367934" y="4374674"/>
            <a:ext cx="141877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1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33979" y="4771931"/>
            <a:ext cx="3319932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2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Actions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71813" y="5074603"/>
            <a:ext cx="3310473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Deploy dynamic pricing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71813" y="5301607"/>
            <a:ext cx="3310473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Launch weekday campaigns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71813" y="5528610"/>
            <a:ext cx="3310473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Audit channel performance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320877" y="4166587"/>
            <a:ext cx="3546936" cy="1702529"/>
          </a:xfrm>
          <a:custGeom>
            <a:avLst/>
            <a:gdLst/>
            <a:ahLst/>
            <a:cxnLst/>
            <a:rect l="l" t="t" r="r" b="b"/>
            <a:pathLst>
              <a:path w="3546936" h="1702529">
                <a:moveTo>
                  <a:pt x="75660" y="0"/>
                </a:moveTo>
                <a:lnTo>
                  <a:pt x="3471275" y="0"/>
                </a:lnTo>
                <a:cubicBezTo>
                  <a:pt x="3513061" y="0"/>
                  <a:pt x="3546936" y="33874"/>
                  <a:pt x="3546936" y="75660"/>
                </a:cubicBezTo>
                <a:lnTo>
                  <a:pt x="3546936" y="1626869"/>
                </a:lnTo>
                <a:cubicBezTo>
                  <a:pt x="3546936" y="1668655"/>
                  <a:pt x="3513061" y="1702529"/>
                  <a:pt x="3471275" y="1702529"/>
                </a:cubicBezTo>
                <a:lnTo>
                  <a:pt x="75660" y="1702529"/>
                </a:lnTo>
                <a:cubicBezTo>
                  <a:pt x="33874" y="1702529"/>
                  <a:pt x="0" y="1668655"/>
                  <a:pt x="0" y="1626869"/>
                </a:cubicBezTo>
                <a:lnTo>
                  <a:pt x="0" y="75660"/>
                </a:lnTo>
                <a:cubicBezTo>
                  <a:pt x="0" y="33874"/>
                  <a:pt x="33874" y="0"/>
                  <a:pt x="7566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5906239" y="4317923"/>
            <a:ext cx="378340" cy="378340"/>
          </a:xfrm>
          <a:custGeom>
            <a:avLst/>
            <a:gdLst/>
            <a:ahLst/>
            <a:cxnLst/>
            <a:rect l="l" t="t" r="r" b="b"/>
            <a:pathLst>
              <a:path w="378340" h="378340">
                <a:moveTo>
                  <a:pt x="189170" y="0"/>
                </a:moveTo>
                <a:lnTo>
                  <a:pt x="189170" y="0"/>
                </a:lnTo>
                <a:cubicBezTo>
                  <a:pt x="293576" y="0"/>
                  <a:pt x="378340" y="84764"/>
                  <a:pt x="378340" y="189170"/>
                </a:cubicBezTo>
                <a:lnTo>
                  <a:pt x="378340" y="189170"/>
                </a:lnTo>
                <a:cubicBezTo>
                  <a:pt x="378340" y="293576"/>
                  <a:pt x="293576" y="378340"/>
                  <a:pt x="189170" y="378340"/>
                </a:cubicBezTo>
                <a:lnTo>
                  <a:pt x="189170" y="378340"/>
                </a:lnTo>
                <a:cubicBezTo>
                  <a:pt x="84764" y="378340"/>
                  <a:pt x="0" y="293576"/>
                  <a:pt x="0" y="189170"/>
                </a:cubicBezTo>
                <a:lnTo>
                  <a:pt x="0" y="189170"/>
                </a:lnTo>
                <a:cubicBezTo>
                  <a:pt x="0" y="84764"/>
                  <a:pt x="84764" y="0"/>
                  <a:pt x="18917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6052018" y="4374674"/>
            <a:ext cx="170253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1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434379" y="4771931"/>
            <a:ext cx="3319932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2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Medium-Term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472213" y="5074603"/>
            <a:ext cx="3310473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Benchmark properties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472213" y="5301607"/>
            <a:ext cx="3310473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Optimize channel mix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472213" y="5528610"/>
            <a:ext cx="3310473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Enhance guest experience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021277" y="4166587"/>
            <a:ext cx="3546936" cy="1702529"/>
          </a:xfrm>
          <a:custGeom>
            <a:avLst/>
            <a:gdLst/>
            <a:ahLst/>
            <a:cxnLst/>
            <a:rect l="l" t="t" r="r" b="b"/>
            <a:pathLst>
              <a:path w="3546936" h="1702529">
                <a:moveTo>
                  <a:pt x="75660" y="0"/>
                </a:moveTo>
                <a:lnTo>
                  <a:pt x="3471275" y="0"/>
                </a:lnTo>
                <a:cubicBezTo>
                  <a:pt x="3513061" y="0"/>
                  <a:pt x="3546936" y="33874"/>
                  <a:pt x="3546936" y="75660"/>
                </a:cubicBezTo>
                <a:lnTo>
                  <a:pt x="3546936" y="1626869"/>
                </a:lnTo>
                <a:cubicBezTo>
                  <a:pt x="3546936" y="1668655"/>
                  <a:pt x="3513061" y="1702529"/>
                  <a:pt x="3471275" y="1702529"/>
                </a:cubicBezTo>
                <a:lnTo>
                  <a:pt x="75660" y="1702529"/>
                </a:lnTo>
                <a:cubicBezTo>
                  <a:pt x="33874" y="1702529"/>
                  <a:pt x="0" y="1668655"/>
                  <a:pt x="0" y="1626869"/>
                </a:cubicBezTo>
                <a:lnTo>
                  <a:pt x="0" y="75660"/>
                </a:lnTo>
                <a:cubicBezTo>
                  <a:pt x="0" y="33874"/>
                  <a:pt x="33874" y="0"/>
                  <a:pt x="7566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9606639" y="4317923"/>
            <a:ext cx="378340" cy="378340"/>
          </a:xfrm>
          <a:custGeom>
            <a:avLst/>
            <a:gdLst/>
            <a:ahLst/>
            <a:cxnLst/>
            <a:rect l="l" t="t" r="r" b="b"/>
            <a:pathLst>
              <a:path w="378340" h="378340">
                <a:moveTo>
                  <a:pt x="189170" y="0"/>
                </a:moveTo>
                <a:lnTo>
                  <a:pt x="189170" y="0"/>
                </a:lnTo>
                <a:cubicBezTo>
                  <a:pt x="293576" y="0"/>
                  <a:pt x="378340" y="84764"/>
                  <a:pt x="378340" y="189170"/>
                </a:cubicBezTo>
                <a:lnTo>
                  <a:pt x="378340" y="189170"/>
                </a:lnTo>
                <a:cubicBezTo>
                  <a:pt x="378340" y="293576"/>
                  <a:pt x="293576" y="378340"/>
                  <a:pt x="189170" y="378340"/>
                </a:cubicBezTo>
                <a:lnTo>
                  <a:pt x="189170" y="378340"/>
                </a:lnTo>
                <a:cubicBezTo>
                  <a:pt x="84764" y="378340"/>
                  <a:pt x="0" y="293576"/>
                  <a:pt x="0" y="189170"/>
                </a:cubicBezTo>
                <a:lnTo>
                  <a:pt x="0" y="189170"/>
                </a:lnTo>
                <a:cubicBezTo>
                  <a:pt x="0" y="84764"/>
                  <a:pt x="84764" y="0"/>
                  <a:pt x="18917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9750172" y="4374674"/>
            <a:ext cx="179711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1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134778" y="4771931"/>
            <a:ext cx="3319932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2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Long-Term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172612" y="5074603"/>
            <a:ext cx="3310473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Expand luxury portfolio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8172612" y="5301607"/>
            <a:ext cx="3310473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Strengthen brand position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172612" y="5528610"/>
            <a:ext cx="3310473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Monitor KPIs quarterly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331047" y="6338254"/>
            <a:ext cx="11529905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AtliQ Hospitality Performance Analysis</dc:title>
  <dc:subject>AtliQ Hospitality Performance Analysis</dc:subject>
  <dc:creator>Kimi</dc:creator>
  <cp:lastModifiedBy>Kimi</cp:lastModifiedBy>
  <cp:revision>1</cp:revision>
  <dcterms:created xsi:type="dcterms:W3CDTF">2026-01-23T19:43:03Z</dcterms:created>
  <dcterms:modified xsi:type="dcterms:W3CDTF">2026-01-23T19:43:03Z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{"Label":"AtliQ Hospitality Performance Analysis","ContentProducer":"001191110108MACG2KBH8F10000","ProduceID":"19bec533-17b2-8b15-8000-00009ce89977","ReservedCode1":"","ContentPropagator":"001191110108MACG2KBH8F20000","PropagateID":"19bec533-17b2-8b15-8000-00009ce89977","ReservedCode2":""}</vt:lpwstr>
  </property>
</Properties>
</file>